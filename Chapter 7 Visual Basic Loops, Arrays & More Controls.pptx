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2"/>
  </p:notesMasterIdLst>
  <p:sldIdLst>
    <p:sldId id="260" r:id="rId2"/>
    <p:sldId id="261" r:id="rId3"/>
    <p:sldId id="262" r:id="rId4"/>
    <p:sldId id="263" r:id="rId5"/>
    <p:sldId id="264" r:id="rId6"/>
    <p:sldId id="265" r:id="rId7"/>
    <p:sldId id="268" r:id="rId8"/>
    <p:sldId id="269" r:id="rId9"/>
    <p:sldId id="267" r:id="rId10"/>
    <p:sldId id="25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63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62E66F-D940-46AC-AF85-E4A99F5CD47D}"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F2EEA0-DBA1-4643-ACF6-216100C5A8A8}" type="slidenum">
              <a:rPr lang="en-US" smtClean="0"/>
              <a:t>‹#›</a:t>
            </a:fld>
            <a:endParaRPr lang="en-US"/>
          </a:p>
        </p:txBody>
      </p:sp>
    </p:spTree>
    <p:extLst>
      <p:ext uri="{BB962C8B-B14F-4D97-AF65-F5344CB8AC3E}">
        <p14:creationId xmlns:p14="http://schemas.microsoft.com/office/powerpoint/2010/main" val="981610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F2EEA0-DBA1-4643-ACF6-216100C5A8A8}" type="slidenum">
              <a:rPr lang="en-US" smtClean="0"/>
              <a:t>9</a:t>
            </a:fld>
            <a:endParaRPr lang="en-US"/>
          </a:p>
        </p:txBody>
      </p:sp>
    </p:spTree>
    <p:extLst>
      <p:ext uri="{BB962C8B-B14F-4D97-AF65-F5344CB8AC3E}">
        <p14:creationId xmlns:p14="http://schemas.microsoft.com/office/powerpoint/2010/main" val="99596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10</a:t>
            </a:fld>
            <a:endParaRPr lang="en-US"/>
          </a:p>
        </p:txBody>
      </p:sp>
      <p:sp>
        <p:nvSpPr>
          <p:cNvPr id="5" name="Footer Placeholder 4"/>
          <p:cNvSpPr>
            <a:spLocks noGrp="1"/>
          </p:cNvSpPr>
          <p:nvPr>
            <p:ph type="ftr" sz="quarter" idx="11"/>
          </p:nvPr>
        </p:nvSpPr>
        <p:spPr/>
        <p:txBody>
          <a:bodyPr/>
          <a:lstStyle/>
          <a:p>
            <a:r>
              <a:rPr lang="en-US" smtClean="0"/>
              <a:t>ITI | July Semester 2024 | CIC D1</a:t>
            </a:r>
            <a:endParaRPr lang="en-US"/>
          </a:p>
        </p:txBody>
      </p:sp>
      <p:sp>
        <p:nvSpPr>
          <p:cNvPr id="6" name="Header Placeholder 5"/>
          <p:cNvSpPr>
            <a:spLocks noGrp="1"/>
          </p:cNvSpPr>
          <p:nvPr>
            <p:ph type="hdr" sz="quarter" idx="12"/>
          </p:nvPr>
        </p:nvSpPr>
        <p:spPr/>
        <p:txBody>
          <a:bodyPr/>
          <a:lstStyle/>
          <a:p>
            <a:r>
              <a:rPr lang="it-IT" smtClean="0"/>
              <a:t>Introduction to Programming - 1008</a:t>
            </a:r>
            <a:endParaRPr lang="en-US"/>
          </a:p>
        </p:txBody>
      </p:sp>
      <p:sp>
        <p:nvSpPr>
          <p:cNvPr id="7" name="Date Placeholder 6"/>
          <p:cNvSpPr>
            <a:spLocks noGrp="1"/>
          </p:cNvSpPr>
          <p:nvPr>
            <p:ph type="dt" idx="13"/>
          </p:nvPr>
        </p:nvSpPr>
        <p:spPr/>
        <p:txBody>
          <a:bodyPr/>
          <a:lstStyle/>
          <a:p>
            <a:r>
              <a:rPr lang="en-US" smtClean="0"/>
              <a:t>15/10/2024</a:t>
            </a:r>
            <a:endParaRPr lang="en-US"/>
          </a:p>
        </p:txBody>
      </p:sp>
    </p:spTree>
    <p:extLst>
      <p:ext uri="{BB962C8B-B14F-4D97-AF65-F5344CB8AC3E}">
        <p14:creationId xmlns:p14="http://schemas.microsoft.com/office/powerpoint/2010/main" val="2412316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1911513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1944955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4099448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67151F4-1726-4483-A30F-6C4C79E2CAFD}"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1004913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67151F4-1726-4483-A30F-6C4C79E2CAFD}" type="datetimeFigureOut">
              <a:rPr lang="en-US" smtClean="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1624741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67151F4-1726-4483-A30F-6C4C79E2CAFD}" type="datetimeFigureOut">
              <a:rPr lang="en-US" smtClean="0"/>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1647441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7151F4-1726-4483-A30F-6C4C79E2CAFD}" type="datetimeFigureOut">
              <a:rPr lang="en-US" smtClean="0"/>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679575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7151F4-1726-4483-A30F-6C4C79E2CAFD}"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214515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7151F4-1726-4483-A30F-6C4C79E2CAFD}"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2748740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1541413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2845196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7151F4-1726-4483-A30F-6C4C79E2CAFD}" type="datetimeFigureOut">
              <a:rPr lang="en-US" smtClean="0"/>
              <a:t>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F508B-49A9-401E-894D-AEAE0D259B80}" type="slidenum">
              <a:rPr lang="en-US" smtClean="0"/>
              <a:t>‹#›</a:t>
            </a:fld>
            <a:endParaRPr lang="en-US"/>
          </a:p>
        </p:txBody>
      </p:sp>
    </p:spTree>
    <p:extLst>
      <p:ext uri="{BB962C8B-B14F-4D97-AF65-F5344CB8AC3E}">
        <p14:creationId xmlns:p14="http://schemas.microsoft.com/office/powerpoint/2010/main" val="418182559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b.net loo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47" y="1380565"/>
            <a:ext cx="7368988" cy="547743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680770" y="0"/>
            <a:ext cx="5878205" cy="914045"/>
          </a:xfrm>
        </p:spPr>
        <p:txBody>
          <a:bodyPr>
            <a:normAutofit fontScale="90000"/>
          </a:bodyPr>
          <a:lstStyle/>
          <a:p>
            <a:pPr algn="ctr"/>
            <a:r>
              <a:rPr lang="en-US" b="1" dirty="0" smtClean="0">
                <a:latin typeface="Cambria Math" panose="02040503050406030204" pitchFamily="18" charset="0"/>
                <a:ea typeface="Cambria Math" panose="02040503050406030204" pitchFamily="18" charset="0"/>
              </a:rPr>
              <a:t>Chapter Seven </a:t>
            </a:r>
            <a:endParaRPr lang="en-US" b="1" dirty="0">
              <a:latin typeface="Cambria Math" panose="02040503050406030204" pitchFamily="18" charset="0"/>
              <a:ea typeface="Cambria Math" panose="02040503050406030204" pitchFamily="18" charset="0"/>
            </a:endParaRPr>
          </a:p>
        </p:txBody>
      </p:sp>
      <p:sp>
        <p:nvSpPr>
          <p:cNvPr id="3" name="Subtitle 2"/>
          <p:cNvSpPr>
            <a:spLocks noGrp="1"/>
          </p:cNvSpPr>
          <p:nvPr>
            <p:ph type="subTitle" idx="1"/>
          </p:nvPr>
        </p:nvSpPr>
        <p:spPr>
          <a:xfrm>
            <a:off x="7384757" y="1181342"/>
            <a:ext cx="4936392" cy="1032940"/>
          </a:xfrm>
          <a:solidFill>
            <a:schemeClr val="bg1"/>
          </a:solidFill>
        </p:spPr>
        <p:txBody>
          <a:bodyPr>
            <a:normAutofit/>
          </a:bodyPr>
          <a:lstStyle/>
          <a:p>
            <a:pPr algn="ctr"/>
            <a:r>
              <a:rPr lang="en-US" sz="2800" b="1" dirty="0" smtClean="0">
                <a:latin typeface="Cambria Math" panose="02040503050406030204" pitchFamily="18" charset="0"/>
                <a:ea typeface="Cambria Math" panose="02040503050406030204" pitchFamily="18" charset="0"/>
              </a:rPr>
              <a:t>Visual Basic Loops, Arrays and More Controls</a:t>
            </a:r>
            <a:endParaRPr lang="en-US" sz="2800" b="1" dirty="0">
              <a:latin typeface="Cambria Math" panose="02040503050406030204" pitchFamily="18" charset="0"/>
              <a:ea typeface="Cambria Math" panose="02040503050406030204" pitchFamily="18" charset="0"/>
            </a:endParaRPr>
          </a:p>
        </p:txBody>
      </p:sp>
      <p:sp>
        <p:nvSpPr>
          <p:cNvPr id="5" name="TextBox 4"/>
          <p:cNvSpPr txBox="1"/>
          <p:nvPr/>
        </p:nvSpPr>
        <p:spPr>
          <a:xfrm>
            <a:off x="295835" y="6333581"/>
            <a:ext cx="4831977" cy="461665"/>
          </a:xfrm>
          <a:prstGeom prst="rect">
            <a:avLst/>
          </a:prstGeom>
          <a:solidFill>
            <a:schemeClr val="bg1"/>
          </a:solidFill>
        </p:spPr>
        <p:txBody>
          <a:bodyPr wrap="square" rtlCol="0">
            <a:spAutoFit/>
          </a:bodyPr>
          <a:lstStyle/>
          <a:p>
            <a:r>
              <a:rPr lang="en-US" sz="2400" b="1" dirty="0" smtClean="0">
                <a:latin typeface="Cambria Math" panose="02040503050406030204" pitchFamily="18" charset="0"/>
                <a:ea typeface="Cambria Math" panose="02040503050406030204" pitchFamily="18" charset="0"/>
              </a:rPr>
              <a:t>1008_Introduction to Programming</a:t>
            </a:r>
            <a:endParaRPr lang="en-US" sz="2400" b="1" dirty="0">
              <a:latin typeface="Cambria Math" panose="02040503050406030204" pitchFamily="18" charset="0"/>
              <a:ea typeface="Cambria Math" panose="02040503050406030204" pitchFamily="18" charset="0"/>
            </a:endParaRPr>
          </a:p>
        </p:txBody>
      </p:sp>
      <p:sp>
        <p:nvSpPr>
          <p:cNvPr id="7" name="TextBox 6"/>
          <p:cNvSpPr txBox="1"/>
          <p:nvPr/>
        </p:nvSpPr>
        <p:spPr>
          <a:xfrm>
            <a:off x="8561295" y="6491605"/>
            <a:ext cx="3394444" cy="256545"/>
          </a:xfrm>
          <a:prstGeom prst="rect">
            <a:avLst/>
          </a:prstGeom>
          <a:solidFill>
            <a:schemeClr val="bg1"/>
          </a:solidFill>
        </p:spPr>
        <p:txBody>
          <a:bodyPr wrap="square" rtlCol="0">
            <a:spAutoFit/>
          </a:bodyPr>
          <a:lstStyle/>
          <a:p>
            <a:pPr algn="ctr"/>
            <a:r>
              <a:rPr lang="en-US" sz="1067" b="1" dirty="0">
                <a:latin typeface="Times New Roman" panose="02020603050405020304" pitchFamily="18" charset="0"/>
                <a:cs typeface="Times New Roman" panose="02020603050405020304" pitchFamily="18" charset="0"/>
              </a:rPr>
              <a:t>Compiled </a:t>
            </a:r>
            <a:r>
              <a:rPr lang="en-US" sz="1067" b="1" dirty="0" smtClean="0">
                <a:latin typeface="Times New Roman" panose="02020603050405020304" pitchFamily="18" charset="0"/>
                <a:cs typeface="Times New Roman" panose="02020603050405020304" pitchFamily="18" charset="0"/>
              </a:rPr>
              <a:t>by Ms. Dianne Sikinapi &amp;  </a:t>
            </a:r>
            <a:r>
              <a:rPr lang="en-US" sz="1067" b="1" dirty="0">
                <a:latin typeface="Times New Roman" panose="02020603050405020304" pitchFamily="18" charset="0"/>
                <a:cs typeface="Times New Roman" panose="02020603050405020304" pitchFamily="18" charset="0"/>
              </a:rPr>
              <a:t>Ms. </a:t>
            </a:r>
            <a:r>
              <a:rPr lang="en-US" sz="1067" b="1" dirty="0" smtClean="0">
                <a:latin typeface="Times New Roman" panose="02020603050405020304" pitchFamily="18" charset="0"/>
                <a:cs typeface="Times New Roman" panose="02020603050405020304" pitchFamily="18" charset="0"/>
              </a:rPr>
              <a:t>Odilia </a:t>
            </a:r>
            <a:r>
              <a:rPr lang="en-US" sz="1067" b="1" dirty="0" smtClean="0">
                <a:latin typeface="Times New Roman" panose="02020603050405020304" pitchFamily="18" charset="0"/>
                <a:cs typeface="Times New Roman" panose="02020603050405020304" pitchFamily="18" charset="0"/>
              </a:rPr>
              <a:t>Tita</a:t>
            </a:r>
            <a:endParaRPr lang="en-US" sz="1067"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77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179643" y="719031"/>
            <a:ext cx="5462333" cy="697393"/>
          </a:xfrm>
        </p:spPr>
        <p:txBody>
          <a:bodyPr>
            <a:normAutofit/>
          </a:bodyPr>
          <a:lstStyle/>
          <a:p>
            <a:pPr algn="ctr"/>
            <a:r>
              <a:rPr lang="en-US" b="1" dirty="0">
                <a:solidFill>
                  <a:schemeClr val="tx1"/>
                </a:solidFill>
                <a:latin typeface="Cambria Math" panose="02040503050406030204" pitchFamily="18" charset="0"/>
                <a:ea typeface="Cambria Math" panose="02040503050406030204" pitchFamily="18" charset="0"/>
              </a:rPr>
              <a:t>Learning </a:t>
            </a:r>
            <a:r>
              <a:rPr lang="en-US" b="1" dirty="0" smtClean="0">
                <a:solidFill>
                  <a:schemeClr val="tx1"/>
                </a:solidFill>
                <a:latin typeface="Cambria Math" panose="02040503050406030204" pitchFamily="18" charset="0"/>
                <a:ea typeface="Cambria Math" panose="02040503050406030204" pitchFamily="18" charset="0"/>
              </a:rPr>
              <a:t>Objectives</a:t>
            </a:r>
            <a:endParaRPr lang="en-US" dirty="0">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2635624" y="1750141"/>
            <a:ext cx="8966441" cy="4678168"/>
          </a:xfrm>
        </p:spPr>
        <p:txBody>
          <a:bodyPr>
            <a:normAutofit/>
          </a:bodyPr>
          <a:lstStyle/>
          <a:p>
            <a:pPr marL="0" indent="0">
              <a:buNone/>
            </a:pPr>
            <a:r>
              <a:rPr lang="en-US" sz="2400" dirty="0" smtClean="0">
                <a:latin typeface="Cambria Math" panose="02040503050406030204" pitchFamily="18" charset="0"/>
                <a:ea typeface="Cambria Math" panose="02040503050406030204" pitchFamily="18" charset="0"/>
              </a:rPr>
              <a:t>By </a:t>
            </a:r>
            <a:r>
              <a:rPr lang="en-US" sz="2400" dirty="0">
                <a:latin typeface="Cambria Math" panose="02040503050406030204" pitchFamily="18" charset="0"/>
                <a:ea typeface="Cambria Math" panose="02040503050406030204" pitchFamily="18" charset="0"/>
              </a:rPr>
              <a:t>the end of this Unit, students should be able to:</a:t>
            </a:r>
          </a:p>
          <a:p>
            <a:pPr lvl="1">
              <a:buFont typeface="Wingdings" panose="05000000000000000000" pitchFamily="2" charset="2"/>
              <a:buChar char="ü"/>
            </a:pPr>
            <a:r>
              <a:rPr lang="en-US" sz="2400" dirty="0" smtClean="0">
                <a:latin typeface="Cambria Math" panose="02040503050406030204" pitchFamily="18" charset="0"/>
                <a:ea typeface="Cambria Math" panose="02040503050406030204" pitchFamily="18" charset="0"/>
              </a:rPr>
              <a:t>Know different types of Looping.</a:t>
            </a:r>
          </a:p>
          <a:p>
            <a:pPr lvl="1">
              <a:buFont typeface="Wingdings" panose="05000000000000000000" pitchFamily="2" charset="2"/>
              <a:buChar char="ü"/>
            </a:pPr>
            <a:r>
              <a:rPr lang="en-US" sz="2400" dirty="0" smtClean="0">
                <a:latin typeface="Cambria Math" panose="02040503050406030204" pitchFamily="18" charset="0"/>
                <a:ea typeface="Cambria Math" panose="02040503050406030204" pitchFamily="18" charset="0"/>
              </a:rPr>
              <a:t>Understand and Work with Arrays </a:t>
            </a:r>
          </a:p>
          <a:p>
            <a:pPr lvl="1">
              <a:buFont typeface="Wingdings" panose="05000000000000000000" pitchFamily="2" charset="2"/>
              <a:buChar char="ü"/>
            </a:pPr>
            <a:r>
              <a:rPr lang="en-US" sz="2400" dirty="0" smtClean="0">
                <a:latin typeface="Cambria Math" panose="02040503050406030204" pitchFamily="18" charset="0"/>
                <a:ea typeface="Cambria Math" panose="02040503050406030204" pitchFamily="18" charset="0"/>
              </a:rPr>
              <a:t>Know and Create </a:t>
            </a:r>
            <a:r>
              <a:rPr lang="en-US" sz="2400" dirty="0">
                <a:latin typeface="Cambria Math" panose="02040503050406030204" pitchFamily="18" charset="0"/>
                <a:ea typeface="Cambria Math" panose="02040503050406030204" pitchFamily="18" charset="0"/>
              </a:rPr>
              <a:t>c</a:t>
            </a:r>
            <a:r>
              <a:rPr lang="en-US" sz="2400" dirty="0" smtClean="0">
                <a:latin typeface="Cambria Math" panose="02040503050406030204" pitchFamily="18" charset="0"/>
                <a:ea typeface="Cambria Math" panose="02040503050406030204" pitchFamily="18" charset="0"/>
              </a:rPr>
              <a:t>ontrol </a:t>
            </a:r>
            <a:r>
              <a:rPr lang="en-US" sz="2400" dirty="0">
                <a:latin typeface="Cambria Math" panose="02040503050406030204" pitchFamily="18" charset="0"/>
                <a:ea typeface="Cambria Math" panose="02040503050406030204" pitchFamily="18" charset="0"/>
              </a:rPr>
              <a:t>a</a:t>
            </a:r>
            <a:r>
              <a:rPr lang="en-US" sz="2400" dirty="0" smtClean="0">
                <a:latin typeface="Cambria Math" panose="02040503050406030204" pitchFamily="18" charset="0"/>
                <a:ea typeface="Cambria Math" panose="02040503050406030204" pitchFamily="18" charset="0"/>
              </a:rPr>
              <a:t>rrays</a:t>
            </a:r>
          </a:p>
          <a:p>
            <a:pPr lvl="1">
              <a:buFont typeface="Wingdings" panose="05000000000000000000" pitchFamily="2" charset="2"/>
              <a:buChar char="ü"/>
            </a:pPr>
            <a:r>
              <a:rPr lang="en-US" sz="2400" dirty="0" smtClean="0">
                <a:latin typeface="Cambria Math" panose="02040503050406030204" pitchFamily="18" charset="0"/>
                <a:ea typeface="Cambria Math" panose="02040503050406030204" pitchFamily="18" charset="0"/>
              </a:rPr>
              <a:t>Know List Boxes, Combo Boxes, Drive List Boxes, Directory List Boxes and File List Boxes. </a:t>
            </a:r>
          </a:p>
          <a:p>
            <a:pPr lvl="1">
              <a:buFont typeface="Wingdings" panose="05000000000000000000" pitchFamily="2" charset="2"/>
              <a:buChar char="ü"/>
            </a:pPr>
            <a:r>
              <a:rPr lang="en-US" sz="2400" dirty="0" smtClean="0">
                <a:latin typeface="Cambria Math" panose="02040503050406030204" pitchFamily="18" charset="0"/>
                <a:ea typeface="Cambria Math" panose="02040503050406030204" pitchFamily="18" charset="0"/>
              </a:rPr>
              <a:t>Know vertical and horizontal scroll bars. </a:t>
            </a:r>
          </a:p>
          <a:p>
            <a:pPr lvl="1">
              <a:buFont typeface="Wingdings" panose="05000000000000000000" pitchFamily="2" charset="2"/>
              <a:buChar char="ü"/>
            </a:pPr>
            <a:endParaRPr lang="en-US" sz="2400" dirty="0">
              <a:latin typeface="Cambria Math" panose="02040503050406030204" pitchFamily="18" charset="0"/>
              <a:ea typeface="Cambria Math" panose="02040503050406030204" pitchFamily="18" charset="0"/>
            </a:endParaRPr>
          </a:p>
          <a:p>
            <a:pPr lvl="1">
              <a:buFont typeface="Wingdings" panose="05000000000000000000" pitchFamily="2" charset="2"/>
              <a:buChar char="v"/>
            </a:pPr>
            <a:r>
              <a:rPr lang="en-US" sz="2400" b="1" i="1" dirty="0">
                <a:latin typeface="Cambria Math" panose="02040503050406030204" pitchFamily="18" charset="0"/>
                <a:ea typeface="Cambria Math" panose="02040503050406030204" pitchFamily="18" charset="0"/>
              </a:rPr>
              <a:t>See Textbook - Introduction to Programming Book </a:t>
            </a:r>
            <a:r>
              <a:rPr lang="en-US" sz="2400" b="1" i="1" dirty="0" smtClean="0">
                <a:latin typeface="Cambria Math" panose="02040503050406030204" pitchFamily="18" charset="0"/>
                <a:ea typeface="Cambria Math" panose="02040503050406030204" pitchFamily="18" charset="0"/>
              </a:rPr>
              <a:t>2 Pages 158- 210</a:t>
            </a:r>
            <a:endParaRPr lang="en-US" sz="2400" b="1" i="1"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174343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58696" y="314895"/>
            <a:ext cx="5447421" cy="832588"/>
          </a:xfrm>
          <a:solidFill>
            <a:schemeClr val="bg1"/>
          </a:solidFill>
        </p:spPr>
        <p:txBody>
          <a:bodyPr>
            <a:noAutofit/>
          </a:bodyPr>
          <a:lstStyle/>
          <a:p>
            <a:pPr algn="ctr"/>
            <a:r>
              <a:rPr lang="en-US" sz="3600" b="1" dirty="0">
                <a:solidFill>
                  <a:schemeClr val="tx1">
                    <a:lumMod val="95000"/>
                    <a:lumOff val="5000"/>
                  </a:schemeClr>
                </a:solidFill>
                <a:latin typeface="Cambria Math" panose="02040503050406030204" pitchFamily="18" charset="0"/>
                <a:ea typeface="Cambria Math" panose="02040503050406030204" pitchFamily="18" charset="0"/>
              </a:rPr>
              <a:t>7</a:t>
            </a:r>
            <a:r>
              <a:rPr lang="en-US" sz="3600" b="1" dirty="0" smtClean="0">
                <a:solidFill>
                  <a:schemeClr val="tx1">
                    <a:lumMod val="95000"/>
                    <a:lumOff val="5000"/>
                  </a:schemeClr>
                </a:solidFill>
                <a:latin typeface="Cambria Math" panose="02040503050406030204" pitchFamily="18" charset="0"/>
                <a:ea typeface="Cambria Math" panose="02040503050406030204" pitchFamily="18" charset="0"/>
              </a:rPr>
              <a:t>.1 Visual Basic Looping</a:t>
            </a:r>
            <a:endParaRPr lang="en-US" sz="3600" dirty="0">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p:txBody>
          <a:bodyPr>
            <a:noAutofit/>
          </a:bodyPr>
          <a:lstStyle/>
          <a:p>
            <a:r>
              <a:rPr lang="en-US" sz="2400" dirty="0">
                <a:latin typeface="Cambria Math" panose="02040503050406030204" pitchFamily="18" charset="0"/>
                <a:ea typeface="Cambria Math" panose="02040503050406030204" pitchFamily="18" charset="0"/>
              </a:rPr>
              <a:t>I</a:t>
            </a:r>
            <a:r>
              <a:rPr lang="en-US" sz="2400" dirty="0" smtClean="0">
                <a:latin typeface="Cambria Math" panose="02040503050406030204" pitchFamily="18" charset="0"/>
                <a:ea typeface="Cambria Math" panose="02040503050406030204" pitchFamily="18" charset="0"/>
              </a:rPr>
              <a:t>n </a:t>
            </a:r>
            <a:r>
              <a:rPr lang="en-US" sz="2400" dirty="0">
                <a:latin typeface="Cambria Math" panose="02040503050406030204" pitchFamily="18" charset="0"/>
                <a:ea typeface="Cambria Math" panose="02040503050406030204" pitchFamily="18" charset="0"/>
              </a:rPr>
              <a:t>programming, there a situations where we need to execute a particular code multiple times until some condition is met. </a:t>
            </a:r>
            <a:r>
              <a:rPr lang="en-US" sz="2400" dirty="0" smtClean="0">
                <a:latin typeface="Cambria Math" panose="02040503050406030204" pitchFamily="18" charset="0"/>
                <a:ea typeface="Cambria Math" panose="02040503050406030204" pitchFamily="18" charset="0"/>
              </a:rPr>
              <a:t>Or we need to do a particular task over and over again until the condition is met. This is repetition. This </a:t>
            </a:r>
            <a:r>
              <a:rPr lang="en-US" sz="2400" dirty="0">
                <a:latin typeface="Cambria Math" panose="02040503050406030204" pitchFamily="18" charset="0"/>
                <a:ea typeface="Cambria Math" panose="02040503050406030204" pitchFamily="18" charset="0"/>
              </a:rPr>
              <a:t>process of repetition is called </a:t>
            </a:r>
            <a:r>
              <a:rPr lang="en-US" sz="2400" b="1" dirty="0" smtClean="0">
                <a:latin typeface="Cambria Math" panose="02040503050406030204" pitchFamily="18" charset="0"/>
                <a:ea typeface="Cambria Math" panose="02040503050406030204" pitchFamily="18" charset="0"/>
              </a:rPr>
              <a:t>Looping.</a:t>
            </a:r>
          </a:p>
          <a:p>
            <a:r>
              <a:rPr lang="en-US" sz="2400" dirty="0">
                <a:latin typeface="Cambria Math" panose="02040503050406030204" pitchFamily="18" charset="0"/>
                <a:ea typeface="Cambria Math" panose="02040503050406030204" pitchFamily="18" charset="0"/>
              </a:rPr>
              <a:t>Whenever there is a situation where we need to </a:t>
            </a:r>
            <a:r>
              <a:rPr lang="en-US" sz="2400" b="1" dirty="0">
                <a:latin typeface="Cambria Math" panose="02040503050406030204" pitchFamily="18" charset="0"/>
                <a:ea typeface="Cambria Math" panose="02040503050406030204" pitchFamily="18" charset="0"/>
              </a:rPr>
              <a:t>repeat</a:t>
            </a:r>
            <a:r>
              <a:rPr lang="en-US" sz="2400" dirty="0">
                <a:latin typeface="Cambria Math" panose="02040503050406030204" pitchFamily="18" charset="0"/>
                <a:ea typeface="Cambria Math" panose="02040503050406030204" pitchFamily="18" charset="0"/>
              </a:rPr>
              <a:t> some particular block of code, or we need to repeat some tasks, we use </a:t>
            </a:r>
            <a:r>
              <a:rPr lang="en-US" sz="2400" b="1" dirty="0">
                <a:latin typeface="Cambria Math" panose="02040503050406030204" pitchFamily="18" charset="0"/>
                <a:ea typeface="Cambria Math" panose="02040503050406030204" pitchFamily="18" charset="0"/>
              </a:rPr>
              <a:t>Looping</a:t>
            </a:r>
            <a:r>
              <a:rPr lang="en-US" sz="2400" dirty="0">
                <a:latin typeface="Cambria Math" panose="02040503050406030204" pitchFamily="18" charset="0"/>
                <a:ea typeface="Cambria Math" panose="02040503050406030204" pitchFamily="18" charset="0"/>
              </a:rPr>
              <a:t>.</a:t>
            </a:r>
          </a:p>
          <a:p>
            <a:r>
              <a:rPr lang="en-US" sz="2400" dirty="0">
                <a:latin typeface="Cambria Math" panose="02040503050406030204" pitchFamily="18" charset="0"/>
                <a:ea typeface="Cambria Math" panose="02040503050406030204" pitchFamily="18" charset="0"/>
              </a:rPr>
              <a:t>Generally, the statements are executed one after the other, but while using a loop, it </a:t>
            </a:r>
            <a:r>
              <a:rPr lang="en-US" sz="2400" b="1" dirty="0">
                <a:latin typeface="Cambria Math" panose="02040503050406030204" pitchFamily="18" charset="0"/>
                <a:ea typeface="Cambria Math" panose="02040503050406030204" pitchFamily="18" charset="0"/>
              </a:rPr>
              <a:t>changes the control flow </a:t>
            </a:r>
            <a:r>
              <a:rPr lang="en-US" sz="2400" dirty="0">
                <a:latin typeface="Cambria Math" panose="02040503050406030204" pitchFamily="18" charset="0"/>
                <a:ea typeface="Cambria Math" panose="02040503050406030204" pitchFamily="18" charset="0"/>
              </a:rPr>
              <a:t>and executes a particular statement for a particular time before the control moves ahead.</a:t>
            </a:r>
          </a:p>
          <a:p>
            <a:r>
              <a:rPr lang="en-US" sz="2400" dirty="0">
                <a:latin typeface="Cambria Math" panose="02040503050406030204" pitchFamily="18" charset="0"/>
                <a:ea typeface="Cambria Math" panose="02040503050406030204" pitchFamily="18" charset="0"/>
              </a:rPr>
              <a:t>A loop allows us to execute a </a:t>
            </a:r>
            <a:r>
              <a:rPr lang="en-US" sz="2400" b="1" dirty="0">
                <a:latin typeface="Cambria Math" panose="02040503050406030204" pitchFamily="18" charset="0"/>
                <a:ea typeface="Cambria Math" panose="02040503050406030204" pitchFamily="18" charset="0"/>
              </a:rPr>
              <a:t>statement</a:t>
            </a:r>
            <a:r>
              <a:rPr lang="en-US" sz="2400" dirty="0">
                <a:latin typeface="Cambria Math" panose="02040503050406030204" pitchFamily="18" charset="0"/>
                <a:ea typeface="Cambria Math" panose="02040503050406030204" pitchFamily="18" charset="0"/>
              </a:rPr>
              <a:t> or </a:t>
            </a:r>
            <a:r>
              <a:rPr lang="en-US" sz="2400" b="1" dirty="0">
                <a:latin typeface="Cambria Math" panose="02040503050406030204" pitchFamily="18" charset="0"/>
                <a:ea typeface="Cambria Math" panose="02040503050406030204" pitchFamily="18" charset="0"/>
              </a:rPr>
              <a:t>group of statements multiple times</a:t>
            </a:r>
            <a:r>
              <a:rPr lang="en-US" sz="2400" dirty="0" smtClean="0">
                <a:latin typeface="Cambria Math" panose="02040503050406030204" pitchFamily="18" charset="0"/>
                <a:ea typeface="Cambria Math" panose="02040503050406030204" pitchFamily="18" charset="0"/>
              </a:rPr>
              <a:t>. </a:t>
            </a:r>
          </a:p>
          <a:p>
            <a:r>
              <a:rPr lang="en-US" sz="2400" dirty="0" smtClean="0">
                <a:latin typeface="Cambria Math" panose="02040503050406030204" pitchFamily="18" charset="0"/>
                <a:ea typeface="Cambria Math" panose="02040503050406030204" pitchFamily="18" charset="0"/>
              </a:rPr>
              <a:t>Looping is prevalent in almost every program written. Rarely do you write a program that is a straight sequence of instructions. </a:t>
            </a:r>
            <a:endParaRPr lang="en-US" sz="2400" dirty="0">
              <a:latin typeface="Cambria Math" panose="02040503050406030204" pitchFamily="18" charset="0"/>
              <a:ea typeface="Cambria Math" panose="02040503050406030204" pitchFamily="18" charset="0"/>
            </a:endParaRPr>
          </a:p>
          <a:p>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842125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latin typeface="Cambria Math" panose="02040503050406030204" pitchFamily="18" charset="0"/>
                <a:ea typeface="Cambria Math" panose="02040503050406030204" pitchFamily="18" charset="0"/>
              </a:rPr>
              <a:t>In Visual Basic, there are three types of Loops that can be used in program instructions to repeat tasks. </a:t>
            </a:r>
          </a:p>
          <a:p>
            <a:pPr marL="1066785" lvl="1" indent="-457200">
              <a:buFont typeface="+mj-lt"/>
              <a:buAutoNum type="arabicPeriod"/>
            </a:pPr>
            <a:r>
              <a:rPr lang="en-US" sz="2400" b="1" dirty="0" smtClean="0">
                <a:latin typeface="Cambria Math" panose="02040503050406030204" pitchFamily="18" charset="0"/>
                <a:ea typeface="Cambria Math" panose="02040503050406030204" pitchFamily="18" charset="0"/>
              </a:rPr>
              <a:t>Do…Loop</a:t>
            </a:r>
            <a:r>
              <a:rPr lang="en-US" sz="2400" dirty="0" smtClean="0">
                <a:latin typeface="Cambria Math" panose="02040503050406030204" pitchFamily="18" charset="0"/>
                <a:ea typeface="Cambria Math" panose="02040503050406030204" pitchFamily="18" charset="0"/>
              </a:rPr>
              <a:t> – repeats a block of code until a condition is True or False.</a:t>
            </a:r>
          </a:p>
          <a:p>
            <a:pPr marL="1066785" lvl="1" indent="-457200">
              <a:buFont typeface="+mj-lt"/>
              <a:buAutoNum type="arabicPeriod"/>
            </a:pPr>
            <a:r>
              <a:rPr lang="en-US" sz="2400" b="1" dirty="0" smtClean="0">
                <a:latin typeface="Cambria Math" panose="02040503050406030204" pitchFamily="18" charset="0"/>
                <a:ea typeface="Cambria Math" panose="02040503050406030204" pitchFamily="18" charset="0"/>
              </a:rPr>
              <a:t>For…Next  Loop</a:t>
            </a:r>
            <a:r>
              <a:rPr lang="en-US" sz="2400" dirty="0" smtClean="0">
                <a:latin typeface="Cambria Math" panose="02040503050406030204" pitchFamily="18" charset="0"/>
                <a:ea typeface="Cambria Math" panose="02040503050406030204" pitchFamily="18" charset="0"/>
              </a:rPr>
              <a:t>– repeats a block of code a specified number of times. </a:t>
            </a:r>
          </a:p>
          <a:p>
            <a:pPr marL="1066785" lvl="1" indent="-457200">
              <a:buFont typeface="+mj-lt"/>
              <a:buAutoNum type="arabicPeriod"/>
            </a:pPr>
            <a:r>
              <a:rPr lang="en-US" sz="2400" b="1" dirty="0" smtClean="0">
                <a:latin typeface="Cambria Math" panose="02040503050406030204" pitchFamily="18" charset="0"/>
                <a:ea typeface="Cambria Math" panose="02040503050406030204" pitchFamily="18" charset="0"/>
              </a:rPr>
              <a:t>While…Loop </a:t>
            </a:r>
            <a:r>
              <a:rPr lang="en-US" sz="2400" dirty="0" smtClean="0">
                <a:latin typeface="Cambria Math" panose="02040503050406030204" pitchFamily="18" charset="0"/>
                <a:ea typeface="Cambria Math" panose="02040503050406030204" pitchFamily="18" charset="0"/>
              </a:rPr>
              <a:t>– repeats a block of code as long as a condition is True.</a:t>
            </a:r>
          </a:p>
          <a:p>
            <a:pPr marL="1066785" lvl="1" indent="-457200">
              <a:buFont typeface="+mj-lt"/>
              <a:buAutoNum type="arabicPeriod"/>
            </a:pPr>
            <a:r>
              <a:rPr lang="en-US" sz="2400" b="1" dirty="0" smtClean="0">
                <a:latin typeface="Cambria Math" panose="02040503050406030204" pitchFamily="18" charset="0"/>
                <a:ea typeface="Cambria Math" panose="02040503050406030204" pitchFamily="18" charset="0"/>
              </a:rPr>
              <a:t>For Each…Next Loop </a:t>
            </a:r>
            <a:r>
              <a:rPr lang="en-US" sz="2400" dirty="0" smtClean="0">
                <a:latin typeface="Cambria Math" panose="02040503050406030204" pitchFamily="18" charset="0"/>
                <a:ea typeface="Cambria Math" panose="02040503050406030204" pitchFamily="18" charset="0"/>
              </a:rPr>
              <a:t>– repeats a block of code once for each element in a collection.</a:t>
            </a:r>
          </a:p>
          <a:p>
            <a:pPr marL="1066785" lvl="1" indent="-457200">
              <a:buFont typeface="+mj-lt"/>
              <a:buAutoNum type="arabicPeriod"/>
            </a:pPr>
            <a:r>
              <a:rPr lang="en-US" sz="2400" b="1" dirty="0" smtClean="0">
                <a:latin typeface="Cambria Math" panose="02040503050406030204" pitchFamily="18" charset="0"/>
                <a:ea typeface="Cambria Math" panose="02040503050406030204" pitchFamily="18" charset="0"/>
              </a:rPr>
              <a:t>Nested Loop </a:t>
            </a:r>
            <a:r>
              <a:rPr lang="en-US" sz="2400" dirty="0" smtClean="0">
                <a:latin typeface="Cambria Math" panose="02040503050406030204" pitchFamily="18" charset="0"/>
                <a:ea typeface="Cambria Math" panose="02040503050406030204" pitchFamily="18" charset="0"/>
              </a:rPr>
              <a:t>– a loop inside another loop.</a:t>
            </a:r>
          </a:p>
          <a:p>
            <a:r>
              <a:rPr lang="en-US" sz="2400" dirty="0">
                <a:latin typeface="Cambria Math" panose="02040503050406030204" pitchFamily="18" charset="0"/>
                <a:ea typeface="Cambria Math" panose="02040503050406030204" pitchFamily="18" charset="0"/>
              </a:rPr>
              <a:t>A loop statement allows us to execute a statement or group of statements multiple times.</a:t>
            </a:r>
          </a:p>
        </p:txBody>
      </p:sp>
    </p:spTree>
    <p:extLst>
      <p:ext uri="{BB962C8B-B14F-4D97-AF65-F5344CB8AC3E}">
        <p14:creationId xmlns:p14="http://schemas.microsoft.com/office/powerpoint/2010/main" val="1008981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1365" y="277429"/>
            <a:ext cx="3433482" cy="1018035"/>
          </a:xfrm>
          <a:solidFill>
            <a:schemeClr val="bg1"/>
          </a:solidFill>
        </p:spPr>
        <p:txBody>
          <a:bodyPr/>
          <a:lstStyle/>
          <a:p>
            <a:pPr algn="ctr"/>
            <a:r>
              <a:rPr lang="en-US" b="1" dirty="0" smtClean="0">
                <a:solidFill>
                  <a:schemeClr val="tx1"/>
                </a:solidFill>
                <a:latin typeface="Cambria Math" panose="02040503050406030204" pitchFamily="18" charset="0"/>
                <a:ea typeface="Cambria Math" panose="02040503050406030204" pitchFamily="18" charset="0"/>
              </a:rPr>
              <a:t>7.2 Arrays </a:t>
            </a:r>
            <a:endParaRPr lang="en-US" b="1" dirty="0">
              <a:solidFill>
                <a:schemeClr val="tx1"/>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p:txBody>
          <a:bodyPr>
            <a:normAutofit fontScale="92500"/>
          </a:bodyPr>
          <a:lstStyle/>
          <a:p>
            <a:r>
              <a:rPr lang="en-US" sz="2400" dirty="0">
                <a:latin typeface="Cambria Math" panose="02040503050406030204" pitchFamily="18" charset="0"/>
                <a:ea typeface="Cambria Math" panose="02040503050406030204" pitchFamily="18" charset="0"/>
              </a:rPr>
              <a:t>An Array is a collection of elements of the same data </a:t>
            </a:r>
            <a:r>
              <a:rPr lang="en-US" sz="2400" dirty="0" smtClean="0">
                <a:latin typeface="Cambria Math" panose="02040503050406030204" pitchFamily="18" charset="0"/>
                <a:ea typeface="Cambria Math" panose="02040503050406030204" pitchFamily="18" charset="0"/>
              </a:rPr>
              <a:t>type. </a:t>
            </a:r>
          </a:p>
          <a:p>
            <a:r>
              <a:rPr lang="en-US" sz="2400" dirty="0" smtClean="0">
                <a:latin typeface="Cambria Math" panose="02040503050406030204" pitchFamily="18" charset="0"/>
                <a:ea typeface="Cambria Math" panose="02040503050406030204" pitchFamily="18" charset="0"/>
              </a:rPr>
              <a:t>Arrays </a:t>
            </a:r>
            <a:r>
              <a:rPr lang="en-US" sz="2400" dirty="0">
                <a:latin typeface="Cambria Math" panose="02040503050406030204" pitchFamily="18" charset="0"/>
                <a:ea typeface="Cambria Math" panose="02040503050406030204" pitchFamily="18" charset="0"/>
              </a:rPr>
              <a:t>store a collection of data, and each element can be accessed by an index </a:t>
            </a:r>
            <a:r>
              <a:rPr lang="en-US" sz="2400" dirty="0" smtClean="0">
                <a:latin typeface="Cambria Math" panose="02040503050406030204" pitchFamily="18" charset="0"/>
                <a:ea typeface="Cambria Math" panose="02040503050406030204" pitchFamily="18" charset="0"/>
              </a:rPr>
              <a:t>number. </a:t>
            </a:r>
          </a:p>
          <a:p>
            <a:r>
              <a:rPr lang="en-US" sz="2400" dirty="0" smtClean="0">
                <a:latin typeface="Cambria Math" panose="02040503050406030204" pitchFamily="18" charset="0"/>
                <a:ea typeface="Cambria Math" panose="02040503050406030204" pitchFamily="18" charset="0"/>
              </a:rPr>
              <a:t>Arrays </a:t>
            </a:r>
            <a:r>
              <a:rPr lang="en-US" sz="2400" dirty="0">
                <a:latin typeface="Cambria Math" panose="02040503050406030204" pitchFamily="18" charset="0"/>
                <a:ea typeface="Cambria Math" panose="02040503050406030204" pitchFamily="18" charset="0"/>
              </a:rPr>
              <a:t>are of fixed size. We declare the size of the array when initializing </a:t>
            </a:r>
            <a:r>
              <a:rPr lang="en-US" sz="2400" dirty="0" smtClean="0">
                <a:latin typeface="Cambria Math" panose="02040503050406030204" pitchFamily="18" charset="0"/>
                <a:ea typeface="Cambria Math" panose="02040503050406030204" pitchFamily="18" charset="0"/>
              </a:rPr>
              <a:t>it. </a:t>
            </a:r>
          </a:p>
          <a:p>
            <a:r>
              <a:rPr lang="en-US" sz="2400" dirty="0">
                <a:latin typeface="Cambria Math" panose="02040503050406030204" pitchFamily="18" charset="0"/>
                <a:ea typeface="Cambria Math" panose="02040503050406030204" pitchFamily="18" charset="0"/>
              </a:rPr>
              <a:t>We can initialize arrays as follows: </a:t>
            </a:r>
          </a:p>
          <a:p>
            <a:pPr marL="0" indent="0">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Dim vowels ( ) As Char = {“a”, “e”, “</a:t>
            </a:r>
            <a:r>
              <a:rPr lang="en-US" sz="2400" b="1" dirty="0" err="1">
                <a:latin typeface="Cambria Math" panose="02040503050406030204" pitchFamily="18" charset="0"/>
                <a:ea typeface="Cambria Math" panose="02040503050406030204" pitchFamily="18" charset="0"/>
              </a:rPr>
              <a:t>i</a:t>
            </a:r>
            <a:r>
              <a:rPr lang="en-US" sz="2400" b="1" dirty="0">
                <a:latin typeface="Cambria Math" panose="02040503050406030204" pitchFamily="18" charset="0"/>
                <a:ea typeface="Cambria Math" panose="02040503050406030204" pitchFamily="18" charset="0"/>
              </a:rPr>
              <a:t>”, “o”, “u</a:t>
            </a:r>
            <a:r>
              <a:rPr lang="en-US" sz="2400" b="1" dirty="0" smtClean="0">
                <a:latin typeface="Cambria Math" panose="02040503050406030204" pitchFamily="18" charset="0"/>
                <a:ea typeface="Cambria Math" panose="02040503050406030204" pitchFamily="18" charset="0"/>
              </a:rPr>
              <a:t>”}</a:t>
            </a:r>
            <a:endParaRPr lang="en-US" sz="2400" dirty="0" smtClean="0">
              <a:latin typeface="Cambria Math" panose="02040503050406030204" pitchFamily="18" charset="0"/>
              <a:ea typeface="Cambria Math" panose="02040503050406030204" pitchFamily="18" charset="0"/>
            </a:endParaRPr>
          </a:p>
          <a:p>
            <a:r>
              <a:rPr lang="en-US" sz="2400" dirty="0">
                <a:latin typeface="Cambria Math" panose="02040503050406030204" pitchFamily="18" charset="0"/>
                <a:ea typeface="Cambria Math" panose="02040503050406030204" pitchFamily="18" charset="0"/>
              </a:rPr>
              <a:t>T</a:t>
            </a:r>
            <a:r>
              <a:rPr lang="en-US" sz="2400" dirty="0" smtClean="0">
                <a:latin typeface="Cambria Math" panose="02040503050406030204" pitchFamily="18" charset="0"/>
                <a:ea typeface="Cambria Math" panose="02040503050406030204" pitchFamily="18" charset="0"/>
              </a:rPr>
              <a:t>he </a:t>
            </a:r>
            <a:r>
              <a:rPr lang="en-US" sz="2400" dirty="0">
                <a:latin typeface="Cambria Math" panose="02040503050406030204" pitchFamily="18" charset="0"/>
                <a:ea typeface="Cambria Math" panose="02040503050406030204" pitchFamily="18" charset="0"/>
              </a:rPr>
              <a:t>type of elements in the array should match with the data type of the array itself.</a:t>
            </a:r>
          </a:p>
          <a:p>
            <a:r>
              <a:rPr lang="en-US" sz="2400" dirty="0">
                <a:latin typeface="Cambria Math" panose="02040503050406030204" pitchFamily="18" charset="0"/>
                <a:ea typeface="Cambria Math" panose="02040503050406030204" pitchFamily="18" charset="0"/>
              </a:rPr>
              <a:t>The size of the array, also called the length of the array, must be specified in the declaration itself. Once declared, the size of </a:t>
            </a:r>
            <a:r>
              <a:rPr lang="en-US" sz="2400" dirty="0" smtClean="0">
                <a:latin typeface="Cambria Math" panose="02040503050406030204" pitchFamily="18" charset="0"/>
                <a:ea typeface="Cambria Math" panose="02040503050406030204" pitchFamily="18" charset="0"/>
              </a:rPr>
              <a:t>an </a:t>
            </a:r>
            <a:r>
              <a:rPr lang="en-US" sz="2400" dirty="0">
                <a:latin typeface="Cambria Math" panose="02040503050406030204" pitchFamily="18" charset="0"/>
                <a:ea typeface="Cambria Math" panose="02040503050406030204" pitchFamily="18" charset="0"/>
              </a:rPr>
              <a:t>array cannot be changed. </a:t>
            </a:r>
            <a:r>
              <a:rPr lang="en-US" sz="2400" dirty="0" smtClean="0">
                <a:latin typeface="Cambria Math" panose="02040503050406030204" pitchFamily="18" charset="0"/>
                <a:ea typeface="Cambria Math" panose="02040503050406030204" pitchFamily="18" charset="0"/>
              </a:rPr>
              <a:t>Because when </a:t>
            </a:r>
            <a:r>
              <a:rPr lang="en-US" sz="2400" dirty="0">
                <a:latin typeface="Cambria Math" panose="02040503050406030204" pitchFamily="18" charset="0"/>
                <a:ea typeface="Cambria Math" panose="02040503050406030204" pitchFamily="18" charset="0"/>
              </a:rPr>
              <a:t>an array is declared, the compiler allocates a continuous block of memory required to store the declared number of elements</a:t>
            </a:r>
            <a:r>
              <a:rPr lang="en-US" sz="2400" dirty="0" smtClean="0">
                <a:latin typeface="Cambria Math" panose="02040503050406030204" pitchFamily="18" charset="0"/>
                <a:ea typeface="Cambria Math" panose="02040503050406030204" pitchFamily="18" charset="0"/>
              </a:rPr>
              <a:t>.</a:t>
            </a:r>
          </a:p>
          <a:p>
            <a:pPr marL="0" indent="0">
              <a:buNone/>
            </a:pPr>
            <a:endParaRPr lang="en-US" sz="2400" b="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172532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endParaRPr lang="en-US" dirty="0"/>
          </a:p>
        </p:txBody>
      </p:sp>
      <p:sp>
        <p:nvSpPr>
          <p:cNvPr id="3" name="Content Placeholder 2"/>
          <p:cNvSpPr>
            <a:spLocks noGrp="1"/>
          </p:cNvSpPr>
          <p:nvPr>
            <p:ph idx="1"/>
          </p:nvPr>
        </p:nvSpPr>
        <p:spPr/>
        <p:txBody>
          <a:bodyPr>
            <a:normAutofit/>
          </a:bodyPr>
          <a:lstStyle/>
          <a:p>
            <a:r>
              <a:rPr lang="en-US" sz="2400" dirty="0" smtClean="0">
                <a:latin typeface="Cambria Math" panose="02040503050406030204" pitchFamily="18" charset="0"/>
                <a:ea typeface="Cambria Math" panose="02040503050406030204" pitchFamily="18" charset="0"/>
              </a:rPr>
              <a:t>How to use an array in Visual Basic program:</a:t>
            </a:r>
          </a:p>
          <a:p>
            <a:pPr marL="1066785" lvl="1" indent="-457200">
              <a:buFont typeface="+mj-lt"/>
              <a:buAutoNum type="arabicPeriod"/>
            </a:pPr>
            <a:r>
              <a:rPr lang="en-US" sz="2400" dirty="0">
                <a:latin typeface="Cambria Math" panose="02040503050406030204" pitchFamily="18" charset="0"/>
                <a:ea typeface="Cambria Math" panose="02040503050406030204" pitchFamily="18" charset="0"/>
              </a:rPr>
              <a:t>Declare an array by specifying its size when it is </a:t>
            </a:r>
            <a:r>
              <a:rPr lang="en-US" sz="2400" dirty="0" smtClean="0">
                <a:latin typeface="Cambria Math" panose="02040503050406030204" pitchFamily="18" charset="0"/>
                <a:ea typeface="Cambria Math" panose="02040503050406030204" pitchFamily="18" charset="0"/>
              </a:rPr>
              <a:t>declared.</a:t>
            </a:r>
          </a:p>
          <a:p>
            <a:pPr marL="1066785" lvl="1" indent="-457200">
              <a:buFont typeface="+mj-lt"/>
              <a:buAutoNum type="arabicPeriod"/>
            </a:pPr>
            <a:r>
              <a:rPr lang="en-US" sz="2400" dirty="0" smtClean="0">
                <a:latin typeface="Cambria Math" panose="02040503050406030204" pitchFamily="18" charset="0"/>
                <a:ea typeface="Cambria Math" panose="02040503050406030204" pitchFamily="18" charset="0"/>
              </a:rPr>
              <a:t>Access </a:t>
            </a:r>
            <a:r>
              <a:rPr lang="en-US" sz="2400" dirty="0">
                <a:latin typeface="Cambria Math" panose="02040503050406030204" pitchFamily="18" charset="0"/>
                <a:ea typeface="Cambria Math" panose="02040503050406030204" pitchFamily="18" charset="0"/>
              </a:rPr>
              <a:t>each location in the array using an index of type </a:t>
            </a:r>
            <a:r>
              <a:rPr lang="en-US" sz="2400" dirty="0" smtClean="0">
                <a:latin typeface="Cambria Math" panose="02040503050406030204" pitchFamily="18" charset="0"/>
                <a:ea typeface="Cambria Math" panose="02040503050406030204" pitchFamily="18" charset="0"/>
              </a:rPr>
              <a:t>Integer.</a:t>
            </a:r>
          </a:p>
          <a:p>
            <a:pPr marL="1066785" lvl="1" indent="-457200">
              <a:buFont typeface="+mj-lt"/>
              <a:buAutoNum type="arabicPeriod"/>
            </a:pPr>
            <a:r>
              <a:rPr lang="en-US" sz="2400" dirty="0" smtClean="0">
                <a:latin typeface="Cambria Math" panose="02040503050406030204" pitchFamily="18" charset="0"/>
                <a:ea typeface="Cambria Math" panose="02040503050406030204" pitchFamily="18" charset="0"/>
              </a:rPr>
              <a:t>Populate </a:t>
            </a:r>
            <a:r>
              <a:rPr lang="en-US" sz="2400" dirty="0">
                <a:latin typeface="Cambria Math" panose="02040503050406030204" pitchFamily="18" charset="0"/>
                <a:ea typeface="Cambria Math" panose="02040503050406030204" pitchFamily="18" charset="0"/>
              </a:rPr>
              <a:t>an array with array </a:t>
            </a:r>
            <a:r>
              <a:rPr lang="en-US" sz="2400" dirty="0" smtClean="0">
                <a:latin typeface="Cambria Math" panose="02040503050406030204" pitchFamily="18" charset="0"/>
                <a:ea typeface="Cambria Math" panose="02040503050406030204" pitchFamily="18" charset="0"/>
              </a:rPr>
              <a:t>literals.</a:t>
            </a:r>
          </a:p>
          <a:p>
            <a:pPr marL="1066785" lvl="1" indent="-457200">
              <a:buFont typeface="+mj-lt"/>
              <a:buAutoNum type="arabicPeriod"/>
            </a:pPr>
            <a:r>
              <a:rPr lang="en-US" sz="2400" dirty="0" smtClean="0">
                <a:latin typeface="Cambria Math" panose="02040503050406030204" pitchFamily="18" charset="0"/>
                <a:ea typeface="Cambria Math" panose="02040503050406030204" pitchFamily="18" charset="0"/>
              </a:rPr>
              <a:t>Iterate </a:t>
            </a:r>
            <a:r>
              <a:rPr lang="en-US" sz="2400" dirty="0">
                <a:latin typeface="Cambria Math" panose="02040503050406030204" pitchFamily="18" charset="0"/>
                <a:ea typeface="Cambria Math" panose="02040503050406030204" pitchFamily="18" charset="0"/>
              </a:rPr>
              <a:t>through an </a:t>
            </a:r>
            <a:r>
              <a:rPr lang="en-US" sz="2400" dirty="0" smtClean="0">
                <a:latin typeface="Cambria Math" panose="02040503050406030204" pitchFamily="18" charset="0"/>
                <a:ea typeface="Cambria Math" panose="02040503050406030204" pitchFamily="18" charset="0"/>
              </a:rPr>
              <a:t>array.</a:t>
            </a:r>
          </a:p>
          <a:p>
            <a:pPr marL="1066785" lvl="1" indent="-457200">
              <a:buFont typeface="+mj-lt"/>
              <a:buAutoNum type="arabicPeriod"/>
            </a:pPr>
            <a:r>
              <a:rPr lang="en-US" sz="2400" dirty="0" smtClean="0">
                <a:latin typeface="Cambria Math" panose="02040503050406030204" pitchFamily="18" charset="0"/>
                <a:ea typeface="Cambria Math" panose="02040503050406030204" pitchFamily="18" charset="0"/>
              </a:rPr>
              <a:t>You </a:t>
            </a:r>
            <a:r>
              <a:rPr lang="en-US" sz="2400" dirty="0">
                <a:latin typeface="Cambria Math" panose="02040503050406030204" pitchFamily="18" charset="0"/>
                <a:ea typeface="Cambria Math" panose="02040503050406030204" pitchFamily="18" charset="0"/>
              </a:rPr>
              <a:t>can also change the lower bound, store Variant values in arrays, and use multidimensional </a:t>
            </a:r>
            <a:r>
              <a:rPr lang="en-US" sz="2400" dirty="0" smtClean="0">
                <a:latin typeface="Cambria Math" panose="02040503050406030204" pitchFamily="18" charset="0"/>
                <a:ea typeface="Cambria Math" panose="02040503050406030204" pitchFamily="18" charset="0"/>
              </a:rPr>
              <a:t>arrays. </a:t>
            </a:r>
          </a:p>
          <a:p>
            <a:r>
              <a:rPr lang="en-US" sz="2400" dirty="0">
                <a:latin typeface="Cambria Math" panose="02040503050406030204" pitchFamily="18" charset="0"/>
                <a:ea typeface="Cambria Math" panose="02040503050406030204" pitchFamily="18" charset="0"/>
              </a:rPr>
              <a:t>Array elements are stored in contiguous memory locations. Each element is identified by an index starting with "0". </a:t>
            </a:r>
            <a:r>
              <a:rPr lang="en-US" sz="2400" dirty="0" smtClean="0">
                <a:latin typeface="Cambria Math" panose="02040503050406030204" pitchFamily="18" charset="0"/>
                <a:ea typeface="Cambria Math" panose="02040503050406030204" pitchFamily="18" charset="0"/>
              </a:rPr>
              <a:t>The </a:t>
            </a:r>
            <a:r>
              <a:rPr lang="en-US" sz="2400" dirty="0">
                <a:latin typeface="Cambria Math" panose="02040503050406030204" pitchFamily="18" charset="0"/>
                <a:ea typeface="Cambria Math" panose="02040503050406030204" pitchFamily="18" charset="0"/>
              </a:rPr>
              <a:t>lowest address corresponds to the first element and the highest address to the last element.</a:t>
            </a:r>
          </a:p>
        </p:txBody>
      </p:sp>
    </p:spTree>
    <p:extLst>
      <p:ext uri="{BB962C8B-B14F-4D97-AF65-F5344CB8AC3E}">
        <p14:creationId xmlns:p14="http://schemas.microsoft.com/office/powerpoint/2010/main" val="720463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Math" panose="02040503050406030204" pitchFamily="18" charset="0"/>
                <a:ea typeface="Cambria Math" panose="02040503050406030204" pitchFamily="18" charset="0"/>
              </a:rPr>
              <a:t>Control Arrays</a:t>
            </a:r>
          </a:p>
        </p:txBody>
      </p:sp>
      <p:sp>
        <p:nvSpPr>
          <p:cNvPr id="3" name="Content Placeholder 2"/>
          <p:cNvSpPr>
            <a:spLocks noGrp="1"/>
          </p:cNvSpPr>
          <p:nvPr>
            <p:ph idx="1"/>
          </p:nvPr>
        </p:nvSpPr>
        <p:spPr>
          <a:xfrm>
            <a:off x="667870" y="1690688"/>
            <a:ext cx="10515600" cy="4351338"/>
          </a:xfrm>
        </p:spPr>
        <p:txBody>
          <a:bodyPr>
            <a:normAutofit/>
          </a:bodyPr>
          <a:lstStyle/>
          <a:p>
            <a:r>
              <a:rPr lang="en-US" sz="2400" dirty="0" smtClean="0">
                <a:latin typeface="Cambria Math" panose="02040503050406030204" pitchFamily="18" charset="0"/>
                <a:ea typeface="Cambria Math" panose="02040503050406030204" pitchFamily="18" charset="0"/>
              </a:rPr>
              <a:t>It is very useful to define control arrays, depending on the application</a:t>
            </a:r>
          </a:p>
          <a:p>
            <a:r>
              <a:rPr lang="en-US" sz="2400" dirty="0" smtClean="0">
                <a:latin typeface="Cambria Math" panose="02040503050406030204" pitchFamily="18" charset="0"/>
                <a:ea typeface="Cambria Math" panose="02040503050406030204" pitchFamily="18" charset="0"/>
              </a:rPr>
              <a:t>It is a convenient way to handle groups of controls that perform a similar function. All events available to a single control are still available to the array of controls, the only difference being an argument indicating the index of the selected array element is passes to the event.</a:t>
            </a:r>
          </a:p>
          <a:p>
            <a:pPr marL="717550" indent="-179388">
              <a:buFont typeface="+mj-lt"/>
              <a:buAutoNum type="romanLcPeriod"/>
            </a:pPr>
            <a:r>
              <a:rPr lang="en-US" sz="2400" dirty="0">
                <a:latin typeface="Cambria Math" panose="02040503050406030204" pitchFamily="18" charset="0"/>
                <a:ea typeface="Cambria Math" panose="02040503050406030204" pitchFamily="18" charset="0"/>
              </a:rPr>
              <a:t>	</a:t>
            </a:r>
            <a:r>
              <a:rPr lang="en-US" sz="2400" dirty="0" smtClean="0">
                <a:latin typeface="Cambria Math" panose="02040503050406030204" pitchFamily="18" charset="0"/>
                <a:ea typeface="Cambria Math" panose="02040503050406030204" pitchFamily="18" charset="0"/>
              </a:rPr>
              <a:t>Hence, instead of writing individual procedures for each control, only 	one written procedure for each array.</a:t>
            </a:r>
          </a:p>
          <a:p>
            <a:pPr marL="896938" indent="-449263">
              <a:buFont typeface="+mj-lt"/>
              <a:buAutoNum type="romanLcPeriod"/>
            </a:pPr>
            <a:r>
              <a:rPr lang="en-US" sz="2400" dirty="0" smtClean="0">
                <a:latin typeface="Cambria Math" panose="02040503050406030204" pitchFamily="18" charset="0"/>
                <a:ea typeface="Cambria Math" panose="02040503050406030204" pitchFamily="18" charset="0"/>
              </a:rPr>
              <a:t>You can add or delete array elements at run time which you cannot do 	that  with the controls (objects).</a:t>
            </a: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552897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Cambria Math" panose="02040503050406030204" pitchFamily="18" charset="0"/>
                <a:ea typeface="Cambria Math" panose="02040503050406030204" pitchFamily="18" charset="0"/>
              </a:rPr>
              <a:t>Ways to control Arrays</a:t>
            </a:r>
            <a:endParaRPr lang="en-US" b="1" dirty="0">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p:txBody>
          <a:bodyPr/>
          <a:lstStyle/>
          <a:p>
            <a:pPr marL="514350" indent="-514350">
              <a:buFont typeface="+mj-lt"/>
              <a:buAutoNum type="arabicParenR"/>
            </a:pPr>
            <a:r>
              <a:rPr lang="en-US" dirty="0" smtClean="0">
                <a:latin typeface="Cambria Math" panose="02040503050406030204" pitchFamily="18" charset="0"/>
                <a:ea typeface="Cambria Math" panose="02040503050406030204" pitchFamily="18" charset="0"/>
              </a:rPr>
              <a:t>Create an individual control and set desired properties. Copy the control using the editor, then paste it on the form. Visual Basic will pop-up a dialog box that will ask you if you wish to create a control array. Respond yes and the array is created.</a:t>
            </a:r>
          </a:p>
          <a:p>
            <a:pPr marL="514350" indent="-514350">
              <a:buFont typeface="+mj-lt"/>
              <a:buAutoNum type="arabicParenR"/>
            </a:pPr>
            <a:r>
              <a:rPr lang="en-US" dirty="0" smtClean="0">
                <a:latin typeface="Cambria Math" panose="02040503050406030204" pitchFamily="18" charset="0"/>
                <a:ea typeface="Cambria Math" panose="02040503050406030204" pitchFamily="18" charset="0"/>
              </a:rPr>
              <a:t>Create all controls you wish to have in your array. Assign the desired control arrays name to the first control. Then try to name the second control with the same name. Visual Basic will prompt you, asking you want to create control arrays. Answer yes. Once the array is created, rename all remaining controls with that name.</a:t>
            </a:r>
          </a:p>
          <a:p>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87899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sz="3800" b="1" dirty="0" smtClean="0">
                <a:latin typeface="Cambria Math" panose="02040503050406030204" pitchFamily="18" charset="0"/>
                <a:ea typeface="Cambria Math" panose="02040503050406030204" pitchFamily="18" charset="0"/>
              </a:rPr>
              <a:t>Properties of an array in Visual Basic programming includes: </a:t>
            </a:r>
          </a:p>
          <a:p>
            <a:pPr lvl="1">
              <a:buFont typeface="Courier New" panose="02070309020205020404" pitchFamily="49" charset="0"/>
              <a:buChar char="o"/>
            </a:pPr>
            <a:r>
              <a:rPr lang="en-US" sz="3800" b="1" dirty="0" smtClean="0">
                <a:latin typeface="Cambria Math" panose="02040503050406030204" pitchFamily="18" charset="0"/>
                <a:ea typeface="Cambria Math" panose="02040503050406030204" pitchFamily="18" charset="0"/>
              </a:rPr>
              <a:t>Creating </a:t>
            </a:r>
            <a:r>
              <a:rPr lang="en-US" sz="3800" b="1" dirty="0">
                <a:latin typeface="Cambria Math" panose="02040503050406030204" pitchFamily="18" charset="0"/>
                <a:ea typeface="Cambria Math" panose="02040503050406030204" pitchFamily="18" charset="0"/>
              </a:rPr>
              <a:t>an array</a:t>
            </a:r>
            <a:r>
              <a:rPr lang="en-US" sz="3800" dirty="0">
                <a:latin typeface="Cambria Math" panose="02040503050406030204" pitchFamily="18" charset="0"/>
                <a:ea typeface="Cambria Math" panose="02040503050406030204" pitchFamily="18" charset="0"/>
              </a:rPr>
              <a:t>: You can define the size of an array when it is </a:t>
            </a:r>
            <a:r>
              <a:rPr lang="en-US" sz="3800" dirty="0" smtClean="0">
                <a:latin typeface="Cambria Math" panose="02040503050406030204" pitchFamily="18" charset="0"/>
                <a:ea typeface="Cambria Math" panose="02040503050406030204" pitchFamily="18" charset="0"/>
              </a:rPr>
              <a:t>declared.</a:t>
            </a:r>
          </a:p>
          <a:p>
            <a:pPr lvl="1">
              <a:buFont typeface="Courier New" panose="02070309020205020404" pitchFamily="49" charset="0"/>
              <a:buChar char="o"/>
            </a:pPr>
            <a:r>
              <a:rPr lang="en-US" sz="3800" b="1" dirty="0" smtClean="0">
                <a:latin typeface="Cambria Math" panose="02040503050406030204" pitchFamily="18" charset="0"/>
                <a:ea typeface="Cambria Math" panose="02040503050406030204" pitchFamily="18" charset="0"/>
              </a:rPr>
              <a:t>Storing </a:t>
            </a:r>
            <a:r>
              <a:rPr lang="en-US" sz="3800" b="1" dirty="0">
                <a:latin typeface="Cambria Math" panose="02040503050406030204" pitchFamily="18" charset="0"/>
                <a:ea typeface="Cambria Math" panose="02040503050406030204" pitchFamily="18" charset="0"/>
              </a:rPr>
              <a:t>values in an array</a:t>
            </a:r>
            <a:r>
              <a:rPr lang="en-US" sz="3800" dirty="0">
                <a:latin typeface="Cambria Math" panose="02040503050406030204" pitchFamily="18" charset="0"/>
                <a:ea typeface="Cambria Math" panose="02040503050406030204" pitchFamily="18" charset="0"/>
              </a:rPr>
              <a:t>: Access each location in an array using an </a:t>
            </a:r>
            <a:r>
              <a:rPr lang="en-US" sz="3800" dirty="0" smtClean="0">
                <a:latin typeface="Cambria Math" panose="02040503050406030204" pitchFamily="18" charset="0"/>
                <a:ea typeface="Cambria Math" panose="02040503050406030204" pitchFamily="18" charset="0"/>
              </a:rPr>
              <a:t>index.</a:t>
            </a:r>
          </a:p>
          <a:p>
            <a:pPr lvl="1">
              <a:buFont typeface="Courier New" panose="02070309020205020404" pitchFamily="49" charset="0"/>
              <a:buChar char="o"/>
            </a:pPr>
            <a:r>
              <a:rPr lang="en-US" sz="3800" b="1" dirty="0" smtClean="0">
                <a:latin typeface="Cambria Math" panose="02040503050406030204" pitchFamily="18" charset="0"/>
                <a:ea typeface="Cambria Math" panose="02040503050406030204" pitchFamily="18" charset="0"/>
              </a:rPr>
              <a:t>Populating </a:t>
            </a:r>
            <a:r>
              <a:rPr lang="en-US" sz="3800" b="1" dirty="0">
                <a:latin typeface="Cambria Math" panose="02040503050406030204" pitchFamily="18" charset="0"/>
                <a:ea typeface="Cambria Math" panose="02040503050406030204" pitchFamily="18" charset="0"/>
              </a:rPr>
              <a:t>an array with array </a:t>
            </a:r>
            <a:r>
              <a:rPr lang="en-US" sz="3800" b="1" dirty="0" smtClean="0">
                <a:latin typeface="Cambria Math" panose="02040503050406030204" pitchFamily="18" charset="0"/>
                <a:ea typeface="Cambria Math" panose="02040503050406030204" pitchFamily="18" charset="0"/>
              </a:rPr>
              <a:t>literals</a:t>
            </a:r>
            <a:r>
              <a:rPr lang="en-US" sz="3800" dirty="0" smtClean="0">
                <a:latin typeface="Cambria Math" panose="02040503050406030204" pitchFamily="18" charset="0"/>
                <a:ea typeface="Cambria Math" panose="02040503050406030204" pitchFamily="18" charset="0"/>
              </a:rPr>
              <a:t>.</a:t>
            </a:r>
          </a:p>
          <a:p>
            <a:pPr lvl="1">
              <a:buFont typeface="Courier New" panose="02070309020205020404" pitchFamily="49" charset="0"/>
              <a:buChar char="o"/>
            </a:pPr>
            <a:r>
              <a:rPr lang="en-US" sz="3800" b="1" dirty="0" smtClean="0">
                <a:latin typeface="Cambria Math" panose="02040503050406030204" pitchFamily="18" charset="0"/>
                <a:ea typeface="Cambria Math" panose="02040503050406030204" pitchFamily="18" charset="0"/>
              </a:rPr>
              <a:t>Iterating </a:t>
            </a:r>
            <a:r>
              <a:rPr lang="en-US" sz="3800" b="1" dirty="0">
                <a:latin typeface="Cambria Math" panose="02040503050406030204" pitchFamily="18" charset="0"/>
                <a:ea typeface="Cambria Math" panose="02040503050406030204" pitchFamily="18" charset="0"/>
              </a:rPr>
              <a:t>through an </a:t>
            </a:r>
            <a:r>
              <a:rPr lang="en-US" sz="3800" b="1" dirty="0" smtClean="0">
                <a:latin typeface="Cambria Math" panose="02040503050406030204" pitchFamily="18" charset="0"/>
                <a:ea typeface="Cambria Math" panose="02040503050406030204" pitchFamily="18" charset="0"/>
              </a:rPr>
              <a:t>array</a:t>
            </a:r>
            <a:r>
              <a:rPr lang="en-US" sz="3800" dirty="0" smtClean="0">
                <a:latin typeface="Cambria Math" panose="02040503050406030204" pitchFamily="18" charset="0"/>
                <a:ea typeface="Cambria Math" panose="02040503050406030204" pitchFamily="18" charset="0"/>
              </a:rPr>
              <a:t>.</a:t>
            </a:r>
          </a:p>
          <a:p>
            <a:pPr lvl="1">
              <a:buFont typeface="Courier New" panose="02070309020205020404" pitchFamily="49" charset="0"/>
              <a:buChar char="o"/>
            </a:pPr>
            <a:r>
              <a:rPr lang="en-US" sz="3800" b="1" dirty="0" smtClean="0">
                <a:latin typeface="Cambria Math" panose="02040503050406030204" pitchFamily="18" charset="0"/>
                <a:ea typeface="Cambria Math" panose="02040503050406030204" pitchFamily="18" charset="0"/>
              </a:rPr>
              <a:t>Key </a:t>
            </a:r>
            <a:r>
              <a:rPr lang="en-US" sz="3800" b="1" dirty="0">
                <a:latin typeface="Cambria Math" panose="02040503050406030204" pitchFamily="18" charset="0"/>
                <a:ea typeface="Cambria Math" panose="02040503050406030204" pitchFamily="18" charset="0"/>
              </a:rPr>
              <a:t>properties for manipulating arrays</a:t>
            </a:r>
            <a:r>
              <a:rPr lang="en-US" sz="3800" dirty="0">
                <a:latin typeface="Cambria Math" panose="02040503050406030204" pitchFamily="18" charset="0"/>
                <a:ea typeface="Cambria Math" panose="02040503050406030204" pitchFamily="18" charset="0"/>
              </a:rPr>
              <a:t>:</a:t>
            </a:r>
          </a:p>
          <a:p>
            <a:pPr lvl="2"/>
            <a:r>
              <a:rPr lang="en-US" sz="3267" b="1" dirty="0">
                <a:latin typeface="Cambria Math" panose="02040503050406030204" pitchFamily="18" charset="0"/>
                <a:ea typeface="Cambria Math" panose="02040503050406030204" pitchFamily="18" charset="0"/>
              </a:rPr>
              <a:t>Length property</a:t>
            </a:r>
            <a:r>
              <a:rPr lang="en-US" sz="3267" dirty="0">
                <a:latin typeface="Cambria Math" panose="02040503050406030204" pitchFamily="18" charset="0"/>
                <a:ea typeface="Cambria Math" panose="02040503050406030204" pitchFamily="18" charset="0"/>
              </a:rPr>
              <a:t>: Returns the number of elements in an array.</a:t>
            </a:r>
          </a:p>
          <a:p>
            <a:pPr lvl="2"/>
            <a:r>
              <a:rPr lang="en-US" sz="3267" b="1" dirty="0">
                <a:latin typeface="Cambria Math" panose="02040503050406030204" pitchFamily="18" charset="0"/>
                <a:ea typeface="Cambria Math" panose="02040503050406030204" pitchFamily="18" charset="0"/>
              </a:rPr>
              <a:t>Rank property</a:t>
            </a:r>
            <a:r>
              <a:rPr lang="en-US" sz="3267" dirty="0">
                <a:latin typeface="Cambria Math" panose="02040503050406030204" pitchFamily="18" charset="0"/>
                <a:ea typeface="Cambria Math" panose="02040503050406030204" pitchFamily="18" charset="0"/>
              </a:rPr>
              <a:t>: Returns the number of dimensions in a multi-dimensional array.</a:t>
            </a:r>
          </a:p>
          <a:p>
            <a:pPr lvl="2"/>
            <a:r>
              <a:rPr lang="en-US" sz="3267" b="1" dirty="0" smtClean="0">
                <a:latin typeface="Cambria Math" panose="02040503050406030204" pitchFamily="18" charset="0"/>
                <a:ea typeface="Cambria Math" panose="02040503050406030204" pitchFamily="18" charset="0"/>
              </a:rPr>
              <a:t>Is Fixed Size </a:t>
            </a:r>
            <a:r>
              <a:rPr lang="en-US" sz="3267" b="1" dirty="0">
                <a:latin typeface="Cambria Math" panose="02040503050406030204" pitchFamily="18" charset="0"/>
                <a:ea typeface="Cambria Math" panose="02040503050406030204" pitchFamily="18" charset="0"/>
              </a:rPr>
              <a:t>property</a:t>
            </a:r>
            <a:r>
              <a:rPr lang="en-US" sz="3267" dirty="0">
                <a:latin typeface="Cambria Math" panose="02040503050406030204" pitchFamily="18" charset="0"/>
                <a:ea typeface="Cambria Math" panose="02040503050406030204" pitchFamily="18" charset="0"/>
              </a:rPr>
              <a:t>: Indicates whether an array has a fixed size.</a:t>
            </a:r>
          </a:p>
          <a:p>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714197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33067" y="356431"/>
            <a:ext cx="2565196" cy="1018035"/>
          </a:xfrm>
          <a:solidFill>
            <a:schemeClr val="bg1"/>
          </a:solidFill>
        </p:spPr>
        <p:txBody>
          <a:bodyPr/>
          <a:lstStyle/>
          <a:p>
            <a:r>
              <a:rPr lang="en-US" b="1" dirty="0" smtClean="0">
                <a:solidFill>
                  <a:schemeClr val="tx1"/>
                </a:solidFill>
                <a:latin typeface="Cambria Math" panose="02040503050406030204" pitchFamily="18" charset="0"/>
                <a:ea typeface="Cambria Math" panose="02040503050406030204" pitchFamily="18" charset="0"/>
              </a:rPr>
              <a:t>Summary</a:t>
            </a:r>
            <a:endParaRPr lang="en-US" b="1" dirty="0">
              <a:solidFill>
                <a:schemeClr val="tx1"/>
              </a:solidFill>
              <a:latin typeface="Cambria Math" panose="02040503050406030204" pitchFamily="18" charset="0"/>
              <a:ea typeface="Cambria Math" panose="02040503050406030204" pitchFamily="18" charset="0"/>
            </a:endParaRPr>
          </a:p>
        </p:txBody>
      </p:sp>
      <p:sp>
        <p:nvSpPr>
          <p:cNvPr id="6" name="Content Placeholder 5"/>
          <p:cNvSpPr>
            <a:spLocks noGrp="1"/>
          </p:cNvSpPr>
          <p:nvPr>
            <p:ph idx="1"/>
          </p:nvPr>
        </p:nvSpPr>
        <p:spPr>
          <a:xfrm>
            <a:off x="618285" y="1735396"/>
            <a:ext cx="10994760" cy="1074480"/>
          </a:xfrm>
        </p:spPr>
        <p:txBody>
          <a:bodyPr>
            <a:normAutofit/>
          </a:bodyPr>
          <a:lstStyle/>
          <a:p>
            <a:r>
              <a:rPr lang="en-US" dirty="0">
                <a:solidFill>
                  <a:srgbClr val="002060"/>
                </a:solidFill>
                <a:latin typeface="Cambria Math" panose="02040503050406030204" pitchFamily="18" charset="0"/>
                <a:ea typeface="Cambria Math" panose="02040503050406030204" pitchFamily="18" charset="0"/>
              </a:rPr>
              <a:t>Read Chapter Summary Notes on Page </a:t>
            </a:r>
            <a:r>
              <a:rPr lang="en-US" dirty="0" smtClean="0">
                <a:solidFill>
                  <a:srgbClr val="002060"/>
                </a:solidFill>
                <a:latin typeface="Cambria Math" panose="02040503050406030204" pitchFamily="18" charset="0"/>
                <a:ea typeface="Cambria Math" panose="02040503050406030204" pitchFamily="18" charset="0"/>
              </a:rPr>
              <a:t>207 </a:t>
            </a:r>
            <a:r>
              <a:rPr lang="en-US" dirty="0">
                <a:solidFill>
                  <a:srgbClr val="002060"/>
                </a:solidFill>
                <a:latin typeface="Cambria Math" panose="02040503050406030204" pitchFamily="18" charset="0"/>
                <a:ea typeface="Cambria Math" panose="02040503050406030204" pitchFamily="18" charset="0"/>
              </a:rPr>
              <a:t>of Introduction to Programming Book </a:t>
            </a:r>
            <a:r>
              <a:rPr lang="en-US" dirty="0" smtClean="0">
                <a:solidFill>
                  <a:srgbClr val="002060"/>
                </a:solidFill>
                <a:latin typeface="Cambria Math" panose="02040503050406030204" pitchFamily="18" charset="0"/>
                <a:ea typeface="Cambria Math" panose="02040503050406030204" pitchFamily="18" charset="0"/>
              </a:rPr>
              <a:t>2.</a:t>
            </a:r>
            <a:endParaRPr lang="en-US" dirty="0">
              <a:solidFill>
                <a:srgbClr val="002060"/>
              </a:solidFill>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p:txBody>
      </p:sp>
      <p:sp>
        <p:nvSpPr>
          <p:cNvPr id="4" name="Title 1"/>
          <p:cNvSpPr txBox="1">
            <a:spLocks/>
          </p:cNvSpPr>
          <p:nvPr/>
        </p:nvSpPr>
        <p:spPr>
          <a:xfrm>
            <a:off x="3303798" y="3079207"/>
            <a:ext cx="5623735" cy="1018035"/>
          </a:xfrm>
          <a:prstGeom prst="rect">
            <a:avLst/>
          </a:prstGeom>
        </p:spPr>
        <p:txBody>
          <a:bodyPr vert="horz" lIns="91440" tIns="45720" rIns="91440" bIns="45720" rtlCol="0" anchor="ctr">
            <a:normAutofit/>
          </a:bodyPr>
          <a:lstStyle>
            <a:lvl1pPr algn="r" defTabSz="1219170" rtl="0" eaLnBrk="1" latinLnBrk="0" hangingPunct="1">
              <a:spcBef>
                <a:spcPct val="0"/>
              </a:spcBef>
              <a:buNone/>
              <a:defRPr sz="4800" kern="1200" baseline="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a:r>
              <a:rPr lang="en-US" b="1" dirty="0">
                <a:solidFill>
                  <a:schemeClr val="tx1"/>
                </a:solidFill>
                <a:latin typeface="Cambria Math" panose="02040503050406030204" pitchFamily="18" charset="0"/>
                <a:ea typeface="Cambria Math" panose="02040503050406030204" pitchFamily="18" charset="0"/>
              </a:rPr>
              <a:t>Review Exercises</a:t>
            </a:r>
            <a:endParaRPr lang="en-US" dirty="0">
              <a:solidFill>
                <a:schemeClr val="tx1"/>
              </a:solidFill>
              <a:latin typeface="Cambria Math" panose="02040503050406030204" pitchFamily="18" charset="0"/>
              <a:ea typeface="Cambria Math" panose="02040503050406030204" pitchFamily="18" charset="0"/>
            </a:endParaRPr>
          </a:p>
        </p:txBody>
      </p:sp>
      <p:sp>
        <p:nvSpPr>
          <p:cNvPr id="5" name="Content Placeholder 5"/>
          <p:cNvSpPr txBox="1">
            <a:spLocks/>
          </p:cNvSpPr>
          <p:nvPr/>
        </p:nvSpPr>
        <p:spPr>
          <a:xfrm>
            <a:off x="618285" y="4097243"/>
            <a:ext cx="10994760" cy="2084484"/>
          </a:xfrm>
          <a:prstGeom prst="rect">
            <a:avLst/>
          </a:prstGeom>
        </p:spPr>
        <p:txBody>
          <a:bodyPr vert="horz" lIns="91440" tIns="45720" rIns="91440" bIns="45720" rtlCol="0">
            <a:normAutofit fontScale="92500" lnSpcReduction="20000"/>
          </a:bodyPr>
          <a:lstStyle>
            <a:lvl1pPr marL="457189" indent="-457189"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rgbClr val="0000CC"/>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solidFill>
                  <a:srgbClr val="002060"/>
                </a:solidFill>
                <a:latin typeface="Cambria Math" panose="02040503050406030204" pitchFamily="18" charset="0"/>
                <a:ea typeface="Cambria Math" panose="02040503050406030204" pitchFamily="18" charset="0"/>
              </a:rPr>
              <a:t>Complete all 9 review questions on Page </a:t>
            </a:r>
            <a:r>
              <a:rPr lang="en-US" dirty="0" smtClean="0">
                <a:solidFill>
                  <a:srgbClr val="002060"/>
                </a:solidFill>
                <a:latin typeface="Cambria Math" panose="02040503050406030204" pitchFamily="18" charset="0"/>
                <a:ea typeface="Cambria Math" panose="02040503050406030204" pitchFamily="18" charset="0"/>
              </a:rPr>
              <a:t>208 </a:t>
            </a:r>
            <a:r>
              <a:rPr lang="en-US" dirty="0">
                <a:solidFill>
                  <a:srgbClr val="002060"/>
                </a:solidFill>
                <a:latin typeface="Cambria Math" panose="02040503050406030204" pitchFamily="18" charset="0"/>
                <a:ea typeface="Cambria Math" panose="02040503050406030204" pitchFamily="18" charset="0"/>
              </a:rPr>
              <a:t>of Introduction to Programming Book 2.</a:t>
            </a:r>
          </a:p>
          <a:p>
            <a:r>
              <a:rPr lang="en-US" dirty="0">
                <a:solidFill>
                  <a:srgbClr val="002060"/>
                </a:solidFill>
                <a:latin typeface="Cambria Math" panose="02040503050406030204" pitchFamily="18" charset="0"/>
                <a:ea typeface="Cambria Math" panose="02040503050406030204" pitchFamily="18" charset="0"/>
              </a:rPr>
              <a:t>Try to at least do </a:t>
            </a:r>
            <a:r>
              <a:rPr lang="en-US" b="1" dirty="0">
                <a:solidFill>
                  <a:srgbClr val="002060"/>
                </a:solidFill>
                <a:latin typeface="Cambria Math" panose="02040503050406030204" pitchFamily="18" charset="0"/>
                <a:ea typeface="Cambria Math" panose="02040503050406030204" pitchFamily="18" charset="0"/>
              </a:rPr>
              <a:t>Hands-On Programming Examples and Exercises </a:t>
            </a:r>
          </a:p>
          <a:p>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787058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721</TotalTime>
  <Words>773</Words>
  <Application>Microsoft Office PowerPoint</Application>
  <PresentationFormat>Widescreen</PresentationFormat>
  <Paragraphs>68</Paragraphs>
  <Slides>10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Calibri Light</vt:lpstr>
      <vt:lpstr>Cambria Math</vt:lpstr>
      <vt:lpstr>Courier New</vt:lpstr>
      <vt:lpstr>Times New Roman</vt:lpstr>
      <vt:lpstr>Wingdings</vt:lpstr>
      <vt:lpstr>Office Theme</vt:lpstr>
      <vt:lpstr>Chapter Seven </vt:lpstr>
      <vt:lpstr>Learning Objectives</vt:lpstr>
      <vt:lpstr>7.1 Visual Basic Looping</vt:lpstr>
      <vt:lpstr>PowerPoint Presentation</vt:lpstr>
      <vt:lpstr>7.2 Arrays </vt:lpstr>
      <vt:lpstr>PowerPoint Presentation</vt:lpstr>
      <vt:lpstr>Control Arrays</vt:lpstr>
      <vt:lpstr>Ways to control Arrays</vt:lpstr>
      <vt:lpstr>PowerPoint Presentation</vt:lpstr>
      <vt:lpstr>Summary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Dianne Sikinapi</dc:creator>
  <cp:lastModifiedBy>Odilia Tita</cp:lastModifiedBy>
  <cp:revision>47</cp:revision>
  <dcterms:created xsi:type="dcterms:W3CDTF">2023-07-21T06:19:42Z</dcterms:created>
  <dcterms:modified xsi:type="dcterms:W3CDTF">2026-02-03T22:46:34Z</dcterms:modified>
</cp:coreProperties>
</file>