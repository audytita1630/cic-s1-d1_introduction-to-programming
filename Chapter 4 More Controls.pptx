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27"/>
  </p:notesMasterIdLst>
  <p:handoutMasterIdLst>
    <p:handoutMasterId r:id="rId28"/>
  </p:handoutMasterIdLst>
  <p:sldIdLst>
    <p:sldId id="258" r:id="rId2"/>
    <p:sldId id="259" r:id="rId3"/>
    <p:sldId id="260" r:id="rId4"/>
    <p:sldId id="263" r:id="rId5"/>
    <p:sldId id="264" r:id="rId6"/>
    <p:sldId id="266" r:id="rId7"/>
    <p:sldId id="288" r:id="rId8"/>
    <p:sldId id="268" r:id="rId9"/>
    <p:sldId id="270" r:id="rId10"/>
    <p:sldId id="289" r:id="rId11"/>
    <p:sldId id="273"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90" r:id="rId26"/>
  </p:sldIdLst>
  <p:sldSz cx="12192000" cy="6858000"/>
  <p:notesSz cx="9385300" cy="7099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2245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6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066963" cy="356198"/>
          </a:xfrm>
          <a:prstGeom prst="rect">
            <a:avLst/>
          </a:prstGeom>
        </p:spPr>
        <p:txBody>
          <a:bodyPr vert="horz" lIns="94191" tIns="47095" rIns="94191" bIns="47095" rtlCol="0"/>
          <a:lstStyle>
            <a:lvl1pPr algn="l">
              <a:defRPr sz="1200"/>
            </a:lvl1pPr>
          </a:lstStyle>
          <a:p>
            <a:r>
              <a:rPr lang="it-IT" smtClean="0"/>
              <a:t>Introduction to Programming - 1008</a:t>
            </a:r>
            <a:endParaRPr lang="en-US"/>
          </a:p>
        </p:txBody>
      </p:sp>
      <p:sp>
        <p:nvSpPr>
          <p:cNvPr id="3" name="Date Placeholder 2"/>
          <p:cNvSpPr>
            <a:spLocks noGrp="1"/>
          </p:cNvSpPr>
          <p:nvPr>
            <p:ph type="dt" sz="quarter" idx="1"/>
          </p:nvPr>
        </p:nvSpPr>
        <p:spPr>
          <a:xfrm>
            <a:off x="5316166" y="0"/>
            <a:ext cx="4066963" cy="356198"/>
          </a:xfrm>
          <a:prstGeom prst="rect">
            <a:avLst/>
          </a:prstGeom>
        </p:spPr>
        <p:txBody>
          <a:bodyPr vert="horz" lIns="94191" tIns="47095" rIns="94191" bIns="47095" rtlCol="0"/>
          <a:lstStyle>
            <a:lvl1pPr algn="r">
              <a:defRPr sz="1200"/>
            </a:lvl1pPr>
          </a:lstStyle>
          <a:p>
            <a:r>
              <a:rPr lang="en-US" smtClean="0"/>
              <a:t>27/08/2024</a:t>
            </a:r>
            <a:endParaRPr lang="en-US"/>
          </a:p>
        </p:txBody>
      </p:sp>
      <p:sp>
        <p:nvSpPr>
          <p:cNvPr id="4" name="Footer Placeholder 3"/>
          <p:cNvSpPr>
            <a:spLocks noGrp="1"/>
          </p:cNvSpPr>
          <p:nvPr>
            <p:ph type="ftr" sz="quarter" idx="2"/>
          </p:nvPr>
        </p:nvSpPr>
        <p:spPr>
          <a:xfrm>
            <a:off x="2" y="6743103"/>
            <a:ext cx="4066963" cy="356197"/>
          </a:xfrm>
          <a:prstGeom prst="rect">
            <a:avLst/>
          </a:prstGeom>
        </p:spPr>
        <p:txBody>
          <a:bodyPr vert="horz" lIns="94191" tIns="47095" rIns="94191" bIns="47095" rtlCol="0" anchor="b"/>
          <a:lstStyle>
            <a:lvl1pPr algn="l">
              <a:defRPr sz="1200"/>
            </a:lvl1pPr>
          </a:lstStyle>
          <a:p>
            <a:r>
              <a:rPr lang="en-US" smtClean="0"/>
              <a:t>ITI | July Semester 2024 | CIC D1</a:t>
            </a:r>
            <a:endParaRPr lang="en-US"/>
          </a:p>
        </p:txBody>
      </p:sp>
      <p:sp>
        <p:nvSpPr>
          <p:cNvPr id="5" name="Slide Number Placeholder 4"/>
          <p:cNvSpPr>
            <a:spLocks noGrp="1"/>
          </p:cNvSpPr>
          <p:nvPr>
            <p:ph type="sldNum" sz="quarter" idx="3"/>
          </p:nvPr>
        </p:nvSpPr>
        <p:spPr>
          <a:xfrm>
            <a:off x="5316166" y="6743103"/>
            <a:ext cx="4066963" cy="356197"/>
          </a:xfrm>
          <a:prstGeom prst="rect">
            <a:avLst/>
          </a:prstGeom>
        </p:spPr>
        <p:txBody>
          <a:bodyPr vert="horz" lIns="94191" tIns="47095" rIns="94191" bIns="47095" rtlCol="0" anchor="b"/>
          <a:lstStyle>
            <a:lvl1pPr algn="r">
              <a:defRPr sz="1200"/>
            </a:lvl1pPr>
          </a:lstStyle>
          <a:p>
            <a:fld id="{6D8D5C9C-0886-4244-B056-5AFEE044AD02}" type="slidenum">
              <a:rPr lang="en-US" smtClean="0"/>
              <a:t>‹#›</a:t>
            </a:fld>
            <a:endParaRPr lang="en-US"/>
          </a:p>
        </p:txBody>
      </p:sp>
    </p:spTree>
    <p:extLst>
      <p:ext uri="{BB962C8B-B14F-4D97-AF65-F5344CB8AC3E}">
        <p14:creationId xmlns:p14="http://schemas.microsoft.com/office/powerpoint/2010/main" val="3108720903"/>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066963" cy="356198"/>
          </a:xfrm>
          <a:prstGeom prst="rect">
            <a:avLst/>
          </a:prstGeom>
        </p:spPr>
        <p:txBody>
          <a:bodyPr vert="horz" lIns="94191" tIns="47095" rIns="94191" bIns="47095" rtlCol="0"/>
          <a:lstStyle>
            <a:lvl1pPr algn="l">
              <a:defRPr sz="1200"/>
            </a:lvl1pPr>
          </a:lstStyle>
          <a:p>
            <a:r>
              <a:rPr lang="it-IT" smtClean="0"/>
              <a:t>Introduction to Programming - 1008</a:t>
            </a:r>
            <a:endParaRPr lang="en-US"/>
          </a:p>
        </p:txBody>
      </p:sp>
      <p:sp>
        <p:nvSpPr>
          <p:cNvPr id="3" name="Date Placeholder 2"/>
          <p:cNvSpPr>
            <a:spLocks noGrp="1"/>
          </p:cNvSpPr>
          <p:nvPr>
            <p:ph type="dt" idx="1"/>
          </p:nvPr>
        </p:nvSpPr>
        <p:spPr>
          <a:xfrm>
            <a:off x="5316166" y="0"/>
            <a:ext cx="4066963" cy="356198"/>
          </a:xfrm>
          <a:prstGeom prst="rect">
            <a:avLst/>
          </a:prstGeom>
        </p:spPr>
        <p:txBody>
          <a:bodyPr vert="horz" lIns="94191" tIns="47095" rIns="94191" bIns="47095" rtlCol="0"/>
          <a:lstStyle>
            <a:lvl1pPr algn="r">
              <a:defRPr sz="1200"/>
            </a:lvl1pPr>
          </a:lstStyle>
          <a:p>
            <a:r>
              <a:rPr lang="en-US" smtClean="0"/>
              <a:t>27/08/2024</a:t>
            </a:r>
            <a:endParaRPr lang="en-US"/>
          </a:p>
        </p:txBody>
      </p:sp>
      <p:sp>
        <p:nvSpPr>
          <p:cNvPr id="4" name="Slide Image Placeholder 3"/>
          <p:cNvSpPr>
            <a:spLocks noGrp="1" noRot="1" noChangeAspect="1"/>
          </p:cNvSpPr>
          <p:nvPr>
            <p:ph type="sldImg" idx="2"/>
          </p:nvPr>
        </p:nvSpPr>
        <p:spPr>
          <a:xfrm>
            <a:off x="2563813" y="887413"/>
            <a:ext cx="4257675" cy="2395537"/>
          </a:xfrm>
          <a:prstGeom prst="rect">
            <a:avLst/>
          </a:prstGeom>
          <a:noFill/>
          <a:ln w="12700">
            <a:solidFill>
              <a:prstClr val="black"/>
            </a:solidFill>
          </a:ln>
        </p:spPr>
        <p:txBody>
          <a:bodyPr vert="horz" lIns="94191" tIns="47095" rIns="94191" bIns="47095" rtlCol="0" anchor="ctr"/>
          <a:lstStyle/>
          <a:p>
            <a:endParaRPr lang="en-US"/>
          </a:p>
        </p:txBody>
      </p:sp>
      <p:sp>
        <p:nvSpPr>
          <p:cNvPr id="5" name="Notes Placeholder 4"/>
          <p:cNvSpPr>
            <a:spLocks noGrp="1"/>
          </p:cNvSpPr>
          <p:nvPr>
            <p:ph type="body" sz="quarter" idx="3"/>
          </p:nvPr>
        </p:nvSpPr>
        <p:spPr>
          <a:xfrm>
            <a:off x="938530" y="3416538"/>
            <a:ext cx="7508240" cy="2795350"/>
          </a:xfrm>
          <a:prstGeom prst="rect">
            <a:avLst/>
          </a:prstGeom>
        </p:spPr>
        <p:txBody>
          <a:bodyPr vert="horz" lIns="94191" tIns="47095" rIns="94191" bIns="47095"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2" y="6743103"/>
            <a:ext cx="4066963" cy="356197"/>
          </a:xfrm>
          <a:prstGeom prst="rect">
            <a:avLst/>
          </a:prstGeom>
        </p:spPr>
        <p:txBody>
          <a:bodyPr vert="horz" lIns="94191" tIns="47095" rIns="94191" bIns="47095" rtlCol="0" anchor="b"/>
          <a:lstStyle>
            <a:lvl1pPr algn="l">
              <a:defRPr sz="1200"/>
            </a:lvl1pPr>
          </a:lstStyle>
          <a:p>
            <a:r>
              <a:rPr lang="en-US" smtClean="0"/>
              <a:t>ITI | July Semester 2024 | CIC D1</a:t>
            </a:r>
            <a:endParaRPr lang="en-US"/>
          </a:p>
        </p:txBody>
      </p:sp>
      <p:sp>
        <p:nvSpPr>
          <p:cNvPr id="7" name="Slide Number Placeholder 6"/>
          <p:cNvSpPr>
            <a:spLocks noGrp="1"/>
          </p:cNvSpPr>
          <p:nvPr>
            <p:ph type="sldNum" sz="quarter" idx="5"/>
          </p:nvPr>
        </p:nvSpPr>
        <p:spPr>
          <a:xfrm>
            <a:off x="5316166" y="6743103"/>
            <a:ext cx="4066963" cy="356197"/>
          </a:xfrm>
          <a:prstGeom prst="rect">
            <a:avLst/>
          </a:prstGeom>
        </p:spPr>
        <p:txBody>
          <a:bodyPr vert="horz" lIns="94191" tIns="47095" rIns="94191" bIns="47095" rtlCol="0" anchor="b"/>
          <a:lstStyle>
            <a:lvl1pPr algn="r">
              <a:defRPr sz="1200"/>
            </a:lvl1pPr>
          </a:lstStyle>
          <a:p>
            <a:fld id="{F2BC481B-D00F-4AB7-BB14-F5648FA81FF8}" type="slidenum">
              <a:rPr lang="en-US" smtClean="0"/>
              <a:t>‹#›</a:t>
            </a:fld>
            <a:endParaRPr lang="en-US"/>
          </a:p>
        </p:txBody>
      </p:sp>
    </p:spTree>
    <p:extLst>
      <p:ext uri="{BB962C8B-B14F-4D97-AF65-F5344CB8AC3E}">
        <p14:creationId xmlns:p14="http://schemas.microsoft.com/office/powerpoint/2010/main" val="399037389"/>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27/08/2024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DFBF97C8-97E4-471F-A5F0-5F4F0B4E0FD0}" type="slidenum">
              <a:rPr lang="en-US" smtClean="0"/>
              <a:t>1</a:t>
            </a:fld>
            <a:endParaRPr lang="en-US"/>
          </a:p>
        </p:txBody>
      </p:sp>
    </p:spTree>
    <p:extLst>
      <p:ext uri="{BB962C8B-B14F-4D97-AF65-F5344CB8AC3E}">
        <p14:creationId xmlns:p14="http://schemas.microsoft.com/office/powerpoint/2010/main" val="2582992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27/08/2024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DFBF97C8-97E4-471F-A5F0-5F4F0B4E0FD0}" type="slidenum">
              <a:rPr lang="en-US" smtClean="0"/>
              <a:t>2</a:t>
            </a:fld>
            <a:endParaRPr lang="en-US"/>
          </a:p>
        </p:txBody>
      </p:sp>
    </p:spTree>
    <p:extLst>
      <p:ext uri="{BB962C8B-B14F-4D97-AF65-F5344CB8AC3E}">
        <p14:creationId xmlns:p14="http://schemas.microsoft.com/office/powerpoint/2010/main" val="232867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27/08/2024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DFBF97C8-97E4-471F-A5F0-5F4F0B4E0FD0}" type="slidenum">
              <a:rPr lang="en-US" smtClean="0"/>
              <a:t>3</a:t>
            </a:fld>
            <a:endParaRPr lang="en-US"/>
          </a:p>
        </p:txBody>
      </p:sp>
    </p:spTree>
    <p:extLst>
      <p:ext uri="{BB962C8B-B14F-4D97-AF65-F5344CB8AC3E}">
        <p14:creationId xmlns:p14="http://schemas.microsoft.com/office/powerpoint/2010/main" val="2912096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27/08/2024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F2BC481B-D00F-4AB7-BB14-F5648FA81FF8}" type="slidenum">
              <a:rPr lang="en-US" smtClean="0"/>
              <a:t>20</a:t>
            </a:fld>
            <a:endParaRPr lang="en-US"/>
          </a:p>
        </p:txBody>
      </p:sp>
    </p:spTree>
    <p:extLst>
      <p:ext uri="{BB962C8B-B14F-4D97-AF65-F5344CB8AC3E}">
        <p14:creationId xmlns:p14="http://schemas.microsoft.com/office/powerpoint/2010/main" val="2568339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25</a:t>
            </a:fld>
            <a:endParaRPr lang="en-US"/>
          </a:p>
        </p:txBody>
      </p:sp>
      <p:sp>
        <p:nvSpPr>
          <p:cNvPr id="5" name="Footer Placeholder 4"/>
          <p:cNvSpPr>
            <a:spLocks noGrp="1"/>
          </p:cNvSpPr>
          <p:nvPr>
            <p:ph type="ftr" sz="quarter" idx="11"/>
          </p:nvPr>
        </p:nvSpPr>
        <p:spPr/>
        <p:txBody>
          <a:bodyPr/>
          <a:lstStyle/>
          <a:p>
            <a:r>
              <a:rPr lang="en-US" smtClean="0"/>
              <a:t>ITI | July Semester 2024 | CIC D1</a:t>
            </a:r>
            <a:endParaRPr lang="en-US"/>
          </a:p>
        </p:txBody>
      </p:sp>
      <p:sp>
        <p:nvSpPr>
          <p:cNvPr id="6" name="Header Placeholder 5"/>
          <p:cNvSpPr>
            <a:spLocks noGrp="1"/>
          </p:cNvSpPr>
          <p:nvPr>
            <p:ph type="hdr" sz="quarter" idx="12"/>
          </p:nvPr>
        </p:nvSpPr>
        <p:spPr/>
        <p:txBody>
          <a:bodyPr/>
          <a:lstStyle/>
          <a:p>
            <a:r>
              <a:rPr lang="en-US" smtClean="0"/>
              <a:t>Introduction to Programming - 1008</a:t>
            </a:r>
            <a:endParaRPr lang="en-US"/>
          </a:p>
        </p:txBody>
      </p:sp>
      <p:sp>
        <p:nvSpPr>
          <p:cNvPr id="7" name="Date Placeholder 6"/>
          <p:cNvSpPr>
            <a:spLocks noGrp="1"/>
          </p:cNvSpPr>
          <p:nvPr>
            <p:ph type="dt" idx="13"/>
          </p:nvPr>
        </p:nvSpPr>
        <p:spPr/>
        <p:txBody>
          <a:bodyPr/>
          <a:lstStyle/>
          <a:p>
            <a:r>
              <a:rPr lang="en-US" smtClean="0"/>
              <a:t>27/08/2024</a:t>
            </a:r>
            <a:endParaRPr lang="en-US"/>
          </a:p>
        </p:txBody>
      </p:sp>
    </p:spTree>
    <p:extLst>
      <p:ext uri="{BB962C8B-B14F-4D97-AF65-F5344CB8AC3E}">
        <p14:creationId xmlns:p14="http://schemas.microsoft.com/office/powerpoint/2010/main" val="3119010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67151F4-1726-4483-A30F-6C4C79E2CAFD}"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3738586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7151F4-1726-4483-A30F-6C4C79E2CAFD}"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2021843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67151F4-1726-4483-A30F-6C4C79E2CAFD}"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2657955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67151F4-1726-4483-A30F-6C4C79E2CAFD}"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2797380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67151F4-1726-4483-A30F-6C4C79E2CAFD}" type="datetimeFigureOut">
              <a:rPr lang="en-US" smtClean="0"/>
              <a:t>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1075465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67151F4-1726-4483-A30F-6C4C79E2CAFD}" type="datetimeFigureOut">
              <a:rPr lang="en-US" smtClean="0"/>
              <a:t>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810802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7151F4-1726-4483-A30F-6C4C79E2CAFD}" type="datetimeFigureOut">
              <a:rPr lang="en-US" smtClean="0"/>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124198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7151F4-1726-4483-A30F-6C4C79E2CAFD}"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499264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7151F4-1726-4483-A30F-6C4C79E2CAFD}"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2602481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7151F4-1726-4483-A30F-6C4C79E2CAFD}"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2133330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7151F4-1726-4483-A30F-6C4C79E2CAFD}"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3034434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7151F4-1726-4483-A30F-6C4C79E2CAFD}" type="datetimeFigureOut">
              <a:rPr lang="en-US" smtClean="0"/>
              <a:t>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F508B-49A9-401E-894D-AEAE0D259B80}" type="slidenum">
              <a:rPr lang="en-US" smtClean="0"/>
              <a:t>‹#›</a:t>
            </a:fld>
            <a:endParaRPr lang="en-US"/>
          </a:p>
        </p:txBody>
      </p:sp>
    </p:spTree>
    <p:extLst>
      <p:ext uri="{BB962C8B-B14F-4D97-AF65-F5344CB8AC3E}">
        <p14:creationId xmlns:p14="http://schemas.microsoft.com/office/powerpoint/2010/main" val="221791149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7975" y="1"/>
            <a:ext cx="9714566" cy="886188"/>
          </a:xfrm>
        </p:spPr>
        <p:txBody>
          <a:bodyPr>
            <a:noAutofit/>
          </a:bodyPr>
          <a:lstStyle/>
          <a:p>
            <a:pPr algn="l"/>
            <a:r>
              <a:rPr lang="en-US" sz="4800" b="1" dirty="0" smtClean="0">
                <a:latin typeface="Calisto MT" panose="02040603050505030304" pitchFamily="18" charset="0"/>
              </a:rPr>
              <a:t>Chapter </a:t>
            </a:r>
            <a:r>
              <a:rPr lang="en-US" sz="4800" b="1" dirty="0">
                <a:latin typeface="Calisto MT" panose="02040603050505030304" pitchFamily="18" charset="0"/>
              </a:rPr>
              <a:t>3</a:t>
            </a:r>
            <a:r>
              <a:rPr lang="en-US" sz="4800" b="1" dirty="0" smtClean="0">
                <a:latin typeface="Calisto MT" panose="02040603050505030304" pitchFamily="18" charset="0"/>
              </a:rPr>
              <a:t>:More Controls</a:t>
            </a:r>
            <a:endParaRPr lang="en-US" sz="4800" b="1" dirty="0">
              <a:latin typeface="Calisto MT" panose="02040603050505030304" pitchFamily="18" charset="0"/>
            </a:endParaRPr>
          </a:p>
        </p:txBody>
      </p:sp>
      <p:sp>
        <p:nvSpPr>
          <p:cNvPr id="6" name="AutoShape 2" descr="Visual Basic Controls ppt | PPT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3"/>
          <a:stretch>
            <a:fillRect/>
          </a:stretch>
        </p:blipFill>
        <p:spPr>
          <a:xfrm>
            <a:off x="307975" y="886188"/>
            <a:ext cx="5680449" cy="4876450"/>
          </a:xfrm>
          <a:prstGeom prst="rect">
            <a:avLst/>
          </a:prstGeom>
        </p:spPr>
      </p:pic>
      <p:sp>
        <p:nvSpPr>
          <p:cNvPr id="9" name="TextBox 8"/>
          <p:cNvSpPr txBox="1"/>
          <p:nvPr/>
        </p:nvSpPr>
        <p:spPr>
          <a:xfrm>
            <a:off x="307975" y="5939814"/>
            <a:ext cx="7696180" cy="461665"/>
          </a:xfrm>
          <a:prstGeom prst="rect">
            <a:avLst/>
          </a:prstGeom>
          <a:solidFill>
            <a:schemeClr val="bg1"/>
          </a:solidFill>
        </p:spPr>
        <p:txBody>
          <a:bodyPr wrap="square" rtlCol="0">
            <a:spAutoFit/>
          </a:bodyPr>
          <a:lstStyle/>
          <a:p>
            <a:r>
              <a:rPr lang="en-US" sz="2400" b="1" dirty="0" smtClean="0">
                <a:latin typeface="Cambria Math" panose="02040503050406030204" pitchFamily="18" charset="0"/>
                <a:ea typeface="Cambria Math" panose="02040503050406030204" pitchFamily="18" charset="0"/>
              </a:rPr>
              <a:t>1008_Introduction to Programming</a:t>
            </a:r>
            <a:endParaRPr lang="en-US" sz="2400" b="1" dirty="0">
              <a:latin typeface="Cambria Math" panose="02040503050406030204" pitchFamily="18" charset="0"/>
              <a:ea typeface="Cambria Math" panose="02040503050406030204" pitchFamily="18" charset="0"/>
            </a:endParaRPr>
          </a:p>
        </p:txBody>
      </p:sp>
      <p:pic>
        <p:nvPicPr>
          <p:cNvPr id="10" name="Picture 9"/>
          <p:cNvPicPr>
            <a:picLocks noChangeAspect="1"/>
          </p:cNvPicPr>
          <p:nvPr/>
        </p:nvPicPr>
        <p:blipFill>
          <a:blip r:embed="rId4"/>
          <a:stretch>
            <a:fillRect/>
          </a:stretch>
        </p:blipFill>
        <p:spPr>
          <a:xfrm>
            <a:off x="5988424" y="839726"/>
            <a:ext cx="2257425" cy="4969375"/>
          </a:xfrm>
          <a:prstGeom prst="rect">
            <a:avLst/>
          </a:prstGeom>
        </p:spPr>
      </p:pic>
      <p:sp>
        <p:nvSpPr>
          <p:cNvPr id="8" name="TextBox 7"/>
          <p:cNvSpPr txBox="1"/>
          <p:nvPr/>
        </p:nvSpPr>
        <p:spPr>
          <a:xfrm>
            <a:off x="8561295" y="6491605"/>
            <a:ext cx="3394444" cy="256545"/>
          </a:xfrm>
          <a:prstGeom prst="rect">
            <a:avLst/>
          </a:prstGeom>
          <a:solidFill>
            <a:schemeClr val="bg1"/>
          </a:solidFill>
        </p:spPr>
        <p:txBody>
          <a:bodyPr wrap="square" rtlCol="0">
            <a:spAutoFit/>
          </a:bodyPr>
          <a:lstStyle/>
          <a:p>
            <a:pPr algn="ctr"/>
            <a:r>
              <a:rPr lang="en-US" sz="1067" b="1" dirty="0">
                <a:latin typeface="Times New Roman" panose="02020603050405020304" pitchFamily="18" charset="0"/>
                <a:cs typeface="Times New Roman" panose="02020603050405020304" pitchFamily="18" charset="0"/>
              </a:rPr>
              <a:t>Compiled </a:t>
            </a:r>
            <a:r>
              <a:rPr lang="en-US" sz="1067" b="1" dirty="0" smtClean="0">
                <a:latin typeface="Times New Roman" panose="02020603050405020304" pitchFamily="18" charset="0"/>
                <a:cs typeface="Times New Roman" panose="02020603050405020304" pitchFamily="18" charset="0"/>
              </a:rPr>
              <a:t>by Ms. Dianne Sikinapi &amp;  </a:t>
            </a:r>
            <a:r>
              <a:rPr lang="en-US" sz="1067" b="1" dirty="0">
                <a:latin typeface="Times New Roman" panose="02020603050405020304" pitchFamily="18" charset="0"/>
                <a:cs typeface="Times New Roman" panose="02020603050405020304" pitchFamily="18" charset="0"/>
              </a:rPr>
              <a:t>Ms. </a:t>
            </a:r>
            <a:r>
              <a:rPr lang="en-US" sz="1067" b="1" dirty="0" smtClean="0">
                <a:latin typeface="Times New Roman" panose="02020603050405020304" pitchFamily="18" charset="0"/>
                <a:cs typeface="Times New Roman" panose="02020603050405020304" pitchFamily="18" charset="0"/>
              </a:rPr>
              <a:t>Odilia </a:t>
            </a:r>
            <a:r>
              <a:rPr lang="en-US" sz="1067" b="1" dirty="0" smtClean="0">
                <a:latin typeface="Times New Roman" panose="02020603050405020304" pitchFamily="18" charset="0"/>
                <a:cs typeface="Times New Roman" panose="02020603050405020304" pitchFamily="18" charset="0"/>
              </a:rPr>
              <a:t>Tita</a:t>
            </a:r>
            <a:endParaRPr lang="en-US" sz="1067"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5498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2607" y="175373"/>
            <a:ext cx="4865298" cy="822924"/>
          </a:xfrm>
          <a:solidFill>
            <a:schemeClr val="bg1"/>
          </a:solidFill>
        </p:spPr>
        <p:txBody>
          <a:bodyPr>
            <a:normAutofit/>
          </a:bodyPr>
          <a:lstStyle/>
          <a:p>
            <a:pPr algn="ctr"/>
            <a:r>
              <a:rPr lang="en-US" b="1" dirty="0">
                <a:solidFill>
                  <a:srgbClr val="0070C0"/>
                </a:solidFill>
                <a:latin typeface="Cambria Math" panose="02040503050406030204" pitchFamily="18" charset="0"/>
                <a:ea typeface="Cambria Math" panose="02040503050406030204" pitchFamily="18" charset="0"/>
              </a:rPr>
              <a:t>Learning </a:t>
            </a:r>
            <a:r>
              <a:rPr lang="en-US" b="1" dirty="0" smtClean="0">
                <a:solidFill>
                  <a:srgbClr val="0070C0"/>
                </a:solidFill>
                <a:latin typeface="Cambria Math" panose="02040503050406030204" pitchFamily="18" charset="0"/>
                <a:ea typeface="Cambria Math" panose="02040503050406030204" pitchFamily="18" charset="0"/>
              </a:rPr>
              <a:t>Objectives</a:t>
            </a:r>
            <a:endParaRPr lang="en-US" dirty="0">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618285" y="1638301"/>
            <a:ext cx="10994760" cy="4733002"/>
          </a:xfrm>
        </p:spPr>
        <p:txBody>
          <a:bodyPr>
            <a:normAutofit fontScale="40000" lnSpcReduction="20000"/>
          </a:bodyPr>
          <a:lstStyle/>
          <a:p>
            <a:pPr marL="0" indent="0">
              <a:buNone/>
            </a:pPr>
            <a:r>
              <a:rPr lang="en-US" sz="5100" dirty="0" smtClean="0">
                <a:latin typeface="Cambria Math" panose="02040503050406030204" pitchFamily="18" charset="0"/>
                <a:ea typeface="Cambria Math" panose="02040503050406030204" pitchFamily="18" charset="0"/>
              </a:rPr>
              <a:t>By </a:t>
            </a:r>
            <a:r>
              <a:rPr lang="en-US" sz="5100" dirty="0">
                <a:latin typeface="Cambria Math" panose="02040503050406030204" pitchFamily="18" charset="0"/>
                <a:ea typeface="Cambria Math" panose="02040503050406030204" pitchFamily="18" charset="0"/>
              </a:rPr>
              <a:t>the end of this </a:t>
            </a:r>
            <a:r>
              <a:rPr lang="en-US" sz="5100" dirty="0" smtClean="0">
                <a:latin typeface="Cambria Math" panose="02040503050406030204" pitchFamily="18" charset="0"/>
                <a:ea typeface="Cambria Math" panose="02040503050406030204" pitchFamily="18" charset="0"/>
              </a:rPr>
              <a:t>Chapter, </a:t>
            </a:r>
            <a:r>
              <a:rPr lang="en-US" sz="5100" dirty="0">
                <a:latin typeface="Cambria Math" panose="02040503050406030204" pitchFamily="18" charset="0"/>
                <a:ea typeface="Cambria Math" panose="02040503050406030204" pitchFamily="18" charset="0"/>
              </a:rPr>
              <a:t>students should be able </a:t>
            </a:r>
            <a:r>
              <a:rPr lang="en-US" sz="5100" dirty="0" smtClean="0">
                <a:latin typeface="Cambria Math" panose="02040503050406030204" pitchFamily="18" charset="0"/>
                <a:ea typeface="Cambria Math" panose="02040503050406030204" pitchFamily="18" charset="0"/>
              </a:rPr>
              <a:t>to: </a:t>
            </a:r>
          </a:p>
          <a:p>
            <a:pPr lvl="1">
              <a:buFont typeface="Wingdings" panose="05000000000000000000" pitchFamily="2" charset="2"/>
              <a:buChar char="ü"/>
            </a:pPr>
            <a:r>
              <a:rPr lang="en-US" sz="5100" dirty="0" smtClean="0">
                <a:latin typeface="Cambria Math" panose="02040503050406030204" pitchFamily="18" charset="0"/>
                <a:ea typeface="Cambria Math" panose="02040503050406030204" pitchFamily="18" charset="0"/>
              </a:rPr>
              <a:t>Use text boxes, frames, check boxes, option buttons, images, shapes and lines effectively.</a:t>
            </a:r>
          </a:p>
          <a:p>
            <a:pPr lvl="1">
              <a:buFont typeface="Wingdings" panose="05000000000000000000" pitchFamily="2" charset="2"/>
              <a:buChar char="ü"/>
            </a:pPr>
            <a:r>
              <a:rPr lang="en-US" sz="5100" dirty="0" smtClean="0">
                <a:latin typeface="Cambria Math" panose="02040503050406030204" pitchFamily="18" charset="0"/>
                <a:ea typeface="Cambria Math" panose="02040503050406030204" pitchFamily="18" charset="0"/>
              </a:rPr>
              <a:t>Set the appearance property to make controls appear flat or three-dimensional.</a:t>
            </a:r>
          </a:p>
          <a:p>
            <a:pPr lvl="1">
              <a:buFont typeface="Wingdings" panose="05000000000000000000" pitchFamily="2" charset="2"/>
              <a:buChar char="ü"/>
            </a:pPr>
            <a:r>
              <a:rPr lang="en-US" sz="5100" dirty="0" smtClean="0">
                <a:latin typeface="Cambria Math" panose="02040503050406030204" pitchFamily="18" charset="0"/>
                <a:ea typeface="Cambria Math" panose="02040503050406030204" pitchFamily="18" charset="0"/>
              </a:rPr>
              <a:t>Select multiple controls and move them, and set common properties.</a:t>
            </a:r>
          </a:p>
          <a:p>
            <a:pPr lvl="1">
              <a:buFont typeface="Wingdings" panose="05000000000000000000" pitchFamily="2" charset="2"/>
              <a:buChar char="ü"/>
            </a:pPr>
            <a:r>
              <a:rPr lang="en-US" sz="5100" dirty="0" smtClean="0">
                <a:latin typeface="Cambria Math" panose="02040503050406030204" pitchFamily="18" charset="0"/>
                <a:ea typeface="Cambria Math" panose="02040503050406030204" pitchFamily="18" charset="0"/>
              </a:rPr>
              <a:t>Make your projects easy for the user to understand and operate by defining access keys, setting a default and cancel button, controlling the Tab sequence, resetting the focus during program execution, and causing ToolTips to appear. </a:t>
            </a:r>
          </a:p>
          <a:p>
            <a:pPr lvl="1">
              <a:buFont typeface="Wingdings" panose="05000000000000000000" pitchFamily="2" charset="2"/>
              <a:buChar char="ü"/>
            </a:pPr>
            <a:r>
              <a:rPr lang="en-US" sz="5100" dirty="0" smtClean="0">
                <a:latin typeface="Cambria Math" panose="02040503050406030204" pitchFamily="18" charset="0"/>
                <a:ea typeface="Cambria Math" panose="02040503050406030204" pitchFamily="18" charset="0"/>
              </a:rPr>
              <a:t>Clear the content of Textboxes and labels.</a:t>
            </a:r>
          </a:p>
          <a:p>
            <a:pPr lvl="1">
              <a:buFont typeface="Wingdings" panose="05000000000000000000" pitchFamily="2" charset="2"/>
              <a:buChar char="ü"/>
            </a:pPr>
            <a:r>
              <a:rPr lang="en-US" sz="5100" dirty="0" smtClean="0">
                <a:latin typeface="Cambria Math" panose="02040503050406030204" pitchFamily="18" charset="0"/>
                <a:ea typeface="Cambria Math" panose="02040503050406030204" pitchFamily="18" charset="0"/>
              </a:rPr>
              <a:t>Change font attributes such as bold, italic, underlined, size and color during program execution.</a:t>
            </a:r>
          </a:p>
          <a:p>
            <a:pPr lvl="1">
              <a:buFont typeface="Wingdings" panose="05000000000000000000" pitchFamily="2" charset="2"/>
              <a:buChar char="ü"/>
            </a:pPr>
            <a:r>
              <a:rPr lang="en-US" sz="5100" dirty="0" smtClean="0">
                <a:latin typeface="Cambria Math" panose="02040503050406030204" pitchFamily="18" charset="0"/>
                <a:ea typeface="Cambria Math" panose="02040503050406030204" pitchFamily="18" charset="0"/>
              </a:rPr>
              <a:t>Code multiple statements for one control using With and the End With statements.</a:t>
            </a:r>
          </a:p>
          <a:p>
            <a:pPr lvl="1">
              <a:buFont typeface="Wingdings" panose="05000000000000000000" pitchFamily="2" charset="2"/>
              <a:buChar char="ü"/>
            </a:pPr>
            <a:r>
              <a:rPr lang="en-US" sz="5100" dirty="0" smtClean="0">
                <a:latin typeface="Cambria Math" panose="02040503050406030204" pitchFamily="18" charset="0"/>
                <a:ea typeface="Cambria Math" panose="02040503050406030204" pitchFamily="18" charset="0"/>
              </a:rPr>
              <a:t>Concatenate (join) strings of texts.</a:t>
            </a:r>
          </a:p>
          <a:p>
            <a:pPr lvl="1">
              <a:buFont typeface="Wingdings" panose="05000000000000000000" pitchFamily="2" charset="2"/>
              <a:buChar char="ü"/>
            </a:pPr>
            <a:r>
              <a:rPr lang="en-US" sz="5100" dirty="0" smtClean="0">
                <a:latin typeface="Cambria Math" panose="02040503050406030204" pitchFamily="18" charset="0"/>
                <a:ea typeface="Cambria Math" panose="02040503050406030204" pitchFamily="18" charset="0"/>
              </a:rPr>
              <a:t>Make a control visible or invisible by setting its visible property.</a:t>
            </a:r>
            <a:endParaRPr lang="en-US" sz="5100" dirty="0">
              <a:solidFill>
                <a:srgbClr val="002060"/>
              </a:solidFill>
              <a:latin typeface="Cambria Math" panose="02040503050406030204" pitchFamily="18" charset="0"/>
              <a:ea typeface="Cambria Math" panose="02040503050406030204" pitchFamily="18" charset="0"/>
            </a:endParaRPr>
          </a:p>
          <a:p>
            <a:pPr lvl="1">
              <a:buFont typeface="Wingdings" panose="05000000000000000000" pitchFamily="2" charset="2"/>
              <a:buChar char="ü"/>
            </a:pPr>
            <a:endParaRPr lang="en-US" sz="5100" dirty="0">
              <a:latin typeface="Cambria Math" panose="02040503050406030204" pitchFamily="18" charset="0"/>
              <a:ea typeface="Cambria Math" panose="02040503050406030204" pitchFamily="18" charset="0"/>
            </a:endParaRPr>
          </a:p>
          <a:p>
            <a:pPr lvl="1">
              <a:buFont typeface="Wingdings" panose="05000000000000000000" pitchFamily="2" charset="2"/>
              <a:buChar char="v"/>
            </a:pPr>
            <a:r>
              <a:rPr lang="en-US" sz="5100" b="1" i="1" dirty="0">
                <a:latin typeface="Cambria Math" panose="02040503050406030204" pitchFamily="18" charset="0"/>
                <a:ea typeface="Cambria Math" panose="02040503050406030204" pitchFamily="18" charset="0"/>
              </a:rPr>
              <a:t>See Textbook - Introduction to Programming Book 1 Pages </a:t>
            </a:r>
            <a:r>
              <a:rPr lang="en-US" sz="5100" b="1" i="1" dirty="0" smtClean="0">
                <a:latin typeface="Cambria Math" panose="02040503050406030204" pitchFamily="18" charset="0"/>
                <a:ea typeface="Cambria Math" panose="02040503050406030204" pitchFamily="18" charset="0"/>
              </a:rPr>
              <a:t>89 - 114</a:t>
            </a:r>
            <a:endParaRPr lang="en-US" sz="5100" b="1" i="1" dirty="0">
              <a:latin typeface="Cambria Math" panose="02040503050406030204" pitchFamily="18" charset="0"/>
              <a:ea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115061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5484" y="223731"/>
            <a:ext cx="6815291" cy="967132"/>
          </a:xfrm>
        </p:spPr>
        <p:txBody>
          <a:bodyPr>
            <a:normAutofit fontScale="90000"/>
          </a:bodyPr>
          <a:lstStyle/>
          <a:p>
            <a:r>
              <a:rPr lang="en-US" sz="4400" b="1" dirty="0">
                <a:solidFill>
                  <a:srgbClr val="002060"/>
                </a:solidFill>
                <a:latin typeface="Cambria Math" panose="02040503050406030204" pitchFamily="18" charset="0"/>
                <a:ea typeface="Cambria Math" panose="02040503050406030204" pitchFamily="18" charset="0"/>
              </a:rPr>
              <a:t>4</a:t>
            </a:r>
            <a:r>
              <a:rPr lang="en-US" sz="4400" b="1" dirty="0" smtClean="0">
                <a:solidFill>
                  <a:srgbClr val="002060"/>
                </a:solidFill>
                <a:latin typeface="Cambria Math" panose="02040503050406030204" pitchFamily="18" charset="0"/>
                <a:ea typeface="Cambria Math" panose="02040503050406030204" pitchFamily="18" charset="0"/>
              </a:rPr>
              <a:t>.1 Introducing More Controls</a:t>
            </a:r>
            <a:endParaRPr lang="en-US" sz="4400" b="1" dirty="0">
              <a:solidFill>
                <a:srgbClr val="002060"/>
              </a:solidFill>
              <a:latin typeface="Cambria Math" panose="02040503050406030204" pitchFamily="18" charset="0"/>
              <a:ea typeface="Cambria Math" panose="02040503050406030204" pitchFamily="18" charset="0"/>
            </a:endParaRPr>
          </a:p>
        </p:txBody>
      </p:sp>
      <p:sp>
        <p:nvSpPr>
          <p:cNvPr id="5" name="Content Placeholder 4"/>
          <p:cNvSpPr>
            <a:spLocks noGrp="1"/>
          </p:cNvSpPr>
          <p:nvPr>
            <p:ph idx="1"/>
          </p:nvPr>
        </p:nvSpPr>
        <p:spPr>
          <a:xfrm>
            <a:off x="1247776" y="1190863"/>
            <a:ext cx="10295362" cy="5095637"/>
          </a:xfrm>
          <a:solidFill>
            <a:schemeClr val="bg1"/>
          </a:solidFill>
        </p:spPr>
        <p:txBody>
          <a:bodyPr>
            <a:noAutofit/>
          </a:bodyPr>
          <a:lstStyle/>
          <a:p>
            <a:r>
              <a:rPr lang="en-US" sz="2800" dirty="0" smtClean="0">
                <a:latin typeface="Cambria Math" panose="02040503050406030204" pitchFamily="18" charset="0"/>
                <a:ea typeface="Cambria Math" panose="02040503050406030204" pitchFamily="18" charset="0"/>
              </a:rPr>
              <a:t>In Chapter 3, you learned to use labels and command buttons. In this chapter, you will learn to use several more control types which are;</a:t>
            </a:r>
          </a:p>
          <a:p>
            <a:pPr lvl="2">
              <a:buFont typeface="Wingdings" panose="05000000000000000000" pitchFamily="2" charset="2"/>
              <a:buChar char="§"/>
            </a:pPr>
            <a:r>
              <a:rPr lang="en-US" sz="2800" dirty="0" smtClean="0">
                <a:latin typeface="Cambria Math" panose="02040503050406030204" pitchFamily="18" charset="0"/>
                <a:ea typeface="Cambria Math" panose="02040503050406030204" pitchFamily="18" charset="0"/>
              </a:rPr>
              <a:t>Text Boxes, Frames, Check Boxes, Option Buttons, Image, Shapes and Lines </a:t>
            </a:r>
          </a:p>
          <a:p>
            <a:r>
              <a:rPr lang="en-US" sz="2800" dirty="0" smtClean="0">
                <a:latin typeface="Cambria Math" panose="02040503050406030204" pitchFamily="18" charset="0"/>
                <a:ea typeface="Cambria Math" panose="02040503050406030204" pitchFamily="18" charset="0"/>
              </a:rPr>
              <a:t>Each class of control has its own properties. To see a complete list of a property of a class of control, you can:</a:t>
            </a:r>
          </a:p>
          <a:p>
            <a:pPr marL="1809723" lvl="2" indent="-742950">
              <a:buFont typeface="+mj-lt"/>
              <a:buAutoNum type="arabicParenR"/>
            </a:pPr>
            <a:r>
              <a:rPr lang="en-US" sz="2800" dirty="0" smtClean="0">
                <a:latin typeface="Cambria Math" panose="02040503050406030204" pitchFamily="18" charset="0"/>
                <a:ea typeface="Cambria Math" panose="02040503050406030204" pitchFamily="18" charset="0"/>
              </a:rPr>
              <a:t>Place a control on a form and examine the property list </a:t>
            </a:r>
          </a:p>
          <a:p>
            <a:pPr marL="1809723" lvl="2" indent="-742950">
              <a:buFont typeface="+mj-lt"/>
              <a:buAutoNum type="arabicParenR"/>
            </a:pPr>
            <a:r>
              <a:rPr lang="en-US" sz="2800" dirty="0" smtClean="0">
                <a:latin typeface="Cambria Math" panose="02040503050406030204" pitchFamily="18" charset="0"/>
                <a:ea typeface="Cambria Math" panose="02040503050406030204" pitchFamily="18" charset="0"/>
              </a:rPr>
              <a:t>Click on a control and press F1 for context sensitive help. Visual Basic will display the Help page for that control and you can view a list of the properties and an explanation of their use.</a:t>
            </a:r>
          </a:p>
        </p:txBody>
      </p:sp>
    </p:spTree>
    <p:extLst>
      <p:ext uri="{BB962C8B-B14F-4D97-AF65-F5344CB8AC3E}">
        <p14:creationId xmlns:p14="http://schemas.microsoft.com/office/powerpoint/2010/main" val="568034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95484" y="376131"/>
            <a:ext cx="4281641" cy="652569"/>
          </a:xfrm>
        </p:spPr>
        <p:txBody>
          <a:bodyPr>
            <a:normAutofit/>
          </a:bodyPr>
          <a:lstStyle/>
          <a:p>
            <a:r>
              <a:rPr lang="en-US" sz="3600" b="1" dirty="0" smtClean="0">
                <a:solidFill>
                  <a:srgbClr val="002060"/>
                </a:solidFill>
                <a:latin typeface="Cambria Math" panose="02040503050406030204" pitchFamily="18" charset="0"/>
                <a:ea typeface="Cambria Math" panose="02040503050406030204" pitchFamily="18" charset="0"/>
              </a:rPr>
              <a:t>4.1.1 Textbox Control</a:t>
            </a:r>
            <a:endParaRPr lang="en-US" sz="3600" b="1" dirty="0">
              <a:solidFill>
                <a:srgbClr val="002060"/>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161366" y="1133713"/>
            <a:ext cx="11440700" cy="5295662"/>
          </a:xfrm>
        </p:spPr>
        <p:txBody>
          <a:bodyPr>
            <a:normAutofit fontScale="85000" lnSpcReduction="20000"/>
          </a:bodyPr>
          <a:lstStyle/>
          <a:p>
            <a:r>
              <a:rPr lang="en-US" dirty="0" smtClean="0">
                <a:latin typeface="Cambria Math" panose="02040503050406030204" pitchFamily="18" charset="0"/>
                <a:ea typeface="Cambria Math" panose="02040503050406030204" pitchFamily="18" charset="0"/>
              </a:rPr>
              <a:t>A Text Box is used when you want the user to type some input. </a:t>
            </a:r>
          </a:p>
          <a:p>
            <a:pPr marL="533386" lvl="1" indent="0">
              <a:buNone/>
            </a:pPr>
            <a:r>
              <a:rPr lang="en-US" dirty="0" smtClean="0">
                <a:latin typeface="Cambria Math" panose="02040503050406030204" pitchFamily="18" charset="0"/>
                <a:ea typeface="Cambria Math" panose="02040503050406030204" pitchFamily="18" charset="0"/>
              </a:rPr>
              <a:t>For example: </a:t>
            </a:r>
            <a:r>
              <a:rPr lang="en-US" b="1" dirty="0" err="1" smtClean="0">
                <a:latin typeface="Cambria Math" panose="02040503050406030204" pitchFamily="18" charset="0"/>
                <a:ea typeface="Cambria Math" panose="02040503050406030204" pitchFamily="18" charset="0"/>
              </a:rPr>
              <a:t>lblName.Caption</a:t>
            </a:r>
            <a:r>
              <a:rPr lang="en-US" b="1" dirty="0" smtClean="0">
                <a:latin typeface="Cambria Math" panose="02040503050406030204" pitchFamily="18" charset="0"/>
                <a:ea typeface="Cambria Math" panose="02040503050406030204" pitchFamily="18" charset="0"/>
              </a:rPr>
              <a:t> = </a:t>
            </a:r>
            <a:r>
              <a:rPr lang="en-US" b="1" dirty="0" err="1" smtClean="0">
                <a:latin typeface="Cambria Math" panose="02040503050406030204" pitchFamily="18" charset="0"/>
                <a:ea typeface="Cambria Math" panose="02040503050406030204" pitchFamily="18" charset="0"/>
              </a:rPr>
              <a:t>txtName.Text</a:t>
            </a:r>
            <a:endParaRPr lang="en-US" b="1" dirty="0" smtClean="0">
              <a:latin typeface="Cambria Math" panose="02040503050406030204" pitchFamily="18" charset="0"/>
              <a:ea typeface="Cambria Math" panose="02040503050406030204" pitchFamily="18" charset="0"/>
            </a:endParaRPr>
          </a:p>
          <a:p>
            <a:r>
              <a:rPr lang="en-US" dirty="0" smtClean="0">
                <a:latin typeface="Cambria Math" panose="02040503050406030204" pitchFamily="18" charset="0"/>
                <a:ea typeface="Cambria Math" panose="02040503050406030204" pitchFamily="18" charset="0"/>
              </a:rPr>
              <a:t>In this example, whatever the user enters into the textbox is assigned to the caption property of the </a:t>
            </a:r>
            <a:r>
              <a:rPr lang="en-US" dirty="0" err="1" smtClean="0">
                <a:latin typeface="Cambria Math" panose="02040503050406030204" pitchFamily="18" charset="0"/>
                <a:ea typeface="Cambria Math" panose="02040503050406030204" pitchFamily="18" charset="0"/>
              </a:rPr>
              <a:t>lblName</a:t>
            </a:r>
            <a:r>
              <a:rPr lang="en-US" dirty="0" smtClean="0">
                <a:latin typeface="Cambria Math" panose="02040503050406030204" pitchFamily="18" charset="0"/>
                <a:ea typeface="Cambria Math" panose="02040503050406030204" pitchFamily="18" charset="0"/>
              </a:rPr>
              <a:t>.</a:t>
            </a:r>
          </a:p>
          <a:p>
            <a:r>
              <a:rPr lang="en-US" dirty="0">
                <a:latin typeface="Cambria Math" panose="02040503050406030204" pitchFamily="18" charset="0"/>
                <a:ea typeface="Cambria Math" panose="02040503050406030204" pitchFamily="18" charset="0"/>
              </a:rPr>
              <a:t>If you want to display some text in a textbox during program execution, assign a literal to a text property. </a:t>
            </a:r>
          </a:p>
          <a:p>
            <a:pPr marL="533386" lvl="1" indent="0">
              <a:buNone/>
            </a:pPr>
            <a:r>
              <a:rPr lang="en-US" dirty="0">
                <a:latin typeface="Cambria Math" panose="02040503050406030204" pitchFamily="18" charset="0"/>
                <a:ea typeface="Cambria Math" panose="02040503050406030204" pitchFamily="18" charset="0"/>
              </a:rPr>
              <a:t>For example: </a:t>
            </a:r>
          </a:p>
          <a:p>
            <a:pPr marL="533386" lvl="1" indent="0">
              <a:buNone/>
            </a:pPr>
            <a:r>
              <a:rPr lang="en-US" b="1" dirty="0" err="1">
                <a:latin typeface="Cambria Math" panose="02040503050406030204" pitchFamily="18" charset="0"/>
                <a:ea typeface="Cambria Math" panose="02040503050406030204" pitchFamily="18" charset="0"/>
              </a:rPr>
              <a:t>txtMessage.Text</a:t>
            </a:r>
            <a:r>
              <a:rPr lang="en-US" b="1" dirty="0">
                <a:latin typeface="Cambria Math" panose="02040503050406030204" pitchFamily="18" charset="0"/>
                <a:ea typeface="Cambria Math" panose="02040503050406030204" pitchFamily="18" charset="0"/>
              </a:rPr>
              <a:t> = “International Training Institute</a:t>
            </a:r>
            <a:r>
              <a:rPr lang="en-US" b="1" dirty="0" smtClean="0">
                <a:latin typeface="Cambria Math" panose="02040503050406030204" pitchFamily="18" charset="0"/>
                <a:ea typeface="Cambria Math" panose="02040503050406030204" pitchFamily="18" charset="0"/>
              </a:rPr>
              <a:t>.”</a:t>
            </a:r>
            <a:endParaRPr lang="en-US" dirty="0" smtClean="0">
              <a:latin typeface="Cambria Math" panose="02040503050406030204" pitchFamily="18" charset="0"/>
              <a:ea typeface="Cambria Math" panose="02040503050406030204" pitchFamily="18" charset="0"/>
            </a:endParaRPr>
          </a:p>
          <a:p>
            <a:r>
              <a:rPr lang="en-US" dirty="0" smtClean="0">
                <a:latin typeface="Cambria Math" panose="02040503050406030204" pitchFamily="18" charset="0"/>
                <a:ea typeface="Cambria Math" panose="02040503050406030204" pitchFamily="18" charset="0"/>
              </a:rPr>
              <a:t>You can set the alignment property of a text box to change the alignment of the text within the text box. The values of the Alignment Property can be set only at design time, are:</a:t>
            </a:r>
          </a:p>
          <a:p>
            <a:pPr lvl="2">
              <a:buFont typeface="Courier New" panose="02070309020205020404" pitchFamily="49" charset="0"/>
              <a:buChar char="o"/>
            </a:pPr>
            <a:r>
              <a:rPr lang="en-US" dirty="0" smtClean="0">
                <a:latin typeface="Cambria Math" panose="02040503050406030204" pitchFamily="18" charset="0"/>
                <a:ea typeface="Cambria Math" panose="02040503050406030204" pitchFamily="18" charset="0"/>
              </a:rPr>
              <a:t>0 – Left justified </a:t>
            </a:r>
          </a:p>
          <a:p>
            <a:pPr lvl="2">
              <a:buFont typeface="Courier New" panose="02070309020205020404" pitchFamily="49" charset="0"/>
              <a:buChar char="o"/>
            </a:pPr>
            <a:r>
              <a:rPr lang="en-US" dirty="0" smtClean="0">
                <a:latin typeface="Cambria Math" panose="02040503050406030204" pitchFamily="18" charset="0"/>
                <a:ea typeface="Cambria Math" panose="02040503050406030204" pitchFamily="18" charset="0"/>
              </a:rPr>
              <a:t>1 – Right justified </a:t>
            </a:r>
          </a:p>
          <a:p>
            <a:pPr lvl="2">
              <a:buFont typeface="Courier New" panose="02070309020205020404" pitchFamily="49" charset="0"/>
              <a:buChar char="o"/>
            </a:pPr>
            <a:r>
              <a:rPr lang="en-US" dirty="0" smtClean="0">
                <a:latin typeface="Cambria Math" panose="02040503050406030204" pitchFamily="18" charset="0"/>
                <a:ea typeface="Cambria Math" panose="02040503050406030204" pitchFamily="18" charset="0"/>
              </a:rPr>
              <a:t>2 – Center</a:t>
            </a:r>
          </a:p>
          <a:p>
            <a:r>
              <a:rPr lang="en-US" dirty="0" smtClean="0">
                <a:latin typeface="Cambria Math" panose="02040503050406030204" pitchFamily="18" charset="0"/>
                <a:ea typeface="Cambria Math" panose="02040503050406030204" pitchFamily="18" charset="0"/>
              </a:rPr>
              <a:t>The three letter prefix for naming a text box is “</a:t>
            </a:r>
            <a:r>
              <a:rPr lang="en-US" b="1" i="1" dirty="0" smtClean="0">
                <a:latin typeface="Cambria Math" panose="02040503050406030204" pitchFamily="18" charset="0"/>
                <a:ea typeface="Cambria Math" panose="02040503050406030204" pitchFamily="18" charset="0"/>
              </a:rPr>
              <a:t>txt</a:t>
            </a:r>
            <a:r>
              <a:rPr lang="en-US" dirty="0" smtClean="0">
                <a:latin typeface="Cambria Math" panose="02040503050406030204" pitchFamily="18" charset="0"/>
                <a:ea typeface="Cambria Math" panose="02040503050406030204" pitchFamily="18" charset="0"/>
              </a:rPr>
              <a:t>”. </a:t>
            </a:r>
          </a:p>
          <a:p>
            <a:pPr marL="0" indent="0">
              <a:buNone/>
            </a:pPr>
            <a:r>
              <a:rPr lang="en-US" dirty="0">
                <a:latin typeface="Cambria Math" panose="02040503050406030204" pitchFamily="18" charset="0"/>
                <a:ea typeface="Cambria Math" panose="02040503050406030204" pitchFamily="18" charset="0"/>
              </a:rPr>
              <a:t>	</a:t>
            </a:r>
            <a:r>
              <a:rPr lang="en-US" dirty="0" smtClean="0">
                <a:latin typeface="Cambria Math" panose="02040503050406030204" pitchFamily="18" charset="0"/>
                <a:ea typeface="Cambria Math" panose="02040503050406030204" pitchFamily="18" charset="0"/>
              </a:rPr>
              <a:t>Example: </a:t>
            </a:r>
            <a:r>
              <a:rPr lang="en-US" b="1" dirty="0" err="1" smtClean="0">
                <a:latin typeface="Cambria Math" panose="02040503050406030204" pitchFamily="18" charset="0"/>
                <a:ea typeface="Cambria Math" panose="02040503050406030204" pitchFamily="18" charset="0"/>
              </a:rPr>
              <a:t>txtTitle</a:t>
            </a:r>
            <a:r>
              <a:rPr lang="en-US" b="1" dirty="0" smtClean="0">
                <a:latin typeface="Cambria Math" panose="02040503050406030204" pitchFamily="18" charset="0"/>
                <a:ea typeface="Cambria Math" panose="02040503050406030204" pitchFamily="18" charset="0"/>
              </a:rPr>
              <a:t>, </a:t>
            </a:r>
            <a:r>
              <a:rPr lang="en-US" b="1" dirty="0" err="1" smtClean="0">
                <a:latin typeface="Cambria Math" panose="02040503050406030204" pitchFamily="18" charset="0"/>
                <a:ea typeface="Cambria Math" panose="02040503050406030204" pitchFamily="18" charset="0"/>
              </a:rPr>
              <a:t>txtCompany</a:t>
            </a:r>
            <a:endParaRPr lang="en-US" b="1" dirty="0" smtClean="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08266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3195484" y="376131"/>
            <a:ext cx="4281641" cy="652569"/>
          </a:xfrm>
        </p:spPr>
        <p:txBody>
          <a:bodyPr>
            <a:normAutofit/>
          </a:bodyPr>
          <a:lstStyle/>
          <a:p>
            <a:r>
              <a:rPr lang="en-US" sz="3600" b="1" dirty="0" smtClean="0">
                <a:solidFill>
                  <a:srgbClr val="002060"/>
                </a:solidFill>
                <a:latin typeface="Cambria Math" panose="02040503050406030204" pitchFamily="18" charset="0"/>
                <a:ea typeface="Cambria Math" panose="02040503050406030204" pitchFamily="18" charset="0"/>
              </a:rPr>
              <a:t>4.1.2 Frame Control</a:t>
            </a:r>
            <a:endParaRPr lang="en-US" sz="3600" b="1" dirty="0">
              <a:solidFill>
                <a:srgbClr val="002060"/>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2790825" y="1082191"/>
            <a:ext cx="8801715" cy="2419351"/>
          </a:xfrm>
        </p:spPr>
        <p:txBody>
          <a:bodyPr>
            <a:normAutofit fontScale="85000" lnSpcReduction="10000"/>
          </a:bodyPr>
          <a:lstStyle/>
          <a:p>
            <a:r>
              <a:rPr lang="en-US" dirty="0" smtClean="0">
                <a:latin typeface="Cambria Math" panose="02040503050406030204" pitchFamily="18" charset="0"/>
                <a:ea typeface="Cambria Math" panose="02040503050406030204" pitchFamily="18" charset="0"/>
              </a:rPr>
              <a:t>Frames are used as containers for other controls. </a:t>
            </a:r>
          </a:p>
          <a:p>
            <a:r>
              <a:rPr lang="en-US" dirty="0" smtClean="0">
                <a:latin typeface="Cambria Math" panose="02040503050406030204" pitchFamily="18" charset="0"/>
                <a:ea typeface="Cambria Math" panose="02040503050406030204" pitchFamily="18" charset="0"/>
              </a:rPr>
              <a:t>Usually, groups of option buttons or check boxes are placed in the frames. </a:t>
            </a:r>
            <a:r>
              <a:rPr lang="en-US" dirty="0">
                <a:latin typeface="Cambria Math" panose="02040503050406030204" pitchFamily="18" charset="0"/>
                <a:ea typeface="Cambria Math" panose="02040503050406030204" pitchFamily="18" charset="0"/>
              </a:rPr>
              <a:t>U</a:t>
            </a:r>
            <a:r>
              <a:rPr lang="en-US" dirty="0" smtClean="0">
                <a:latin typeface="Cambria Math" panose="02040503050406030204" pitchFamily="18" charset="0"/>
                <a:ea typeface="Cambria Math" panose="02040503050406030204" pitchFamily="18" charset="0"/>
              </a:rPr>
              <a:t>sing frames to group controls makes your form easier to understand. </a:t>
            </a:r>
          </a:p>
          <a:p>
            <a:r>
              <a:rPr lang="en-US" dirty="0" smtClean="0">
                <a:latin typeface="Cambria Math" panose="02040503050406030204" pitchFamily="18" charset="0"/>
                <a:ea typeface="Cambria Math" panose="02040503050406030204" pitchFamily="18" charset="0"/>
              </a:rPr>
              <a:t>If you want a word to appear on the top edge of the frame, set the frame’s caption property to that word. The three letter prefix for naming a frame is “</a:t>
            </a:r>
            <a:r>
              <a:rPr lang="en-US" b="1" i="1" dirty="0" err="1" smtClean="0">
                <a:latin typeface="Cambria Math" panose="02040503050406030204" pitchFamily="18" charset="0"/>
                <a:ea typeface="Cambria Math" panose="02040503050406030204" pitchFamily="18" charset="0"/>
              </a:rPr>
              <a:t>fra</a:t>
            </a:r>
            <a:r>
              <a:rPr lang="en-US" dirty="0" smtClean="0">
                <a:latin typeface="Cambria Math" panose="02040503050406030204" pitchFamily="18" charset="0"/>
                <a:ea typeface="Cambria Math" panose="02040503050406030204" pitchFamily="18" charset="0"/>
              </a:rPr>
              <a:t>”.  Example: </a:t>
            </a:r>
            <a:r>
              <a:rPr lang="en-US" b="1" dirty="0" err="1" smtClean="0">
                <a:latin typeface="Cambria Math" panose="02040503050406030204" pitchFamily="18" charset="0"/>
                <a:ea typeface="Cambria Math" panose="02040503050406030204" pitchFamily="18" charset="0"/>
              </a:rPr>
              <a:t>fraColor</a:t>
            </a:r>
            <a:r>
              <a:rPr lang="en-US" dirty="0" smtClean="0">
                <a:latin typeface="Cambria Math" panose="02040503050406030204" pitchFamily="18" charset="0"/>
                <a:ea typeface="Cambria Math" panose="02040503050406030204" pitchFamily="18" charset="0"/>
              </a:rPr>
              <a:t>, </a:t>
            </a:r>
            <a:r>
              <a:rPr lang="en-US" b="1" dirty="0" err="1" smtClean="0">
                <a:latin typeface="Cambria Math" panose="02040503050406030204" pitchFamily="18" charset="0"/>
                <a:ea typeface="Cambria Math" panose="02040503050406030204" pitchFamily="18" charset="0"/>
              </a:rPr>
              <a:t>fraStyle</a:t>
            </a:r>
            <a:endParaRPr lang="en-US" b="1" dirty="0">
              <a:latin typeface="Cambria Math" panose="02040503050406030204" pitchFamily="18" charset="0"/>
              <a:ea typeface="Cambria Math" panose="02040503050406030204" pitchFamily="18" charset="0"/>
            </a:endParaRPr>
          </a:p>
        </p:txBody>
      </p:sp>
      <p:sp>
        <p:nvSpPr>
          <p:cNvPr id="6" name="Content Placeholder 2"/>
          <p:cNvSpPr txBox="1">
            <a:spLocks/>
          </p:cNvSpPr>
          <p:nvPr/>
        </p:nvSpPr>
        <p:spPr>
          <a:xfrm>
            <a:off x="2495550" y="4033718"/>
            <a:ext cx="8939980" cy="2614733"/>
          </a:xfrm>
          <a:prstGeom prst="rect">
            <a:avLst/>
          </a:prstGeom>
        </p:spPr>
        <p:txBody>
          <a:bodyPr vert="horz" lIns="91440" tIns="45720" rIns="91440" bIns="45720" rtlCol="0">
            <a:normAutofit fontScale="55000" lnSpcReduction="20000"/>
          </a:bodyPr>
          <a:lstStyle>
            <a:lvl1pPr marL="457189" indent="-457189" algn="l" defTabSz="1219170" rtl="0" eaLnBrk="1" latinLnBrk="0" hangingPunct="1">
              <a:spcBef>
                <a:spcPct val="20000"/>
              </a:spcBef>
              <a:buFont typeface="Arial" pitchFamily="34" charset="0"/>
              <a:buChar char="•"/>
              <a:defRPr sz="3733" kern="1200">
                <a:solidFill>
                  <a:srgbClr val="0000CC"/>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rgbClr val="0000CC"/>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rgbClr val="0000CC"/>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rgbClr val="0000CC"/>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rgbClr val="0000CC"/>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dirty="0" smtClean="0">
                <a:solidFill>
                  <a:schemeClr val="tx1"/>
                </a:solidFill>
                <a:latin typeface="Cambria Math" panose="02040503050406030204" pitchFamily="18" charset="0"/>
                <a:ea typeface="Cambria Math" panose="02040503050406030204" pitchFamily="18" charset="0"/>
              </a:rPr>
              <a:t>Check boxes allow the user to select or deselect an option. </a:t>
            </a:r>
          </a:p>
          <a:p>
            <a:r>
              <a:rPr lang="en-US" dirty="0" smtClean="0">
                <a:solidFill>
                  <a:schemeClr val="tx1"/>
                </a:solidFill>
                <a:latin typeface="Cambria Math" panose="02040503050406030204" pitchFamily="18" charset="0"/>
                <a:ea typeface="Cambria Math" panose="02040503050406030204" pitchFamily="18" charset="0"/>
              </a:rPr>
              <a:t>In any of the check boxes, </a:t>
            </a:r>
            <a:r>
              <a:rPr lang="en-US" b="1" dirty="0" smtClean="0">
                <a:solidFill>
                  <a:schemeClr val="tx1"/>
                </a:solidFill>
                <a:latin typeface="Cambria Math" panose="02040503050406030204" pitchFamily="18" charset="0"/>
                <a:ea typeface="Cambria Math" panose="02040503050406030204" pitchFamily="18" charset="0"/>
              </a:rPr>
              <a:t>any</a:t>
            </a:r>
            <a:r>
              <a:rPr lang="en-US" dirty="0" smtClean="0">
                <a:solidFill>
                  <a:schemeClr val="tx1"/>
                </a:solidFill>
                <a:latin typeface="Cambria Math" panose="02040503050406030204" pitchFamily="18" charset="0"/>
                <a:ea typeface="Cambria Math" panose="02040503050406030204" pitchFamily="18" charset="0"/>
              </a:rPr>
              <a:t> number may be selected.</a:t>
            </a:r>
          </a:p>
          <a:p>
            <a:r>
              <a:rPr lang="en-US" dirty="0" smtClean="0">
                <a:solidFill>
                  <a:schemeClr val="tx1"/>
                </a:solidFill>
                <a:latin typeface="Cambria Math" panose="02040503050406030204" pitchFamily="18" charset="0"/>
                <a:ea typeface="Cambria Math" panose="02040503050406030204" pitchFamily="18" charset="0"/>
              </a:rPr>
              <a:t>The value property of a check box is set to </a:t>
            </a:r>
            <a:r>
              <a:rPr lang="en-US" b="1" dirty="0" smtClean="0">
                <a:solidFill>
                  <a:schemeClr val="tx1"/>
                </a:solidFill>
                <a:latin typeface="Cambria Math" panose="02040503050406030204" pitchFamily="18" charset="0"/>
                <a:ea typeface="Cambria Math" panose="02040503050406030204" pitchFamily="18" charset="0"/>
              </a:rPr>
              <a:t>0 if unchecked</a:t>
            </a:r>
            <a:r>
              <a:rPr lang="en-US" dirty="0" smtClean="0">
                <a:solidFill>
                  <a:schemeClr val="tx1"/>
                </a:solidFill>
                <a:latin typeface="Cambria Math" panose="02040503050406030204" pitchFamily="18" charset="0"/>
                <a:ea typeface="Cambria Math" panose="02040503050406030204" pitchFamily="18" charset="0"/>
              </a:rPr>
              <a:t>, </a:t>
            </a:r>
            <a:r>
              <a:rPr lang="en-US" b="1" dirty="0" smtClean="0">
                <a:solidFill>
                  <a:schemeClr val="tx1"/>
                </a:solidFill>
                <a:latin typeface="Cambria Math" panose="02040503050406030204" pitchFamily="18" charset="0"/>
                <a:ea typeface="Cambria Math" panose="02040503050406030204" pitchFamily="18" charset="0"/>
              </a:rPr>
              <a:t>1 if checked</a:t>
            </a:r>
            <a:r>
              <a:rPr lang="en-US" dirty="0" smtClean="0">
                <a:solidFill>
                  <a:schemeClr val="tx1"/>
                </a:solidFill>
                <a:latin typeface="Cambria Math" panose="02040503050406030204" pitchFamily="18" charset="0"/>
                <a:ea typeface="Cambria Math" panose="02040503050406030204" pitchFamily="18" charset="0"/>
              </a:rPr>
              <a:t>, or </a:t>
            </a:r>
            <a:r>
              <a:rPr lang="en-US" b="1" dirty="0" smtClean="0">
                <a:solidFill>
                  <a:schemeClr val="tx1"/>
                </a:solidFill>
                <a:latin typeface="Cambria Math" panose="02040503050406030204" pitchFamily="18" charset="0"/>
                <a:ea typeface="Cambria Math" panose="02040503050406030204" pitchFamily="18" charset="0"/>
              </a:rPr>
              <a:t>2 if grayed (disabled).</a:t>
            </a:r>
          </a:p>
          <a:p>
            <a:r>
              <a:rPr lang="en-US" dirty="0" smtClean="0">
                <a:solidFill>
                  <a:schemeClr val="tx1"/>
                </a:solidFill>
                <a:latin typeface="Cambria Math" panose="02040503050406030204" pitchFamily="18" charset="0"/>
                <a:ea typeface="Cambria Math" panose="02040503050406030204" pitchFamily="18" charset="0"/>
              </a:rPr>
              <a:t>You can use the caption property of a check box to write the text that you want to appear next to the check box. </a:t>
            </a:r>
          </a:p>
          <a:p>
            <a:r>
              <a:rPr lang="en-US" dirty="0" smtClean="0">
                <a:solidFill>
                  <a:schemeClr val="tx1"/>
                </a:solidFill>
                <a:latin typeface="Cambria Math" panose="02040503050406030204" pitchFamily="18" charset="0"/>
                <a:ea typeface="Cambria Math" panose="02040503050406030204" pitchFamily="18" charset="0"/>
              </a:rPr>
              <a:t>The three letter prefix for naming a check box is “</a:t>
            </a:r>
            <a:r>
              <a:rPr lang="en-US" b="1" i="1" dirty="0" err="1" smtClean="0">
                <a:solidFill>
                  <a:schemeClr val="tx1"/>
                </a:solidFill>
                <a:latin typeface="Cambria Math" panose="02040503050406030204" pitchFamily="18" charset="0"/>
                <a:ea typeface="Cambria Math" panose="02040503050406030204" pitchFamily="18" charset="0"/>
              </a:rPr>
              <a:t>chk</a:t>
            </a:r>
            <a:r>
              <a:rPr lang="en-US" dirty="0" smtClean="0">
                <a:solidFill>
                  <a:schemeClr val="tx1"/>
                </a:solidFill>
                <a:latin typeface="Cambria Math" panose="02040503050406030204" pitchFamily="18" charset="0"/>
                <a:ea typeface="Cambria Math" panose="02040503050406030204" pitchFamily="18" charset="0"/>
              </a:rPr>
              <a:t>”.  Example: </a:t>
            </a:r>
            <a:r>
              <a:rPr lang="en-US" b="1" dirty="0" err="1" smtClean="0">
                <a:solidFill>
                  <a:schemeClr val="tx1"/>
                </a:solidFill>
                <a:latin typeface="Cambria Math" panose="02040503050406030204" pitchFamily="18" charset="0"/>
                <a:ea typeface="Cambria Math" panose="02040503050406030204" pitchFamily="18" charset="0"/>
              </a:rPr>
              <a:t>chkBold</a:t>
            </a:r>
            <a:r>
              <a:rPr lang="en-US" dirty="0" smtClean="0">
                <a:solidFill>
                  <a:schemeClr val="tx1"/>
                </a:solidFill>
                <a:latin typeface="Cambria Math" panose="02040503050406030204" pitchFamily="18" charset="0"/>
                <a:ea typeface="Cambria Math" panose="02040503050406030204" pitchFamily="18" charset="0"/>
              </a:rPr>
              <a:t>, </a:t>
            </a:r>
            <a:r>
              <a:rPr lang="en-US" b="1" dirty="0" err="1" smtClean="0">
                <a:solidFill>
                  <a:schemeClr val="tx1"/>
                </a:solidFill>
                <a:latin typeface="Cambria Math" panose="02040503050406030204" pitchFamily="18" charset="0"/>
                <a:ea typeface="Cambria Math" panose="02040503050406030204" pitchFamily="18" charset="0"/>
              </a:rPr>
              <a:t>chkItalic</a:t>
            </a:r>
            <a:endParaRPr lang="en-US" b="1" dirty="0">
              <a:solidFill>
                <a:schemeClr val="tx1"/>
              </a:solidFill>
              <a:latin typeface="Cambria Math" panose="02040503050406030204" pitchFamily="18" charset="0"/>
              <a:ea typeface="Cambria Math" panose="02040503050406030204" pitchFamily="18" charset="0"/>
            </a:endParaRPr>
          </a:p>
        </p:txBody>
      </p:sp>
      <p:sp>
        <p:nvSpPr>
          <p:cNvPr id="8" name="Title 1"/>
          <p:cNvSpPr txBox="1">
            <a:spLocks/>
          </p:cNvSpPr>
          <p:nvPr/>
        </p:nvSpPr>
        <p:spPr>
          <a:xfrm>
            <a:off x="3195484" y="3309432"/>
            <a:ext cx="4481667" cy="652569"/>
          </a:xfrm>
          <a:prstGeom prst="rect">
            <a:avLst/>
          </a:prstGeom>
        </p:spPr>
        <p:txBody>
          <a:bodyPr vert="horz" lIns="91440" tIns="45720" rIns="91440" bIns="45720" rtlCol="0" anchor="ctr">
            <a:normAutofit fontScale="92500"/>
          </a:bodyPr>
          <a:lstStyle>
            <a:lvl1pPr algn="l" defTabSz="1219170" rtl="0" eaLnBrk="1" latinLnBrk="0" hangingPunct="1">
              <a:spcBef>
                <a:spcPct val="0"/>
              </a:spcBef>
              <a:buNone/>
              <a:defRPr sz="4800" kern="1200">
                <a:solidFill>
                  <a:srgbClr val="FF0D97"/>
                </a:solidFill>
                <a:effectLst>
                  <a:outerShdw blurRad="50800" dist="38100" dir="2700000" algn="tl" rotWithShape="0">
                    <a:prstClr val="black">
                      <a:alpha val="40000"/>
                    </a:prstClr>
                  </a:outerShdw>
                </a:effectLst>
                <a:latin typeface="+mj-lt"/>
                <a:ea typeface="+mj-ea"/>
                <a:cs typeface="+mj-cs"/>
              </a:defRPr>
            </a:lvl1pPr>
          </a:lstStyle>
          <a:p>
            <a:r>
              <a:rPr lang="en-US" sz="3600" b="1" dirty="0" smtClean="0">
                <a:solidFill>
                  <a:srgbClr val="002060"/>
                </a:solidFill>
                <a:latin typeface="Cambria Math" panose="02040503050406030204" pitchFamily="18" charset="0"/>
                <a:ea typeface="Cambria Math" panose="02040503050406030204" pitchFamily="18" charset="0"/>
              </a:rPr>
              <a:t>4.1.3 Checkbox Control</a:t>
            </a:r>
            <a:endParaRPr lang="en-US" sz="3600" b="1" dirty="0">
              <a:solidFill>
                <a:srgbClr val="00206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136122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3224059" y="528531"/>
            <a:ext cx="5262716" cy="652569"/>
          </a:xfrm>
        </p:spPr>
        <p:txBody>
          <a:bodyPr>
            <a:normAutofit fontScale="90000"/>
          </a:bodyPr>
          <a:lstStyle/>
          <a:p>
            <a:r>
              <a:rPr lang="en-US" sz="3600" b="1" dirty="0" smtClean="0">
                <a:solidFill>
                  <a:srgbClr val="002060"/>
                </a:solidFill>
                <a:latin typeface="Cambria Math" panose="02040503050406030204" pitchFamily="18" charset="0"/>
                <a:ea typeface="Cambria Math" panose="02040503050406030204" pitchFamily="18" charset="0"/>
              </a:rPr>
              <a:t>4.1.4 Option Button Control</a:t>
            </a:r>
            <a:endParaRPr lang="en-US" sz="3600" b="1" dirty="0">
              <a:solidFill>
                <a:srgbClr val="002060"/>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2695575" y="1312278"/>
            <a:ext cx="8534400" cy="4269372"/>
          </a:xfrm>
        </p:spPr>
        <p:txBody>
          <a:bodyPr>
            <a:normAutofit fontScale="85000" lnSpcReduction="20000"/>
          </a:bodyPr>
          <a:lstStyle/>
          <a:p>
            <a:r>
              <a:rPr lang="en-US" dirty="0" smtClean="0">
                <a:latin typeface="Cambria Math" panose="02040503050406030204" pitchFamily="18" charset="0"/>
                <a:ea typeface="Cambria Math" panose="02040503050406030204" pitchFamily="18" charset="0"/>
              </a:rPr>
              <a:t>An option button is used when only one button of a group may be selected. </a:t>
            </a:r>
          </a:p>
          <a:p>
            <a:r>
              <a:rPr lang="en-US" dirty="0" smtClean="0">
                <a:latin typeface="Cambria Math" panose="02040503050406030204" pitchFamily="18" charset="0"/>
                <a:ea typeface="Cambria Math" panose="02040503050406030204" pitchFamily="18" charset="0"/>
              </a:rPr>
              <a:t>Any option button placed directly on the form (not in the frame) function as a group. A group of option button inside a frame functions together.</a:t>
            </a:r>
          </a:p>
          <a:p>
            <a:r>
              <a:rPr lang="en-US" dirty="0" smtClean="0">
                <a:latin typeface="Cambria Math" panose="02040503050406030204" pitchFamily="18" charset="0"/>
                <a:ea typeface="Cambria Math" panose="02040503050406030204" pitchFamily="18" charset="0"/>
              </a:rPr>
              <a:t>The best method is first create a frame and then create each option button inside the frame. Don not create it on the form and drag it onto the frame, it still belong to the form group.</a:t>
            </a:r>
          </a:p>
          <a:p>
            <a:r>
              <a:rPr lang="en-US" dirty="0" smtClean="0">
                <a:latin typeface="Cambria Math" panose="02040503050406030204" pitchFamily="18" charset="0"/>
                <a:ea typeface="Cambria Math" panose="02040503050406030204" pitchFamily="18" charset="0"/>
              </a:rPr>
              <a:t>The value property of the option button is set to </a:t>
            </a:r>
            <a:r>
              <a:rPr lang="en-US" b="1" dirty="0" smtClean="0">
                <a:latin typeface="Cambria Math" panose="02040503050406030204" pitchFamily="18" charset="0"/>
                <a:ea typeface="Cambria Math" panose="02040503050406030204" pitchFamily="18" charset="0"/>
              </a:rPr>
              <a:t>True if selected </a:t>
            </a:r>
            <a:r>
              <a:rPr lang="en-US" dirty="0" smtClean="0">
                <a:latin typeface="Cambria Math" panose="02040503050406030204" pitchFamily="18" charset="0"/>
                <a:ea typeface="Cambria Math" panose="02040503050406030204" pitchFamily="18" charset="0"/>
              </a:rPr>
              <a:t>or </a:t>
            </a:r>
            <a:r>
              <a:rPr lang="en-US" b="1" dirty="0" smtClean="0">
                <a:latin typeface="Cambria Math" panose="02040503050406030204" pitchFamily="18" charset="0"/>
                <a:ea typeface="Cambria Math" panose="02040503050406030204" pitchFamily="18" charset="0"/>
              </a:rPr>
              <a:t>False if unselected</a:t>
            </a:r>
            <a:r>
              <a:rPr lang="en-US" dirty="0" smtClean="0">
                <a:latin typeface="Cambria Math" panose="02040503050406030204" pitchFamily="18" charset="0"/>
                <a:ea typeface="Cambria Math" panose="02040503050406030204" pitchFamily="18" charset="0"/>
              </a:rPr>
              <a:t>. </a:t>
            </a:r>
          </a:p>
          <a:p>
            <a:r>
              <a:rPr lang="en-US" dirty="0" smtClean="0">
                <a:latin typeface="Cambria Math" panose="02040503050406030204" pitchFamily="18" charset="0"/>
                <a:ea typeface="Cambria Math" panose="02040503050406030204" pitchFamily="18" charset="0"/>
              </a:rPr>
              <a:t>You can also set an option button caption property to the text you want to appear next to the button. The three letter prefix for naming an option button is “</a:t>
            </a:r>
            <a:r>
              <a:rPr lang="en-US" b="1" i="1" dirty="0" smtClean="0">
                <a:latin typeface="Cambria Math" panose="02040503050406030204" pitchFamily="18" charset="0"/>
                <a:ea typeface="Cambria Math" panose="02040503050406030204" pitchFamily="18" charset="0"/>
              </a:rPr>
              <a:t>opt</a:t>
            </a:r>
            <a:r>
              <a:rPr lang="en-US" dirty="0" smtClean="0">
                <a:latin typeface="Cambria Math" panose="02040503050406030204" pitchFamily="18" charset="0"/>
                <a:ea typeface="Cambria Math" panose="02040503050406030204" pitchFamily="18" charset="0"/>
              </a:rPr>
              <a:t>”. Example: </a:t>
            </a:r>
            <a:r>
              <a:rPr lang="en-US" b="1" dirty="0" err="1" smtClean="0">
                <a:latin typeface="Cambria Math" panose="02040503050406030204" pitchFamily="18" charset="0"/>
                <a:ea typeface="Cambria Math" panose="02040503050406030204" pitchFamily="18" charset="0"/>
              </a:rPr>
              <a:t>optRed</a:t>
            </a:r>
            <a:r>
              <a:rPr lang="en-US" dirty="0" smtClean="0">
                <a:latin typeface="Cambria Math" panose="02040503050406030204" pitchFamily="18" charset="0"/>
                <a:ea typeface="Cambria Math" panose="02040503050406030204" pitchFamily="18" charset="0"/>
              </a:rPr>
              <a:t>, </a:t>
            </a:r>
            <a:r>
              <a:rPr lang="en-US" b="1" dirty="0" err="1" smtClean="0">
                <a:latin typeface="Cambria Math" panose="02040503050406030204" pitchFamily="18" charset="0"/>
                <a:ea typeface="Cambria Math" panose="02040503050406030204" pitchFamily="18" charset="0"/>
              </a:rPr>
              <a:t>optBlue</a:t>
            </a:r>
            <a:r>
              <a:rPr lang="en-US" dirty="0" smtClean="0">
                <a:latin typeface="Cambria Math" panose="02040503050406030204" pitchFamily="18" charset="0"/>
                <a:ea typeface="Cambria Math" panose="02040503050406030204" pitchFamily="18" charset="0"/>
              </a:rPr>
              <a:t>  </a:t>
            </a:r>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917690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2600325" y="1276588"/>
            <a:ext cx="9282727" cy="2871443"/>
          </a:xfrm>
          <a:prstGeom prst="rect">
            <a:avLst/>
          </a:prstGeom>
        </p:spPr>
        <p:txBody>
          <a:bodyPr vert="horz" lIns="91440" tIns="45720" rIns="91440" bIns="45720" rtlCol="0">
            <a:normAutofit fontScale="55000" lnSpcReduction="20000"/>
          </a:bodyPr>
          <a:lstStyle>
            <a:lvl1pPr marL="457189" indent="-457189" algn="l" defTabSz="1219170" rtl="0" eaLnBrk="1" latinLnBrk="0" hangingPunct="1">
              <a:spcBef>
                <a:spcPct val="20000"/>
              </a:spcBef>
              <a:buFont typeface="Arial" pitchFamily="34" charset="0"/>
              <a:buChar char="•"/>
              <a:defRPr sz="3733" kern="1200">
                <a:solidFill>
                  <a:srgbClr val="0000CC"/>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rgbClr val="0000CC"/>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rgbClr val="0000CC"/>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rgbClr val="0000CC"/>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rgbClr val="0000CC"/>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dirty="0" smtClean="0">
                <a:solidFill>
                  <a:schemeClr val="tx1"/>
                </a:solidFill>
                <a:latin typeface="Cambria Math" panose="02040503050406030204" pitchFamily="18" charset="0"/>
                <a:ea typeface="Cambria Math" panose="02040503050406030204" pitchFamily="18" charset="0"/>
              </a:rPr>
              <a:t>An image control holds a picture.</a:t>
            </a:r>
          </a:p>
          <a:p>
            <a:r>
              <a:rPr lang="en-US" dirty="0" smtClean="0">
                <a:solidFill>
                  <a:schemeClr val="tx1"/>
                </a:solidFill>
                <a:latin typeface="Cambria Math" panose="02040503050406030204" pitchFamily="18" charset="0"/>
                <a:ea typeface="Cambria Math" panose="02040503050406030204" pitchFamily="18" charset="0"/>
              </a:rPr>
              <a:t>An image picture property can be set to an extension of .bmp, .</a:t>
            </a:r>
            <a:r>
              <a:rPr lang="en-US" dirty="0" err="1" smtClean="0">
                <a:solidFill>
                  <a:schemeClr val="tx1"/>
                </a:solidFill>
                <a:latin typeface="Cambria Math" panose="02040503050406030204" pitchFamily="18" charset="0"/>
                <a:ea typeface="Cambria Math" panose="02040503050406030204" pitchFamily="18" charset="0"/>
              </a:rPr>
              <a:t>wmf</a:t>
            </a:r>
            <a:r>
              <a:rPr lang="en-US" dirty="0" smtClean="0">
                <a:solidFill>
                  <a:schemeClr val="tx1"/>
                </a:solidFill>
                <a:latin typeface="Cambria Math" panose="02040503050406030204" pitchFamily="18" charset="0"/>
                <a:ea typeface="Cambria Math" panose="02040503050406030204" pitchFamily="18" charset="0"/>
              </a:rPr>
              <a:t>, .gif, .jpg etc.</a:t>
            </a:r>
          </a:p>
          <a:p>
            <a:r>
              <a:rPr lang="en-US" dirty="0" smtClean="0">
                <a:solidFill>
                  <a:schemeClr val="tx1"/>
                </a:solidFill>
                <a:latin typeface="Cambria Math" panose="02040503050406030204" pitchFamily="18" charset="0"/>
                <a:ea typeface="Cambria Math" panose="02040503050406030204" pitchFamily="18" charset="0"/>
              </a:rPr>
              <a:t>Image controls have several useful properties that you can set at design time or run time. For example, you can set the stretch property of an image to True to make the picture enlarged to fill the control.</a:t>
            </a:r>
          </a:p>
          <a:p>
            <a:r>
              <a:rPr lang="en-US" dirty="0" smtClean="0">
                <a:solidFill>
                  <a:schemeClr val="tx1"/>
                </a:solidFill>
                <a:latin typeface="Cambria Math" panose="02040503050406030204" pitchFamily="18" charset="0"/>
                <a:ea typeface="Cambria Math" panose="02040503050406030204" pitchFamily="18" charset="0"/>
              </a:rPr>
              <a:t>You could also set the visible property to False to make the image disappear.</a:t>
            </a:r>
          </a:p>
          <a:p>
            <a:r>
              <a:rPr lang="en-US" dirty="0" smtClean="0">
                <a:solidFill>
                  <a:schemeClr val="tx1"/>
                </a:solidFill>
                <a:latin typeface="Cambria Math" panose="02040503050406030204" pitchFamily="18" charset="0"/>
                <a:ea typeface="Cambria Math" panose="02040503050406030204" pitchFamily="18" charset="0"/>
              </a:rPr>
              <a:t>The three letter prefix for naming an image is “</a:t>
            </a:r>
            <a:r>
              <a:rPr lang="en-US" b="1" i="1" dirty="0" err="1" smtClean="0">
                <a:solidFill>
                  <a:schemeClr val="tx1"/>
                </a:solidFill>
                <a:latin typeface="Cambria Math" panose="02040503050406030204" pitchFamily="18" charset="0"/>
                <a:ea typeface="Cambria Math" panose="02040503050406030204" pitchFamily="18" charset="0"/>
              </a:rPr>
              <a:t>img</a:t>
            </a:r>
            <a:r>
              <a:rPr lang="en-US" dirty="0" smtClean="0">
                <a:solidFill>
                  <a:schemeClr val="tx1"/>
                </a:solidFill>
                <a:latin typeface="Cambria Math" panose="02040503050406030204" pitchFamily="18" charset="0"/>
                <a:ea typeface="Cambria Math" panose="02040503050406030204" pitchFamily="18" charset="0"/>
              </a:rPr>
              <a:t>”.</a:t>
            </a:r>
            <a:endParaRPr lang="en-US" dirty="0">
              <a:solidFill>
                <a:schemeClr val="tx1"/>
              </a:solidFill>
              <a:latin typeface="Cambria Math" panose="02040503050406030204" pitchFamily="18" charset="0"/>
              <a:ea typeface="Cambria Math" panose="02040503050406030204" pitchFamily="18" charset="0"/>
            </a:endParaRPr>
          </a:p>
        </p:txBody>
      </p:sp>
      <p:sp>
        <p:nvSpPr>
          <p:cNvPr id="8" name="Title 1"/>
          <p:cNvSpPr txBox="1">
            <a:spLocks/>
          </p:cNvSpPr>
          <p:nvPr/>
        </p:nvSpPr>
        <p:spPr>
          <a:xfrm>
            <a:off x="3338359" y="471619"/>
            <a:ext cx="4281641" cy="652569"/>
          </a:xfrm>
          <a:prstGeom prst="rect">
            <a:avLst/>
          </a:prstGeom>
        </p:spPr>
        <p:txBody>
          <a:bodyPr vert="horz" lIns="91440" tIns="45720" rIns="91440" bIns="45720" rtlCol="0" anchor="ctr">
            <a:normAutofit/>
          </a:bodyPr>
          <a:lstStyle>
            <a:lvl1pPr algn="l" defTabSz="1219170" rtl="0" eaLnBrk="1" latinLnBrk="0" hangingPunct="1">
              <a:spcBef>
                <a:spcPct val="0"/>
              </a:spcBef>
              <a:buNone/>
              <a:defRPr sz="4800" kern="1200">
                <a:solidFill>
                  <a:srgbClr val="FF0D97"/>
                </a:solidFill>
                <a:effectLst>
                  <a:outerShdw blurRad="50800" dist="38100" dir="2700000" algn="tl" rotWithShape="0">
                    <a:prstClr val="black">
                      <a:alpha val="40000"/>
                    </a:prstClr>
                  </a:outerShdw>
                </a:effectLst>
                <a:latin typeface="+mj-lt"/>
                <a:ea typeface="+mj-ea"/>
                <a:cs typeface="+mj-cs"/>
              </a:defRPr>
            </a:lvl1pPr>
          </a:lstStyle>
          <a:p>
            <a:r>
              <a:rPr lang="en-US" sz="3600" b="1" dirty="0" smtClean="0">
                <a:solidFill>
                  <a:srgbClr val="002060"/>
                </a:solidFill>
                <a:latin typeface="Cambria Math" panose="02040503050406030204" pitchFamily="18" charset="0"/>
                <a:ea typeface="Cambria Math" panose="02040503050406030204" pitchFamily="18" charset="0"/>
              </a:rPr>
              <a:t>4.1.5 Image Control</a:t>
            </a:r>
            <a:endParaRPr lang="en-US" sz="3600" b="1" dirty="0">
              <a:solidFill>
                <a:srgbClr val="002060"/>
              </a:solidFill>
              <a:latin typeface="Cambria Math" panose="02040503050406030204" pitchFamily="18" charset="0"/>
              <a:ea typeface="Cambria Math" panose="02040503050406030204" pitchFamily="18" charset="0"/>
            </a:endParaRPr>
          </a:p>
        </p:txBody>
      </p:sp>
      <p:sp>
        <p:nvSpPr>
          <p:cNvPr id="10" name="Title 1"/>
          <p:cNvSpPr>
            <a:spLocks noGrp="1"/>
          </p:cNvSpPr>
          <p:nvPr>
            <p:ph type="title"/>
          </p:nvPr>
        </p:nvSpPr>
        <p:spPr>
          <a:xfrm>
            <a:off x="3338358" y="3821746"/>
            <a:ext cx="4281641" cy="652569"/>
          </a:xfrm>
        </p:spPr>
        <p:txBody>
          <a:bodyPr>
            <a:normAutofit/>
          </a:bodyPr>
          <a:lstStyle/>
          <a:p>
            <a:r>
              <a:rPr lang="en-US" sz="3600" b="1" dirty="0" smtClean="0">
                <a:solidFill>
                  <a:srgbClr val="002060"/>
                </a:solidFill>
                <a:latin typeface="Cambria Math" panose="02040503050406030204" pitchFamily="18" charset="0"/>
                <a:ea typeface="Cambria Math" panose="02040503050406030204" pitchFamily="18" charset="0"/>
              </a:rPr>
              <a:t>4.1.6 Line Control</a:t>
            </a:r>
            <a:endParaRPr lang="en-US" sz="3600" b="1" dirty="0">
              <a:solidFill>
                <a:srgbClr val="002060"/>
              </a:solidFill>
              <a:latin typeface="Cambria Math" panose="02040503050406030204" pitchFamily="18" charset="0"/>
              <a:ea typeface="Cambria Math" panose="02040503050406030204" pitchFamily="18" charset="0"/>
            </a:endParaRPr>
          </a:p>
        </p:txBody>
      </p:sp>
      <p:sp>
        <p:nvSpPr>
          <p:cNvPr id="9" name="Content Placeholder 2"/>
          <p:cNvSpPr>
            <a:spLocks noGrp="1"/>
          </p:cNvSpPr>
          <p:nvPr>
            <p:ph idx="1"/>
          </p:nvPr>
        </p:nvSpPr>
        <p:spPr>
          <a:xfrm>
            <a:off x="2286000" y="4626715"/>
            <a:ext cx="9348787" cy="1514475"/>
          </a:xfrm>
        </p:spPr>
        <p:txBody>
          <a:bodyPr>
            <a:normAutofit fontScale="70000" lnSpcReduction="20000"/>
          </a:bodyPr>
          <a:lstStyle/>
          <a:p>
            <a:r>
              <a:rPr lang="en-US" dirty="0" smtClean="0">
                <a:latin typeface="Cambria Math" panose="02040503050406030204" pitchFamily="18" charset="0"/>
                <a:ea typeface="Cambria Math" panose="02040503050406030204" pitchFamily="18" charset="0"/>
              </a:rPr>
              <a:t>Line control is used to draw a line on a form or divide a screen. </a:t>
            </a:r>
          </a:p>
          <a:p>
            <a:r>
              <a:rPr lang="en-US" dirty="0" smtClean="0">
                <a:latin typeface="Cambria Math" panose="02040503050406030204" pitchFamily="18" charset="0"/>
                <a:ea typeface="Cambria Math" panose="02040503050406030204" pitchFamily="18" charset="0"/>
              </a:rPr>
              <a:t>Line properties can also be changed to set the color and style of the line. You can also determine the thickness on the line by changing its border width property.</a:t>
            </a:r>
          </a:p>
          <a:p>
            <a:r>
              <a:rPr lang="en-US" dirty="0" smtClean="0">
                <a:latin typeface="Cambria Math" panose="02040503050406030204" pitchFamily="18" charset="0"/>
                <a:ea typeface="Cambria Math" panose="02040503050406030204" pitchFamily="18" charset="0"/>
              </a:rPr>
              <a:t>The three letter prefix for a line control is “</a:t>
            </a:r>
            <a:r>
              <a:rPr lang="en-US" b="1" i="1" dirty="0" err="1" smtClean="0">
                <a:latin typeface="Cambria Math" panose="02040503050406030204" pitchFamily="18" charset="0"/>
                <a:ea typeface="Cambria Math" panose="02040503050406030204" pitchFamily="18" charset="0"/>
              </a:rPr>
              <a:t>lin</a:t>
            </a:r>
            <a:r>
              <a:rPr lang="en-US" dirty="0" smtClean="0">
                <a:latin typeface="Cambria Math" panose="02040503050406030204" pitchFamily="18" charset="0"/>
                <a:ea typeface="Cambria Math" panose="02040503050406030204" pitchFamily="18" charset="0"/>
              </a:rPr>
              <a:t>”. Example: </a:t>
            </a:r>
            <a:r>
              <a:rPr lang="en-US" b="1" dirty="0" err="1" smtClean="0">
                <a:latin typeface="Cambria Math" panose="02040503050406030204" pitchFamily="18" charset="0"/>
                <a:ea typeface="Cambria Math" panose="02040503050406030204" pitchFamily="18" charset="0"/>
              </a:rPr>
              <a:t>linLogo</a:t>
            </a:r>
            <a:endParaRPr lang="en-US" b="1"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655883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95484" y="376131"/>
            <a:ext cx="4281641" cy="652569"/>
          </a:xfrm>
        </p:spPr>
        <p:txBody>
          <a:bodyPr>
            <a:normAutofit/>
          </a:bodyPr>
          <a:lstStyle/>
          <a:p>
            <a:r>
              <a:rPr lang="en-US" sz="3600" b="1" dirty="0" smtClean="0">
                <a:solidFill>
                  <a:srgbClr val="002060"/>
                </a:solidFill>
                <a:latin typeface="Cambria Math" panose="02040503050406030204" pitchFamily="18" charset="0"/>
                <a:ea typeface="Cambria Math" panose="02040503050406030204" pitchFamily="18" charset="0"/>
              </a:rPr>
              <a:t>4.1.7 Shape Control</a:t>
            </a:r>
            <a:endParaRPr lang="en-US" sz="3600" b="1" dirty="0">
              <a:solidFill>
                <a:srgbClr val="002060"/>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2762250" y="1504950"/>
            <a:ext cx="8839815" cy="4923359"/>
          </a:xfrm>
        </p:spPr>
        <p:txBody>
          <a:bodyPr>
            <a:normAutofit fontScale="70000" lnSpcReduction="20000"/>
          </a:bodyPr>
          <a:lstStyle/>
          <a:p>
            <a:r>
              <a:rPr lang="en-US" dirty="0">
                <a:latin typeface="Cambria Math" panose="02040503050406030204" pitchFamily="18" charset="0"/>
                <a:ea typeface="Cambria Math" panose="02040503050406030204" pitchFamily="18" charset="0"/>
              </a:rPr>
              <a:t>S</a:t>
            </a:r>
            <a:r>
              <a:rPr lang="en-US" dirty="0" smtClean="0">
                <a:latin typeface="Cambria Math" panose="02040503050406030204" pitchFamily="18" charset="0"/>
                <a:ea typeface="Cambria Math" panose="02040503050406030204" pitchFamily="18" charset="0"/>
              </a:rPr>
              <a:t>hape controls are used to place rectangles, squares, ovals and circles on the form. </a:t>
            </a:r>
          </a:p>
          <a:p>
            <a:r>
              <a:rPr lang="en-US" dirty="0" smtClean="0">
                <a:latin typeface="Cambria Math" panose="02040503050406030204" pitchFamily="18" charset="0"/>
                <a:ea typeface="Cambria Math" panose="02040503050406030204" pitchFamily="18" charset="0"/>
              </a:rPr>
              <a:t>Shapes can enhance the readability of a screen or add some fun. They can be used to create a company logo or to separate the form into section.</a:t>
            </a:r>
          </a:p>
          <a:p>
            <a:r>
              <a:rPr lang="en-US" dirty="0" smtClean="0">
                <a:latin typeface="Cambria Math" panose="02040503050406030204" pitchFamily="18" charset="0"/>
                <a:ea typeface="Cambria Math" panose="02040503050406030204" pitchFamily="18" charset="0"/>
              </a:rPr>
              <a:t>The property values of shapes are: </a:t>
            </a:r>
          </a:p>
          <a:p>
            <a:pPr lvl="1">
              <a:buFont typeface="Symbol" panose="05050102010706020507" pitchFamily="18" charset="2"/>
              <a:buChar char=""/>
            </a:pPr>
            <a:r>
              <a:rPr lang="en-US" dirty="0" smtClean="0">
                <a:latin typeface="Cambria Math" panose="02040503050406030204" pitchFamily="18" charset="0"/>
                <a:ea typeface="Cambria Math" panose="02040503050406030204" pitchFamily="18" charset="0"/>
              </a:rPr>
              <a:t>0 – rectangle </a:t>
            </a:r>
          </a:p>
          <a:p>
            <a:pPr lvl="1">
              <a:buFont typeface="Symbol" panose="05050102010706020507" pitchFamily="18" charset="2"/>
              <a:buChar char=""/>
            </a:pPr>
            <a:r>
              <a:rPr lang="en-US" dirty="0" smtClean="0">
                <a:latin typeface="Cambria Math" panose="02040503050406030204" pitchFamily="18" charset="0"/>
                <a:ea typeface="Cambria Math" panose="02040503050406030204" pitchFamily="18" charset="0"/>
              </a:rPr>
              <a:t>1 – square </a:t>
            </a:r>
          </a:p>
          <a:p>
            <a:pPr lvl="1">
              <a:buFont typeface="Symbol" panose="05050102010706020507" pitchFamily="18" charset="2"/>
              <a:buChar char=""/>
            </a:pPr>
            <a:r>
              <a:rPr lang="en-US" dirty="0" smtClean="0">
                <a:latin typeface="Cambria Math" panose="02040503050406030204" pitchFamily="18" charset="0"/>
                <a:ea typeface="Cambria Math" panose="02040503050406030204" pitchFamily="18" charset="0"/>
              </a:rPr>
              <a:t>2 – oval </a:t>
            </a:r>
          </a:p>
          <a:p>
            <a:pPr lvl="1">
              <a:buFont typeface="Symbol" panose="05050102010706020507" pitchFamily="18" charset="2"/>
              <a:buChar char=""/>
            </a:pPr>
            <a:r>
              <a:rPr lang="en-US" dirty="0" smtClean="0">
                <a:latin typeface="Cambria Math" panose="02040503050406030204" pitchFamily="18" charset="0"/>
                <a:ea typeface="Cambria Math" panose="02040503050406030204" pitchFamily="18" charset="0"/>
              </a:rPr>
              <a:t>3 – circle </a:t>
            </a:r>
          </a:p>
          <a:p>
            <a:pPr lvl="1">
              <a:buFont typeface="Symbol" panose="05050102010706020507" pitchFamily="18" charset="2"/>
              <a:buChar char=""/>
            </a:pPr>
            <a:r>
              <a:rPr lang="en-US" dirty="0" smtClean="0">
                <a:latin typeface="Cambria Math" panose="02040503050406030204" pitchFamily="18" charset="0"/>
                <a:ea typeface="Cambria Math" panose="02040503050406030204" pitchFamily="18" charset="0"/>
              </a:rPr>
              <a:t>4 – rounded rectangle </a:t>
            </a:r>
          </a:p>
          <a:p>
            <a:pPr lvl="1">
              <a:buFont typeface="Symbol" panose="05050102010706020507" pitchFamily="18" charset="2"/>
              <a:buChar char=""/>
            </a:pPr>
            <a:r>
              <a:rPr lang="en-US" dirty="0" smtClean="0">
                <a:latin typeface="Cambria Math" panose="02040503050406030204" pitchFamily="18" charset="0"/>
                <a:ea typeface="Cambria Math" panose="02040503050406030204" pitchFamily="18" charset="0"/>
              </a:rPr>
              <a:t>5 – rounded square </a:t>
            </a:r>
          </a:p>
          <a:p>
            <a:r>
              <a:rPr lang="en-US" dirty="0" smtClean="0">
                <a:latin typeface="Cambria Math" panose="02040503050406030204" pitchFamily="18" charset="0"/>
                <a:ea typeface="Cambria Math" panose="02040503050406030204" pitchFamily="18" charset="0"/>
              </a:rPr>
              <a:t>You can also draw, move and resize shape controls in the same manner as the other controls. By changing properties, you can select the style and color of the shapes outline, the color of its fill, and whether it is transparent or solid.</a:t>
            </a:r>
          </a:p>
          <a:p>
            <a:r>
              <a:rPr lang="en-US" dirty="0" smtClean="0">
                <a:latin typeface="Cambria Math" panose="02040503050406030204" pitchFamily="18" charset="0"/>
                <a:ea typeface="Cambria Math" panose="02040503050406030204" pitchFamily="18" charset="0"/>
              </a:rPr>
              <a:t>The naming prefix for shape control is “</a:t>
            </a:r>
            <a:r>
              <a:rPr lang="en-US" b="1" i="1" dirty="0" err="1" smtClean="0">
                <a:latin typeface="Cambria Math" panose="02040503050406030204" pitchFamily="18" charset="0"/>
                <a:ea typeface="Cambria Math" panose="02040503050406030204" pitchFamily="18" charset="0"/>
              </a:rPr>
              <a:t>shp</a:t>
            </a:r>
            <a:r>
              <a:rPr lang="en-US" dirty="0" smtClean="0">
                <a:latin typeface="Cambria Math" panose="02040503050406030204" pitchFamily="18" charset="0"/>
                <a:ea typeface="Cambria Math" panose="02040503050406030204" pitchFamily="18" charset="0"/>
              </a:rPr>
              <a:t>”. Example: </a:t>
            </a:r>
            <a:r>
              <a:rPr lang="en-US" b="1" dirty="0" err="1" smtClean="0">
                <a:latin typeface="Cambria Math" panose="02040503050406030204" pitchFamily="18" charset="0"/>
                <a:ea typeface="Cambria Math" panose="02040503050406030204" pitchFamily="18" charset="0"/>
              </a:rPr>
              <a:t>shpRectangle</a:t>
            </a:r>
            <a:r>
              <a:rPr lang="en-US" dirty="0" smtClean="0">
                <a:latin typeface="Cambria Math" panose="02040503050406030204" pitchFamily="18" charset="0"/>
                <a:ea typeface="Cambria Math" panose="02040503050406030204" pitchFamily="18" charset="0"/>
              </a:rPr>
              <a:t>, </a:t>
            </a:r>
            <a:r>
              <a:rPr lang="en-US" b="1" dirty="0" err="1" smtClean="0">
                <a:latin typeface="Cambria Math" panose="02040503050406030204" pitchFamily="18" charset="0"/>
                <a:ea typeface="Cambria Math" panose="02040503050406030204" pitchFamily="18" charset="0"/>
              </a:rPr>
              <a:t>shpSquare</a:t>
            </a:r>
            <a:r>
              <a:rPr lang="en-US" dirty="0" smtClean="0">
                <a:latin typeface="Cambria Math" panose="02040503050406030204" pitchFamily="18" charset="0"/>
                <a:ea typeface="Cambria Math" panose="02040503050406030204" pitchFamily="18" charset="0"/>
              </a:rPr>
              <a:t> </a:t>
            </a:r>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549283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2934587" y="244996"/>
            <a:ext cx="8612372" cy="967132"/>
          </a:xfrm>
        </p:spPr>
        <p:txBody>
          <a:bodyPr>
            <a:normAutofit fontScale="90000"/>
          </a:bodyPr>
          <a:lstStyle/>
          <a:p>
            <a:r>
              <a:rPr lang="en-US" sz="4400" b="1" dirty="0" smtClean="0">
                <a:solidFill>
                  <a:srgbClr val="002060"/>
                </a:solidFill>
                <a:latin typeface="Cambria Math" panose="02040503050406030204" pitchFamily="18" charset="0"/>
                <a:ea typeface="Cambria Math" panose="02040503050406030204" pitchFamily="18" charset="0"/>
              </a:rPr>
              <a:t>4.2 Working with the Multiple Controls</a:t>
            </a:r>
            <a:endParaRPr lang="en-US" sz="4400" b="1" dirty="0">
              <a:solidFill>
                <a:srgbClr val="002060"/>
              </a:solidFill>
              <a:latin typeface="Cambria Math" panose="02040503050406030204" pitchFamily="18" charset="0"/>
              <a:ea typeface="Cambria Math" panose="02040503050406030204" pitchFamily="18" charset="0"/>
            </a:endParaRPr>
          </a:p>
        </p:txBody>
      </p:sp>
      <p:sp>
        <p:nvSpPr>
          <p:cNvPr id="11" name="Content Placeholder 2"/>
          <p:cNvSpPr>
            <a:spLocks noGrp="1"/>
          </p:cNvSpPr>
          <p:nvPr>
            <p:ph idx="1"/>
          </p:nvPr>
        </p:nvSpPr>
        <p:spPr>
          <a:xfrm>
            <a:off x="2776803" y="1349715"/>
            <a:ext cx="8406580" cy="4678168"/>
          </a:xfrm>
        </p:spPr>
        <p:txBody>
          <a:bodyPr>
            <a:normAutofit/>
          </a:bodyPr>
          <a:lstStyle/>
          <a:p>
            <a:r>
              <a:rPr lang="en-US" sz="2000" dirty="0" smtClean="0">
                <a:latin typeface="Cambria Math" panose="02040503050406030204" pitchFamily="18" charset="0"/>
                <a:ea typeface="Cambria Math" panose="02040503050406030204" pitchFamily="18" charset="0"/>
              </a:rPr>
              <a:t>One of the goals of good programming is to create programs that are easy to use. Your user interface should be clear and consistent. </a:t>
            </a:r>
          </a:p>
          <a:p>
            <a:r>
              <a:rPr lang="en-US" sz="2000" dirty="0" smtClean="0">
                <a:latin typeface="Cambria Math" panose="02040503050406030204" pitchFamily="18" charset="0"/>
                <a:ea typeface="Cambria Math" panose="02040503050406030204" pitchFamily="18" charset="0"/>
              </a:rPr>
              <a:t>One school of thought says that if a user misuses a program, it is the fault of the programmer, not the user. Because the users will already know how to operate Windows programs so you should strive to make your program look and behave like other Windows program.</a:t>
            </a:r>
          </a:p>
          <a:p>
            <a:r>
              <a:rPr lang="en-US" sz="2000" dirty="0" smtClean="0">
                <a:latin typeface="Cambria Math" panose="02040503050406030204" pitchFamily="18" charset="0"/>
                <a:ea typeface="Cambria Math" panose="02040503050406030204" pitchFamily="18" charset="0"/>
              </a:rPr>
              <a:t>Some of the ways to accomplish this goal are to: </a:t>
            </a:r>
          </a:p>
          <a:p>
            <a:pPr lvl="2">
              <a:buFont typeface="Courier New" panose="02070309020205020404" pitchFamily="49" charset="0"/>
              <a:buChar char="o"/>
            </a:pPr>
            <a:r>
              <a:rPr lang="en-US" sz="2000" dirty="0" smtClean="0">
                <a:latin typeface="Cambria Math" panose="02040503050406030204" pitchFamily="18" charset="0"/>
                <a:ea typeface="Cambria Math" panose="02040503050406030204" pitchFamily="18" charset="0"/>
              </a:rPr>
              <a:t>use controls in a standard way</a:t>
            </a:r>
          </a:p>
          <a:p>
            <a:pPr lvl="2">
              <a:buFont typeface="Courier New" panose="02070309020205020404" pitchFamily="49" charset="0"/>
              <a:buChar char="o"/>
            </a:pPr>
            <a:r>
              <a:rPr lang="en-US" sz="2000" dirty="0" smtClean="0">
                <a:latin typeface="Cambria Math" panose="02040503050406030204" pitchFamily="18" charset="0"/>
                <a:ea typeface="Cambria Math" panose="02040503050406030204" pitchFamily="18" charset="0"/>
              </a:rPr>
              <a:t>define keyboard key</a:t>
            </a:r>
          </a:p>
          <a:p>
            <a:pPr lvl="2">
              <a:buFont typeface="Courier New" panose="02070309020205020404" pitchFamily="49" charset="0"/>
              <a:buChar char="o"/>
            </a:pPr>
            <a:r>
              <a:rPr lang="en-US" sz="2000" dirty="0" smtClean="0">
                <a:latin typeface="Cambria Math" panose="02040503050406030204" pitchFamily="18" charset="0"/>
                <a:ea typeface="Cambria Math" panose="02040503050406030204" pitchFamily="18" charset="0"/>
              </a:rPr>
              <a:t>set a default command button</a:t>
            </a:r>
          </a:p>
          <a:p>
            <a:pPr lvl="2">
              <a:buFont typeface="Courier New" panose="02070309020205020404" pitchFamily="49" charset="0"/>
              <a:buChar char="o"/>
            </a:pPr>
            <a:r>
              <a:rPr lang="en-US" sz="2000" dirty="0" smtClean="0">
                <a:latin typeface="Cambria Math" panose="02040503050406030204" pitchFamily="18" charset="0"/>
                <a:ea typeface="Cambria Math" panose="02040503050406030204" pitchFamily="18" charset="0"/>
              </a:rPr>
              <a:t>make the Tab key work correctly, and</a:t>
            </a:r>
          </a:p>
          <a:p>
            <a:pPr lvl="2">
              <a:buFont typeface="Courier New" panose="02070309020205020404" pitchFamily="49" charset="0"/>
              <a:buChar char="o"/>
            </a:pPr>
            <a:r>
              <a:rPr lang="en-US" sz="2000" dirty="0" smtClean="0">
                <a:latin typeface="Cambria Math" panose="02040503050406030204" pitchFamily="18" charset="0"/>
                <a:ea typeface="Cambria Math" panose="02040503050406030204" pitchFamily="18" charset="0"/>
              </a:rPr>
              <a:t>you can also design Tool Tips (those small labels that pops up when the user pause the mouse over a control.)</a:t>
            </a:r>
            <a:endParaRPr lang="en-US" sz="20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516907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1073888" y="637953"/>
            <a:ext cx="10682701" cy="5433237"/>
          </a:xfrm>
          <a:prstGeom prst="rect">
            <a:avLst/>
          </a:prstGeom>
          <a:solidFill>
            <a:schemeClr val="bg1"/>
          </a:solidFill>
        </p:spPr>
        <p:txBody>
          <a:bodyPr vert="horz" lIns="91440" tIns="45720" rIns="91440" bIns="45720" rtlCol="0">
            <a:normAutofit fontScale="47500" lnSpcReduction="20000"/>
          </a:bodyPr>
          <a:lstStyle>
            <a:lvl1pPr marL="457189" indent="-457189" algn="l" defTabSz="1219170" rtl="0" eaLnBrk="1" latinLnBrk="0" hangingPunct="1">
              <a:spcBef>
                <a:spcPct val="20000"/>
              </a:spcBef>
              <a:buFont typeface="Arial" pitchFamily="34" charset="0"/>
              <a:buChar char="•"/>
              <a:defRPr sz="3733" kern="1200">
                <a:solidFill>
                  <a:srgbClr val="0000CC"/>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rgbClr val="0000CC"/>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rgbClr val="0000CC"/>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rgbClr val="0000CC"/>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rgbClr val="0000CC"/>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sz="4200" b="1" u="sng" dirty="0" smtClean="0">
                <a:solidFill>
                  <a:schemeClr val="tx1"/>
                </a:solidFill>
                <a:latin typeface="Cambria Math" panose="02040503050406030204" pitchFamily="18" charset="0"/>
                <a:ea typeface="Cambria Math" panose="02040503050406030204" pitchFamily="18" charset="0"/>
              </a:rPr>
              <a:t>Selecting </a:t>
            </a:r>
            <a:r>
              <a:rPr lang="en-US" sz="4200" b="1" u="sng" dirty="0">
                <a:solidFill>
                  <a:schemeClr val="tx1"/>
                </a:solidFill>
                <a:latin typeface="Cambria Math" panose="02040503050406030204" pitchFamily="18" charset="0"/>
                <a:ea typeface="Cambria Math" panose="02040503050406030204" pitchFamily="18" charset="0"/>
              </a:rPr>
              <a:t>Multiple Controls: </a:t>
            </a:r>
            <a:r>
              <a:rPr lang="en-US" sz="4200" dirty="0" smtClean="0">
                <a:solidFill>
                  <a:schemeClr val="tx1"/>
                </a:solidFill>
                <a:latin typeface="Cambria Math" panose="02040503050406030204" pitchFamily="18" charset="0"/>
                <a:ea typeface="Cambria Math" panose="02040503050406030204" pitchFamily="18" charset="0"/>
              </a:rPr>
              <a:t>You </a:t>
            </a:r>
            <a:r>
              <a:rPr lang="en-US" sz="4200" dirty="0">
                <a:solidFill>
                  <a:schemeClr val="tx1"/>
                </a:solidFill>
                <a:latin typeface="Cambria Math" panose="02040503050406030204" pitchFamily="18" charset="0"/>
                <a:ea typeface="Cambria Math" panose="02040503050406030204" pitchFamily="18" charset="0"/>
              </a:rPr>
              <a:t>can select more than one control at a time, which means that you can move the controls as a group, set similar properties for the group and align the </a:t>
            </a:r>
            <a:r>
              <a:rPr lang="en-US" sz="4200" dirty="0" smtClean="0">
                <a:solidFill>
                  <a:schemeClr val="tx1"/>
                </a:solidFill>
                <a:latin typeface="Cambria Math" panose="02040503050406030204" pitchFamily="18" charset="0"/>
                <a:ea typeface="Cambria Math" panose="02040503050406030204" pitchFamily="18" charset="0"/>
              </a:rPr>
              <a:t>controls. There </a:t>
            </a:r>
            <a:r>
              <a:rPr lang="en-US" sz="4200" dirty="0">
                <a:solidFill>
                  <a:schemeClr val="tx1"/>
                </a:solidFill>
                <a:latin typeface="Cambria Math" panose="02040503050406030204" pitchFamily="18" charset="0"/>
                <a:ea typeface="Cambria Math" panose="02040503050406030204" pitchFamily="18" charset="0"/>
              </a:rPr>
              <a:t>are two methods of selecting multiple controls. </a:t>
            </a:r>
            <a:endParaRPr lang="en-US" sz="4200" dirty="0" smtClean="0">
              <a:solidFill>
                <a:schemeClr val="tx1"/>
              </a:solidFill>
              <a:latin typeface="Cambria Math" panose="02040503050406030204" pitchFamily="18" charset="0"/>
              <a:ea typeface="Cambria Math" panose="02040503050406030204" pitchFamily="18" charset="0"/>
            </a:endParaRPr>
          </a:p>
          <a:p>
            <a:endParaRPr lang="en-US" sz="4200" dirty="0">
              <a:solidFill>
                <a:schemeClr val="tx1"/>
              </a:solidFill>
              <a:latin typeface="Cambria Math" panose="02040503050406030204" pitchFamily="18" charset="0"/>
              <a:ea typeface="Cambria Math" panose="02040503050406030204" pitchFamily="18" charset="0"/>
            </a:endParaRPr>
          </a:p>
          <a:p>
            <a:pPr marL="1066773" lvl="2" indent="0">
              <a:buNone/>
            </a:pPr>
            <a:r>
              <a:rPr lang="en-US" sz="4200" b="1" dirty="0">
                <a:solidFill>
                  <a:schemeClr val="tx1"/>
                </a:solidFill>
                <a:latin typeface="Cambria Math" panose="02040503050406030204" pitchFamily="18" charset="0"/>
                <a:ea typeface="Cambria Math" panose="02040503050406030204" pitchFamily="18" charset="0"/>
              </a:rPr>
              <a:t>1. </a:t>
            </a:r>
            <a:r>
              <a:rPr lang="en-US" sz="4200" dirty="0">
                <a:solidFill>
                  <a:schemeClr val="tx1"/>
                </a:solidFill>
                <a:latin typeface="Cambria Math" panose="02040503050406030204" pitchFamily="18" charset="0"/>
                <a:ea typeface="Cambria Math" panose="02040503050406030204" pitchFamily="18" charset="0"/>
              </a:rPr>
              <a:t>If the controls are near each other, the easiest method is to use a mouse to drag a selection box around the controls. Point to the corner of the box surrounding the controls, press the mouse button and drag to the opposite corner. When you release the mouse button, each control would have light grey selection handles. </a:t>
            </a:r>
          </a:p>
          <a:p>
            <a:pPr marL="1066773" lvl="2" indent="0">
              <a:buNone/>
            </a:pPr>
            <a:r>
              <a:rPr lang="en-US" sz="4200" b="1" dirty="0">
                <a:solidFill>
                  <a:schemeClr val="tx1"/>
                </a:solidFill>
                <a:latin typeface="Cambria Math" panose="02040503050406030204" pitchFamily="18" charset="0"/>
                <a:ea typeface="Cambria Math" panose="02040503050406030204" pitchFamily="18" charset="0"/>
              </a:rPr>
              <a:t>2.</a:t>
            </a:r>
            <a:r>
              <a:rPr lang="en-US" sz="4200" dirty="0">
                <a:solidFill>
                  <a:schemeClr val="tx1"/>
                </a:solidFill>
                <a:latin typeface="Cambria Math" panose="02040503050406030204" pitchFamily="18" charset="0"/>
                <a:ea typeface="Cambria Math" panose="02040503050406030204" pitchFamily="18" charset="0"/>
              </a:rPr>
              <a:t> You can also select multiple controls at one time. To do this, click on one control to select it, hold down the Control key and continue clicking on controls you wish to select. Click twice on the same control while holding the Control key down to deselect without changing the rest of the controls in the group</a:t>
            </a:r>
            <a:r>
              <a:rPr lang="en-US" sz="4200" dirty="0" smtClean="0">
                <a:solidFill>
                  <a:schemeClr val="tx1"/>
                </a:solidFill>
                <a:latin typeface="Cambria Math" panose="02040503050406030204" pitchFamily="18" charset="0"/>
                <a:ea typeface="Cambria Math" panose="02040503050406030204" pitchFamily="18" charset="0"/>
              </a:rPr>
              <a:t>.</a:t>
            </a:r>
          </a:p>
          <a:p>
            <a:pPr marL="1066773" lvl="2" indent="0">
              <a:buNone/>
            </a:pPr>
            <a:endParaRPr lang="en-US" sz="4200" dirty="0">
              <a:solidFill>
                <a:schemeClr val="tx1"/>
              </a:solidFill>
              <a:latin typeface="Cambria Math" panose="02040503050406030204" pitchFamily="18" charset="0"/>
              <a:ea typeface="Cambria Math" panose="02040503050406030204" pitchFamily="18" charset="0"/>
            </a:endParaRPr>
          </a:p>
          <a:p>
            <a:pPr marL="0" indent="0">
              <a:buNone/>
            </a:pPr>
            <a:r>
              <a:rPr lang="en-US" sz="4200" dirty="0">
                <a:solidFill>
                  <a:schemeClr val="tx1"/>
                </a:solidFill>
                <a:latin typeface="Cambria Math" panose="02040503050406030204" pitchFamily="18" charset="0"/>
                <a:ea typeface="Cambria Math" panose="02040503050406030204" pitchFamily="18" charset="0"/>
              </a:rPr>
              <a:t>When you want to select most of the controls on the form, use the combination of the two methods. Drag a selection box around all of the control to select them all and then press and hold down Control key  and click on the ones you want to deselect.</a:t>
            </a:r>
          </a:p>
          <a:p>
            <a:endParaRPr lang="en-US" dirty="0" smtClean="0">
              <a:latin typeface="Cambria Math" panose="02040503050406030204" pitchFamily="18" charset="0"/>
              <a:ea typeface="Cambria Math" panose="02040503050406030204" pitchFamily="18" charset="0"/>
            </a:endParaRPr>
          </a:p>
          <a:p>
            <a:endParaRPr lang="en-US" dirty="0" smtClean="0">
              <a:latin typeface="Cambria Math" panose="02040503050406030204" pitchFamily="18" charset="0"/>
              <a:ea typeface="Cambria Math" panose="02040503050406030204" pitchFamily="18" charset="0"/>
            </a:endParaRPr>
          </a:p>
          <a:p>
            <a:pPr marL="0" indent="0">
              <a:buNone/>
            </a:pPr>
            <a:endParaRPr lang="en-US" dirty="0" smtClean="0">
              <a:latin typeface="Cambria Math" panose="02040503050406030204" pitchFamily="18" charset="0"/>
              <a:ea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016438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14130" y="581024"/>
            <a:ext cx="9894635" cy="5895975"/>
          </a:xfrm>
          <a:solidFill>
            <a:schemeClr val="bg1"/>
          </a:solidFill>
        </p:spPr>
        <p:txBody>
          <a:bodyPr>
            <a:normAutofit fontScale="70000" lnSpcReduction="20000"/>
          </a:bodyPr>
          <a:lstStyle/>
          <a:p>
            <a:r>
              <a:rPr lang="en-US" b="1" u="sng" dirty="0" smtClean="0">
                <a:latin typeface="Cambria Math" panose="02040503050406030204" pitchFamily="18" charset="0"/>
                <a:ea typeface="Cambria Math" panose="02040503050406030204" pitchFamily="18" charset="0"/>
              </a:rPr>
              <a:t>Moving Controls as a Group: </a:t>
            </a:r>
            <a:r>
              <a:rPr lang="en-US" dirty="0" smtClean="0">
                <a:latin typeface="Cambria Math" panose="02040503050406030204" pitchFamily="18" charset="0"/>
                <a:ea typeface="Cambria Math" panose="02040503050406030204" pitchFamily="18" charset="0"/>
              </a:rPr>
              <a:t>After selecting multiple controls, you can move them as a group. To do this, point inside one of the selected controls, click on the mouse and drag to a new location. As you drag the mouse, an outline of the controls will move. When you release the mouse button, the controls move to their new location.</a:t>
            </a:r>
          </a:p>
          <a:p>
            <a:endParaRPr lang="en-US" dirty="0" smtClean="0">
              <a:latin typeface="Cambria Math" panose="02040503050406030204" pitchFamily="18" charset="0"/>
              <a:ea typeface="Cambria Math" panose="02040503050406030204" pitchFamily="18" charset="0"/>
            </a:endParaRPr>
          </a:p>
          <a:p>
            <a:r>
              <a:rPr lang="en-US" b="1" u="sng" dirty="0" smtClean="0">
                <a:latin typeface="Cambria Math" panose="02040503050406030204" pitchFamily="18" charset="0"/>
                <a:ea typeface="Cambria Math" panose="02040503050406030204" pitchFamily="18" charset="0"/>
              </a:rPr>
              <a:t>Setting Properties for Multiple Controls: </a:t>
            </a:r>
            <a:r>
              <a:rPr lang="en-US" dirty="0" smtClean="0">
                <a:latin typeface="Cambria Math" panose="02040503050406030204" pitchFamily="18" charset="0"/>
                <a:ea typeface="Cambria Math" panose="02040503050406030204" pitchFamily="18" charset="0"/>
              </a:rPr>
              <a:t>You can set common properties for groups of controls. After selecting the group, check the Property Window. Any property shown in that window are shared by all of the controls and can be changed all at once. </a:t>
            </a:r>
          </a:p>
          <a:p>
            <a:endParaRPr lang="en-US" dirty="0" smtClean="0">
              <a:latin typeface="Cambria Math" panose="02040503050406030204" pitchFamily="18" charset="0"/>
              <a:ea typeface="Cambria Math" panose="02040503050406030204" pitchFamily="18" charset="0"/>
            </a:endParaRPr>
          </a:p>
          <a:p>
            <a:r>
              <a:rPr lang="en-US" b="1" u="sng" dirty="0" smtClean="0">
                <a:latin typeface="Cambria Math" panose="02040503050406030204" pitchFamily="18" charset="0"/>
                <a:ea typeface="Cambria Math" panose="02040503050406030204" pitchFamily="18" charset="0"/>
              </a:rPr>
              <a:t>Aligning Controls: </a:t>
            </a:r>
            <a:r>
              <a:rPr lang="en-US" dirty="0" smtClean="0">
                <a:latin typeface="Cambria Math" panose="02040503050406030204" pitchFamily="18" charset="0"/>
                <a:ea typeface="Cambria Math" panose="02040503050406030204" pitchFamily="18" charset="0"/>
              </a:rPr>
              <a:t>After you select a group of controls, it is easy to resize and align them using option on the format menu. Another way to align control on the form is to select them and set their location using properties.</a:t>
            </a:r>
          </a:p>
          <a:p>
            <a:pPr marL="0" indent="0">
              <a:buNone/>
            </a:pPr>
            <a:endParaRPr lang="en-US" dirty="0" smtClean="0">
              <a:latin typeface="Cambria Math" panose="02040503050406030204" pitchFamily="18" charset="0"/>
              <a:ea typeface="Cambria Math" panose="02040503050406030204" pitchFamily="18" charset="0"/>
            </a:endParaRPr>
          </a:p>
          <a:p>
            <a:r>
              <a:rPr lang="en-US" sz="4000" b="1" u="sng" dirty="0">
                <a:latin typeface="Cambria Math" panose="02040503050406030204" pitchFamily="18" charset="0"/>
                <a:ea typeface="Cambria Math" panose="02040503050406030204" pitchFamily="18" charset="0"/>
              </a:rPr>
              <a:t>Setting a Border Style to </a:t>
            </a:r>
            <a:r>
              <a:rPr lang="en-US" sz="4000" b="1" u="sng" dirty="0" smtClean="0">
                <a:latin typeface="Cambria Math" panose="02040503050406030204" pitchFamily="18" charset="0"/>
                <a:ea typeface="Cambria Math" panose="02040503050406030204" pitchFamily="18" charset="0"/>
              </a:rPr>
              <a:t>Controls: </a:t>
            </a:r>
            <a:r>
              <a:rPr lang="en-US" sz="4000" dirty="0" smtClean="0">
                <a:latin typeface="Cambria Math" panose="02040503050406030204" pitchFamily="18" charset="0"/>
                <a:ea typeface="Cambria Math" panose="02040503050406030204" pitchFamily="18" charset="0"/>
              </a:rPr>
              <a:t>Most </a:t>
            </a:r>
            <a:r>
              <a:rPr lang="en-US" sz="4000" dirty="0">
                <a:latin typeface="Cambria Math" panose="02040503050406030204" pitchFamily="18" charset="0"/>
                <a:ea typeface="Cambria Math" panose="02040503050406030204" pitchFamily="18" charset="0"/>
              </a:rPr>
              <a:t>controls can appear to be three-dimensional (3D) or </a:t>
            </a:r>
            <a:r>
              <a:rPr lang="en-US" sz="4000" dirty="0" smtClean="0">
                <a:latin typeface="Cambria Math" panose="02040503050406030204" pitchFamily="18" charset="0"/>
                <a:ea typeface="Cambria Math" panose="02040503050406030204" pitchFamily="18" charset="0"/>
              </a:rPr>
              <a:t>flat. Labels</a:t>
            </a:r>
            <a:r>
              <a:rPr lang="en-US" sz="4000" dirty="0">
                <a:latin typeface="Cambria Math" panose="02040503050406030204" pitchFamily="18" charset="0"/>
                <a:ea typeface="Cambria Math" panose="02040503050406030204" pitchFamily="18" charset="0"/>
              </a:rPr>
              <a:t>, text boxes, check boxes, option buttons and image, all have an Appearance Property which consist of </a:t>
            </a:r>
            <a:r>
              <a:rPr lang="en-US" sz="4000" b="1" dirty="0">
                <a:latin typeface="Cambria Math" panose="02040503050406030204" pitchFamily="18" charset="0"/>
                <a:ea typeface="Cambria Math" panose="02040503050406030204" pitchFamily="18" charset="0"/>
              </a:rPr>
              <a:t>0 – Flat </a:t>
            </a:r>
            <a:r>
              <a:rPr lang="en-US" sz="4000" dirty="0">
                <a:latin typeface="Cambria Math" panose="02040503050406030204" pitchFamily="18" charset="0"/>
                <a:ea typeface="Cambria Math" panose="02040503050406030204" pitchFamily="18" charset="0"/>
              </a:rPr>
              <a:t>or </a:t>
            </a:r>
            <a:r>
              <a:rPr lang="en-US" sz="4000" b="1" dirty="0">
                <a:latin typeface="Cambria Math" panose="02040503050406030204" pitchFamily="18" charset="0"/>
                <a:ea typeface="Cambria Math" panose="02040503050406030204" pitchFamily="18" charset="0"/>
              </a:rPr>
              <a:t>1 – </a:t>
            </a:r>
            <a:r>
              <a:rPr lang="en-US" sz="4000" b="1" dirty="0" smtClean="0">
                <a:latin typeface="Cambria Math" panose="02040503050406030204" pitchFamily="18" charset="0"/>
                <a:ea typeface="Cambria Math" panose="02040503050406030204" pitchFamily="18" charset="0"/>
              </a:rPr>
              <a:t>3D</a:t>
            </a:r>
            <a:r>
              <a:rPr lang="en-US" sz="4000" dirty="0" smtClean="0">
                <a:latin typeface="Cambria Math" panose="02040503050406030204" pitchFamily="18" charset="0"/>
                <a:ea typeface="Cambria Math" panose="02040503050406030204" pitchFamily="18" charset="0"/>
              </a:rPr>
              <a:t>. To </a:t>
            </a:r>
            <a:r>
              <a:rPr lang="en-US" sz="4000" dirty="0">
                <a:latin typeface="Cambria Math" panose="02040503050406030204" pitchFamily="18" charset="0"/>
                <a:ea typeface="Cambria Math" panose="02040503050406030204" pitchFamily="18" charset="0"/>
              </a:rPr>
              <a:t>make a label or an image appear three-dimensional, you must give it a border. </a:t>
            </a:r>
          </a:p>
          <a:p>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467910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599521" y="439926"/>
            <a:ext cx="6522674" cy="652569"/>
          </a:xfrm>
        </p:spPr>
        <p:txBody>
          <a:bodyPr>
            <a:normAutofit fontScale="90000"/>
          </a:bodyPr>
          <a:lstStyle/>
          <a:p>
            <a:r>
              <a:rPr lang="en-US" sz="3600" b="1" dirty="0" smtClean="0">
                <a:solidFill>
                  <a:srgbClr val="002060"/>
                </a:solidFill>
                <a:latin typeface="Cambria Math" panose="02040503050406030204" pitchFamily="18" charset="0"/>
                <a:ea typeface="Cambria Math" panose="02040503050406030204" pitchFamily="18" charset="0"/>
              </a:rPr>
              <a:t>4.2.1 Designing the User Interface</a:t>
            </a:r>
            <a:endParaRPr lang="en-US" sz="3600" b="1" dirty="0">
              <a:solidFill>
                <a:srgbClr val="002060"/>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358588" y="1333738"/>
            <a:ext cx="11243477" cy="5094571"/>
          </a:xfrm>
        </p:spPr>
        <p:txBody>
          <a:bodyPr>
            <a:normAutofit fontScale="85000" lnSpcReduction="20000"/>
          </a:bodyPr>
          <a:lstStyle/>
          <a:p>
            <a:r>
              <a:rPr lang="en-US" dirty="0" smtClean="0">
                <a:latin typeface="Cambria Math" panose="02040503050406030204" pitchFamily="18" charset="0"/>
                <a:ea typeface="Cambria Math" panose="02040503050406030204" pitchFamily="18" charset="0"/>
              </a:rPr>
              <a:t>The design of the interface should be easy to understand and comfortable for the user. </a:t>
            </a:r>
          </a:p>
          <a:p>
            <a:r>
              <a:rPr lang="en-US" dirty="0" smtClean="0">
                <a:latin typeface="Cambria Math" panose="02040503050406030204" pitchFamily="18" charset="0"/>
                <a:ea typeface="Cambria Math" panose="02040503050406030204" pitchFamily="18" charset="0"/>
              </a:rPr>
              <a:t>The best way to accomplish this goal is to follow industry standard in relation to color, size, and placement of controls.</a:t>
            </a:r>
          </a:p>
          <a:p>
            <a:r>
              <a:rPr lang="en-US" dirty="0" smtClean="0">
                <a:latin typeface="Cambria Math" panose="02040503050406030204" pitchFamily="18" charset="0"/>
                <a:ea typeface="Cambria Math" panose="02040503050406030204" pitchFamily="18" charset="0"/>
              </a:rPr>
              <a:t>Once the user become accustomed to the screen design, they will expect (feel more familiar with) application that follows the dame design criteria.</a:t>
            </a:r>
          </a:p>
          <a:p>
            <a:r>
              <a:rPr lang="en-US" dirty="0" smtClean="0">
                <a:latin typeface="Cambria Math" panose="02040503050406030204" pitchFamily="18" charset="0"/>
                <a:ea typeface="Cambria Math" panose="02040503050406030204" pitchFamily="18" charset="0"/>
              </a:rPr>
              <a:t>Design your application to match other windows application. </a:t>
            </a:r>
          </a:p>
          <a:p>
            <a:r>
              <a:rPr lang="en-US" dirty="0" smtClean="0">
                <a:latin typeface="Cambria Math" panose="02040503050406030204" pitchFamily="18" charset="0"/>
                <a:ea typeface="Cambria Math" panose="02040503050406030204" pitchFamily="18" charset="0"/>
              </a:rPr>
              <a:t>Take some time to examine the screen and dialogue boxes in Microsoft Office as well as those in Visual Basic. Microsoft has done extensive program testing with different users of different ages, gender, nationalities, and disabilities. We should take the advantage of this research and follow the guidelines.</a:t>
            </a:r>
          </a:p>
          <a:p>
            <a:r>
              <a:rPr lang="en-US" dirty="0" smtClean="0">
                <a:latin typeface="Cambria Math" panose="02040503050406030204" pitchFamily="18" charset="0"/>
                <a:ea typeface="Cambria Math" panose="02040503050406030204" pitchFamily="18" charset="0"/>
              </a:rPr>
              <a:t>One recommendation about interface design contains color. You would have probably noticed that Windows applications are predominantly grey, a reason is that many people are color blind. In addition, grey is the easiest and best for the majority of users.</a:t>
            </a:r>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236724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68502" y="439926"/>
            <a:ext cx="7740503" cy="652569"/>
          </a:xfrm>
        </p:spPr>
        <p:txBody>
          <a:bodyPr>
            <a:normAutofit fontScale="90000"/>
          </a:bodyPr>
          <a:lstStyle/>
          <a:p>
            <a:r>
              <a:rPr lang="en-US" sz="3600" b="1" dirty="0" smtClean="0">
                <a:solidFill>
                  <a:srgbClr val="002060"/>
                </a:solidFill>
                <a:latin typeface="Cambria Math" panose="02040503050406030204" pitchFamily="18" charset="0"/>
                <a:ea typeface="Cambria Math" panose="02040503050406030204" pitchFamily="18" charset="0"/>
              </a:rPr>
              <a:t>4.2.2 Designing the Keyboard Access Key</a:t>
            </a:r>
            <a:endParaRPr lang="en-US" sz="3600" b="1" dirty="0">
              <a:solidFill>
                <a:srgbClr val="002060"/>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1467292" y="1506413"/>
            <a:ext cx="10241099" cy="4435415"/>
          </a:xfrm>
          <a:solidFill>
            <a:schemeClr val="bg1"/>
          </a:solidFill>
        </p:spPr>
        <p:txBody>
          <a:bodyPr>
            <a:noAutofit/>
          </a:bodyPr>
          <a:lstStyle/>
          <a:p>
            <a:r>
              <a:rPr lang="en-US" sz="2400" dirty="0" smtClean="0">
                <a:latin typeface="Cambria Math" panose="02040503050406030204" pitchFamily="18" charset="0"/>
                <a:ea typeface="Cambria Math" panose="02040503050406030204" pitchFamily="18" charset="0"/>
              </a:rPr>
              <a:t>Many people prefer to use the keyboard rather than the mouse for most operations. </a:t>
            </a:r>
          </a:p>
          <a:p>
            <a:r>
              <a:rPr lang="en-US" sz="2400" dirty="0" smtClean="0">
                <a:latin typeface="Cambria Math" panose="02040503050406030204" pitchFamily="18" charset="0"/>
                <a:ea typeface="Cambria Math" panose="02040503050406030204" pitchFamily="18" charset="0"/>
              </a:rPr>
              <a:t>Windows is set up so that everything can be done with either a keyboard or a mouse.</a:t>
            </a:r>
          </a:p>
          <a:p>
            <a:r>
              <a:rPr lang="en-US" sz="2400" dirty="0" smtClean="0">
                <a:latin typeface="Cambria Math" panose="02040503050406030204" pitchFamily="18" charset="0"/>
                <a:ea typeface="Cambria Math" panose="02040503050406030204" pitchFamily="18" charset="0"/>
              </a:rPr>
              <a:t>You can make your project respond to the keyboard by defining access keys. </a:t>
            </a:r>
          </a:p>
          <a:p>
            <a:pPr marL="1066773" lvl="2" indent="0">
              <a:buNone/>
            </a:pPr>
            <a:r>
              <a:rPr lang="en-US" sz="2400" dirty="0" smtClean="0">
                <a:latin typeface="Cambria Math" panose="02040503050406030204" pitchFamily="18" charset="0"/>
                <a:ea typeface="Cambria Math" panose="02040503050406030204" pitchFamily="18" charset="0"/>
              </a:rPr>
              <a:t>For example, you can select the ‘</a:t>
            </a:r>
            <a:r>
              <a:rPr lang="en-US" sz="2400" b="1" dirty="0" smtClean="0">
                <a:latin typeface="Cambria Math" panose="02040503050406030204" pitchFamily="18" charset="0"/>
                <a:ea typeface="Cambria Math" panose="02040503050406030204" pitchFamily="18" charset="0"/>
              </a:rPr>
              <a:t>OK</a:t>
            </a:r>
            <a:r>
              <a:rPr lang="en-US" sz="2400" dirty="0" smtClean="0">
                <a:latin typeface="Cambria Math" panose="02040503050406030204" pitchFamily="18" charset="0"/>
                <a:ea typeface="Cambria Math" panose="02040503050406030204" pitchFamily="18" charset="0"/>
              </a:rPr>
              <a:t>’ button with the ‘Alt’ and ‘O’ (</a:t>
            </a:r>
            <a:r>
              <a:rPr lang="en-US" sz="2400" b="1" dirty="0" err="1" smtClean="0">
                <a:latin typeface="Cambria Math" panose="02040503050406030204" pitchFamily="18" charset="0"/>
                <a:ea typeface="Cambria Math" panose="02040503050406030204" pitchFamily="18" charset="0"/>
              </a:rPr>
              <a:t>Alt+O</a:t>
            </a:r>
            <a:r>
              <a:rPr lang="en-US" sz="2400" dirty="0" smtClean="0">
                <a:latin typeface="Cambria Math" panose="02040503050406030204" pitchFamily="18" charset="0"/>
                <a:ea typeface="Cambria Math" panose="02040503050406030204" pitchFamily="18" charset="0"/>
              </a:rPr>
              <a:t>) keys and the </a:t>
            </a:r>
            <a:r>
              <a:rPr lang="en-US" sz="2400" b="1" dirty="0" smtClean="0">
                <a:latin typeface="Cambria Math" panose="02040503050406030204" pitchFamily="18" charset="0"/>
                <a:ea typeface="Cambria Math" panose="02040503050406030204" pitchFamily="18" charset="0"/>
              </a:rPr>
              <a:t>‘Exit’ </a:t>
            </a:r>
            <a:r>
              <a:rPr lang="en-US" sz="2400" dirty="0" smtClean="0">
                <a:latin typeface="Cambria Math" panose="02040503050406030204" pitchFamily="18" charset="0"/>
                <a:ea typeface="Cambria Math" panose="02040503050406030204" pitchFamily="18" charset="0"/>
              </a:rPr>
              <a:t>button with ‘Alt’ and ‘X’ (</a:t>
            </a:r>
            <a:r>
              <a:rPr lang="en-US" sz="2400" b="1" dirty="0" err="1" smtClean="0">
                <a:latin typeface="Cambria Math" panose="02040503050406030204" pitchFamily="18" charset="0"/>
                <a:ea typeface="Cambria Math" panose="02040503050406030204" pitchFamily="18" charset="0"/>
              </a:rPr>
              <a:t>Alt+X</a:t>
            </a:r>
            <a:r>
              <a:rPr lang="en-US" sz="2400" dirty="0" smtClean="0">
                <a:latin typeface="Cambria Math" panose="02040503050406030204" pitchFamily="18" charset="0"/>
                <a:ea typeface="Cambria Math" panose="02040503050406030204" pitchFamily="18" charset="0"/>
              </a:rPr>
              <a:t>) keys.</a:t>
            </a:r>
          </a:p>
          <a:p>
            <a:r>
              <a:rPr lang="en-US" sz="2400" dirty="0" smtClean="0">
                <a:latin typeface="Cambria Math" panose="02040503050406030204" pitchFamily="18" charset="0"/>
                <a:ea typeface="Cambria Math" panose="02040503050406030204" pitchFamily="18" charset="0"/>
              </a:rPr>
              <a:t>You can also set access keys commands, option buttons, and check boxes when you define the caption properties. To do this, type an ampersand (&amp;) in front of the character you want for the access key. Visual Basic will underline the characters. Example: </a:t>
            </a:r>
            <a:r>
              <a:rPr lang="en-US" sz="2400" b="1" dirty="0" smtClean="0">
                <a:latin typeface="Cambria Math" panose="02040503050406030204" pitchFamily="18" charset="0"/>
                <a:ea typeface="Cambria Math" panose="02040503050406030204" pitchFamily="18" charset="0"/>
              </a:rPr>
              <a:t>&amp;OK </a:t>
            </a:r>
            <a:r>
              <a:rPr lang="en-US" sz="2400" dirty="0" smtClean="0">
                <a:latin typeface="Cambria Math" panose="02040503050406030204" pitchFamily="18" charset="0"/>
                <a:ea typeface="Cambria Math" panose="02040503050406030204" pitchFamily="18" charset="0"/>
              </a:rPr>
              <a:t>for </a:t>
            </a:r>
            <a:r>
              <a:rPr lang="en-US" sz="2400" b="1" dirty="0" smtClean="0">
                <a:latin typeface="Cambria Math" panose="02040503050406030204" pitchFamily="18" charset="0"/>
                <a:ea typeface="Cambria Math" panose="02040503050406030204" pitchFamily="18" charset="0"/>
              </a:rPr>
              <a:t>OK</a:t>
            </a:r>
            <a:endParaRPr lang="en-US" sz="2400" b="1"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592294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8" y="1750140"/>
            <a:ext cx="11395877" cy="4459273"/>
          </a:xfrm>
        </p:spPr>
        <p:txBody>
          <a:bodyPr>
            <a:noAutofit/>
          </a:bodyPr>
          <a:lstStyle/>
          <a:p>
            <a:r>
              <a:rPr lang="en-US" sz="2400" dirty="0" smtClean="0">
                <a:latin typeface="Cambria Math" panose="02040503050406030204" pitchFamily="18" charset="0"/>
                <a:ea typeface="Cambria Math" panose="02040503050406030204" pitchFamily="18" charset="0"/>
              </a:rPr>
              <a:t>Once the persons finger is on the keyboard, most people prefer to press the enter key, rather than to click the mouse. If one of the command button is the default button, pressing enter key is same as clicking the button.</a:t>
            </a:r>
          </a:p>
          <a:p>
            <a:r>
              <a:rPr lang="en-US" sz="2400" dirty="0" smtClean="0">
                <a:latin typeface="Cambria Math" panose="02040503050406030204" pitchFamily="18" charset="0"/>
                <a:ea typeface="Cambria Math" panose="02040503050406030204" pitchFamily="18" charset="0"/>
              </a:rPr>
              <a:t>You can always identify the default button by setting its default property to </a:t>
            </a:r>
            <a:r>
              <a:rPr lang="en-US" sz="2400" b="1" dirty="0" smtClean="0">
                <a:latin typeface="Cambria Math" panose="02040503050406030204" pitchFamily="18" charset="0"/>
                <a:ea typeface="Cambria Math" panose="02040503050406030204" pitchFamily="18" charset="0"/>
              </a:rPr>
              <a:t>true</a:t>
            </a:r>
            <a:r>
              <a:rPr lang="en-US" sz="2400" dirty="0" smtClean="0">
                <a:latin typeface="Cambria Math" panose="02040503050406030204" pitchFamily="18" charset="0"/>
                <a:ea typeface="Cambria Math" panose="02040503050406030204" pitchFamily="18" charset="0"/>
              </a:rPr>
              <a:t>. When the user press enter, the button is automatically selected. </a:t>
            </a:r>
          </a:p>
          <a:p>
            <a:r>
              <a:rPr lang="en-US" sz="2400" dirty="0" smtClean="0">
                <a:latin typeface="Cambria Math" panose="02040503050406030204" pitchFamily="18" charset="0"/>
                <a:ea typeface="Cambria Math" panose="02040503050406030204" pitchFamily="18" charset="0"/>
              </a:rPr>
              <a:t>You can also select a Cancel button. The Cancel button is the button that is selected when the user press the ESC key. You can make a command button a Cancel button by setting its Cancel property to </a:t>
            </a:r>
            <a:r>
              <a:rPr lang="en-US" sz="2400" b="1" dirty="0" smtClean="0">
                <a:latin typeface="Cambria Math" panose="02040503050406030204" pitchFamily="18" charset="0"/>
                <a:ea typeface="Cambria Math" panose="02040503050406030204" pitchFamily="18" charset="0"/>
              </a:rPr>
              <a:t>true</a:t>
            </a:r>
            <a:r>
              <a:rPr lang="en-US" sz="2400" dirty="0" smtClean="0">
                <a:latin typeface="Cambria Math" panose="02040503050406030204" pitchFamily="18" charset="0"/>
                <a:ea typeface="Cambria Math" panose="02040503050406030204" pitchFamily="18" charset="0"/>
              </a:rPr>
              <a:t>. </a:t>
            </a:r>
          </a:p>
          <a:p>
            <a:r>
              <a:rPr lang="en-US" sz="2400" dirty="0" smtClean="0">
                <a:latin typeface="Cambria Math" panose="02040503050406030204" pitchFamily="18" charset="0"/>
                <a:ea typeface="Cambria Math" panose="02040503050406030204" pitchFamily="18" charset="0"/>
              </a:rPr>
              <a:t>An example of a good time to set cancel property is on the form with OK and Cancel button. You can set the default property to True for the OK button and the cancel property to True for the Cancel button.</a:t>
            </a:r>
          </a:p>
        </p:txBody>
      </p:sp>
      <p:sp>
        <p:nvSpPr>
          <p:cNvPr id="5" name="Title 1"/>
          <p:cNvSpPr txBox="1">
            <a:spLocks/>
          </p:cNvSpPr>
          <p:nvPr/>
        </p:nvSpPr>
        <p:spPr>
          <a:xfrm>
            <a:off x="3412428" y="210612"/>
            <a:ext cx="6773564" cy="1458699"/>
          </a:xfrm>
          <a:prstGeom prst="rect">
            <a:avLst/>
          </a:prstGeom>
        </p:spPr>
        <p:txBody>
          <a:bodyPr vert="horz" lIns="91440" tIns="45720" rIns="91440" bIns="45720" rtlCol="0" anchor="ctr">
            <a:normAutofit fontScale="92500"/>
          </a:bodyPr>
          <a:lstStyle>
            <a:lvl1pPr algn="l" defTabSz="1219170" rtl="0" eaLnBrk="1" latinLnBrk="0" hangingPunct="1">
              <a:spcBef>
                <a:spcPct val="0"/>
              </a:spcBef>
              <a:buNone/>
              <a:defRPr sz="4800" kern="1200">
                <a:solidFill>
                  <a:srgbClr val="FF0D97"/>
                </a:solidFill>
                <a:effectLst>
                  <a:outerShdw blurRad="50800" dist="38100" dir="2700000" algn="tl" rotWithShape="0">
                    <a:prstClr val="black">
                      <a:alpha val="40000"/>
                    </a:prstClr>
                  </a:outerShdw>
                </a:effectLst>
                <a:latin typeface="+mj-lt"/>
                <a:ea typeface="+mj-ea"/>
                <a:cs typeface="+mj-cs"/>
              </a:defRPr>
            </a:lvl1pPr>
          </a:lstStyle>
          <a:p>
            <a:pPr algn="ctr"/>
            <a:r>
              <a:rPr lang="en-US" sz="3600" b="1" dirty="0" smtClean="0">
                <a:solidFill>
                  <a:srgbClr val="002060"/>
                </a:solidFill>
                <a:latin typeface="Cambria Math" panose="02040503050406030204" pitchFamily="18" charset="0"/>
                <a:ea typeface="Cambria Math" panose="02040503050406030204" pitchFamily="18" charset="0"/>
              </a:rPr>
              <a:t>4.2.3 Setting the Default and Cancel Properties of Command Buttons</a:t>
            </a:r>
            <a:endParaRPr lang="en-US" sz="3600" b="1" dirty="0">
              <a:solidFill>
                <a:srgbClr val="00206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885544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056721" y="450559"/>
            <a:ext cx="3843270" cy="652569"/>
          </a:xfrm>
        </p:spPr>
        <p:txBody>
          <a:bodyPr>
            <a:normAutofit fontScale="90000"/>
          </a:bodyPr>
          <a:lstStyle/>
          <a:p>
            <a:r>
              <a:rPr lang="en-US" sz="3600" b="1" dirty="0" smtClean="0">
                <a:solidFill>
                  <a:srgbClr val="002060"/>
                </a:solidFill>
                <a:latin typeface="Cambria Math" panose="02040503050406030204" pitchFamily="18" charset="0"/>
                <a:ea typeface="Cambria Math" panose="02040503050406030204" pitchFamily="18" charset="0"/>
              </a:rPr>
              <a:t>4.2.4 The Tab Order</a:t>
            </a:r>
            <a:endParaRPr lang="en-US" sz="3600" b="1" dirty="0">
              <a:solidFill>
                <a:srgbClr val="002060"/>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251012" y="1457920"/>
            <a:ext cx="10868513" cy="3868992"/>
          </a:xfrm>
        </p:spPr>
        <p:txBody>
          <a:bodyPr>
            <a:normAutofit fontScale="92500" lnSpcReduction="20000"/>
          </a:bodyPr>
          <a:lstStyle/>
          <a:p>
            <a:r>
              <a:rPr lang="en-US" dirty="0" smtClean="0">
                <a:latin typeface="Cambria Math" panose="02040503050406030204" pitchFamily="18" charset="0"/>
                <a:ea typeface="Cambria Math" panose="02040503050406030204" pitchFamily="18" charset="0"/>
              </a:rPr>
              <a:t>Two properties determine whether the focus stops on a control and the order in which the focus moves. Controls that are capable of receiving focus have a </a:t>
            </a:r>
            <a:r>
              <a:rPr lang="en-US" b="1" dirty="0" err="1" smtClean="0">
                <a:latin typeface="Cambria Math" panose="02040503050406030204" pitchFamily="18" charset="0"/>
                <a:ea typeface="Cambria Math" panose="02040503050406030204" pitchFamily="18" charset="0"/>
              </a:rPr>
              <a:t>TabStop</a:t>
            </a:r>
            <a:r>
              <a:rPr lang="en-US" dirty="0" smtClean="0">
                <a:latin typeface="Cambria Math" panose="02040503050406030204" pitchFamily="18" charset="0"/>
                <a:ea typeface="Cambria Math" panose="02040503050406030204" pitchFamily="18" charset="0"/>
              </a:rPr>
              <a:t> property, which you can set to true or false.</a:t>
            </a:r>
          </a:p>
          <a:p>
            <a:r>
              <a:rPr lang="en-US" dirty="0" smtClean="0">
                <a:latin typeface="Cambria Math" panose="02040503050406030204" pitchFamily="18" charset="0"/>
                <a:ea typeface="Cambria Math" panose="02040503050406030204" pitchFamily="18" charset="0"/>
              </a:rPr>
              <a:t>If you do not want the focus to stop on a control when the user presses a Tab key, set the </a:t>
            </a:r>
            <a:r>
              <a:rPr lang="en-US" dirty="0" err="1" smtClean="0">
                <a:latin typeface="Cambria Math" panose="02040503050406030204" pitchFamily="18" charset="0"/>
                <a:ea typeface="Cambria Math" panose="02040503050406030204" pitchFamily="18" charset="0"/>
              </a:rPr>
              <a:t>TabStop</a:t>
            </a:r>
            <a:r>
              <a:rPr lang="en-US" dirty="0" smtClean="0">
                <a:latin typeface="Cambria Math" panose="02040503050406030204" pitchFamily="18" charset="0"/>
                <a:ea typeface="Cambria Math" panose="02040503050406030204" pitchFamily="18" charset="0"/>
              </a:rPr>
              <a:t> property to </a:t>
            </a:r>
            <a:r>
              <a:rPr lang="en-US" b="1" dirty="0" smtClean="0">
                <a:latin typeface="Cambria Math" panose="02040503050406030204" pitchFamily="18" charset="0"/>
                <a:ea typeface="Cambria Math" panose="02040503050406030204" pitchFamily="18" charset="0"/>
              </a:rPr>
              <a:t>False</a:t>
            </a:r>
            <a:r>
              <a:rPr lang="en-US" dirty="0" smtClean="0">
                <a:latin typeface="Cambria Math" panose="02040503050406030204" pitchFamily="18" charset="0"/>
                <a:ea typeface="Cambria Math" panose="02040503050406030204" pitchFamily="18" charset="0"/>
              </a:rPr>
              <a:t>.</a:t>
            </a:r>
          </a:p>
          <a:p>
            <a:r>
              <a:rPr lang="en-US" dirty="0" smtClean="0">
                <a:latin typeface="Cambria Math" panose="02040503050406030204" pitchFamily="18" charset="0"/>
                <a:ea typeface="Cambria Math" panose="02040503050406030204" pitchFamily="18" charset="0"/>
              </a:rPr>
              <a:t>The </a:t>
            </a:r>
            <a:r>
              <a:rPr lang="en-US" b="1" dirty="0" err="1">
                <a:latin typeface="Cambria Math" panose="02040503050406030204" pitchFamily="18" charset="0"/>
                <a:ea typeface="Cambria Math" panose="02040503050406030204" pitchFamily="18" charset="0"/>
              </a:rPr>
              <a:t>T</a:t>
            </a:r>
            <a:r>
              <a:rPr lang="en-US" b="1" dirty="0" err="1" smtClean="0">
                <a:latin typeface="Cambria Math" panose="02040503050406030204" pitchFamily="18" charset="0"/>
                <a:ea typeface="Cambria Math" panose="02040503050406030204" pitchFamily="18" charset="0"/>
              </a:rPr>
              <a:t>abIndex</a:t>
            </a:r>
            <a:r>
              <a:rPr lang="en-US" dirty="0" smtClean="0">
                <a:latin typeface="Cambria Math" panose="02040503050406030204" pitchFamily="18" charset="0"/>
                <a:ea typeface="Cambria Math" panose="02040503050406030204" pitchFamily="18" charset="0"/>
              </a:rPr>
              <a:t> property determines the order the focus moves as the Tab key is pressed. As you create controls on the form, VB assign the </a:t>
            </a:r>
            <a:r>
              <a:rPr lang="en-US" dirty="0" err="1" smtClean="0">
                <a:latin typeface="Cambria Math" panose="02040503050406030204" pitchFamily="18" charset="0"/>
                <a:ea typeface="Cambria Math" panose="02040503050406030204" pitchFamily="18" charset="0"/>
              </a:rPr>
              <a:t>TabIndex</a:t>
            </a:r>
            <a:r>
              <a:rPr lang="en-US" dirty="0" smtClean="0">
                <a:latin typeface="Cambria Math" panose="02040503050406030204" pitchFamily="18" charset="0"/>
                <a:ea typeface="Cambria Math" panose="02040503050406030204" pitchFamily="18" charset="0"/>
              </a:rPr>
              <a:t> property in sequence.</a:t>
            </a:r>
          </a:p>
          <a:p>
            <a:r>
              <a:rPr lang="en-US" dirty="0" smtClean="0">
                <a:latin typeface="Cambria Math" panose="02040503050406030204" pitchFamily="18" charset="0"/>
                <a:ea typeface="Cambria Math" panose="02040503050406030204" pitchFamily="18" charset="0"/>
              </a:rPr>
              <a:t>Most of the time that order is correct, but if you want to tab in some other sequence or if you add controls later, you will need to modify the </a:t>
            </a:r>
            <a:r>
              <a:rPr lang="en-US" dirty="0" err="1" smtClean="0">
                <a:latin typeface="Cambria Math" panose="02040503050406030204" pitchFamily="18" charset="0"/>
                <a:ea typeface="Cambria Math" panose="02040503050406030204" pitchFamily="18" charset="0"/>
              </a:rPr>
              <a:t>TabIndex</a:t>
            </a:r>
            <a:r>
              <a:rPr lang="en-US" dirty="0" smtClean="0">
                <a:latin typeface="Cambria Math" panose="02040503050406030204" pitchFamily="18" charset="0"/>
                <a:ea typeface="Cambria Math" panose="02040503050406030204" pitchFamily="18" charset="0"/>
              </a:rPr>
              <a:t> property of your controls.</a:t>
            </a:r>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748656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5482" y="1355206"/>
            <a:ext cx="10944124" cy="2405063"/>
          </a:xfrm>
        </p:spPr>
        <p:txBody>
          <a:bodyPr>
            <a:normAutofit fontScale="92500" lnSpcReduction="20000"/>
          </a:bodyPr>
          <a:lstStyle/>
          <a:p>
            <a:r>
              <a:rPr lang="en-US" dirty="0" smtClean="0">
                <a:latin typeface="Cambria Math" panose="02040503050406030204" pitchFamily="18" charset="0"/>
                <a:ea typeface="Cambria Math" panose="02040503050406030204" pitchFamily="18" charset="0"/>
              </a:rPr>
              <a:t>When your project runs, the form will appear in the upper-left corner of the screen by default. The easiest way to choose a location for your forms is to use the </a:t>
            </a:r>
            <a:r>
              <a:rPr lang="en-US" b="1" dirty="0" smtClean="0">
                <a:latin typeface="Cambria Math" panose="02040503050406030204" pitchFamily="18" charset="0"/>
                <a:ea typeface="Cambria Math" panose="02040503050406030204" pitchFamily="18" charset="0"/>
              </a:rPr>
              <a:t>form layout window</a:t>
            </a:r>
            <a:r>
              <a:rPr lang="en-US" dirty="0" smtClean="0">
                <a:latin typeface="Cambria Math" panose="02040503050406030204" pitchFamily="18" charset="0"/>
                <a:ea typeface="Cambria Math" panose="02040503050406030204" pitchFamily="18" charset="0"/>
              </a:rPr>
              <a:t>. </a:t>
            </a:r>
          </a:p>
          <a:p>
            <a:r>
              <a:rPr lang="en-US" dirty="0" smtClean="0">
                <a:latin typeface="Cambria Math" panose="02040503050406030204" pitchFamily="18" charset="0"/>
                <a:ea typeface="Cambria Math" panose="02040503050406030204" pitchFamily="18" charset="0"/>
              </a:rPr>
              <a:t>To do this, simply drag the image of the form to the screen location where you want the form to appear.</a:t>
            </a:r>
          </a:p>
          <a:p>
            <a:r>
              <a:rPr lang="en-US" dirty="0" smtClean="0">
                <a:latin typeface="Cambria Math" panose="02040503050406030204" pitchFamily="18" charset="0"/>
                <a:ea typeface="Cambria Math" panose="02040503050406030204" pitchFamily="18" charset="0"/>
              </a:rPr>
              <a:t>You can also set the form’s screen position by setting the </a:t>
            </a:r>
            <a:r>
              <a:rPr lang="en-US" b="1" dirty="0" err="1" smtClean="0">
                <a:latin typeface="Cambria Math" panose="02040503050406030204" pitchFamily="18" charset="0"/>
                <a:ea typeface="Cambria Math" panose="02040503050406030204" pitchFamily="18" charset="0"/>
              </a:rPr>
              <a:t>StartupPosition</a:t>
            </a:r>
            <a:r>
              <a:rPr lang="en-US" dirty="0" smtClean="0">
                <a:latin typeface="Cambria Math" panose="02040503050406030204" pitchFamily="18" charset="0"/>
                <a:ea typeface="Cambria Math" panose="02040503050406030204" pitchFamily="18" charset="0"/>
              </a:rPr>
              <a:t> property of the form.</a:t>
            </a:r>
            <a:endParaRPr lang="en-US" dirty="0">
              <a:latin typeface="Cambria Math" panose="02040503050406030204" pitchFamily="18" charset="0"/>
              <a:ea typeface="Cambria Math" panose="02040503050406030204" pitchFamily="18" charset="0"/>
            </a:endParaRPr>
          </a:p>
        </p:txBody>
      </p:sp>
      <p:sp>
        <p:nvSpPr>
          <p:cNvPr id="6" name="Content Placeholder 2"/>
          <p:cNvSpPr txBox="1">
            <a:spLocks/>
          </p:cNvSpPr>
          <p:nvPr/>
        </p:nvSpPr>
        <p:spPr>
          <a:xfrm>
            <a:off x="385482" y="4651139"/>
            <a:ext cx="10723746" cy="1547643"/>
          </a:xfrm>
          <a:prstGeom prst="rect">
            <a:avLst/>
          </a:prstGeom>
        </p:spPr>
        <p:txBody>
          <a:bodyPr vert="horz" lIns="91440" tIns="45720" rIns="91440" bIns="45720" rtlCol="0">
            <a:normAutofit fontScale="70000" lnSpcReduction="20000"/>
          </a:bodyPr>
          <a:lstStyle>
            <a:lvl1pPr marL="457189" indent="-457189" algn="l" defTabSz="1219170" rtl="0" eaLnBrk="1" latinLnBrk="0" hangingPunct="1">
              <a:spcBef>
                <a:spcPct val="20000"/>
              </a:spcBef>
              <a:buFont typeface="Arial" pitchFamily="34" charset="0"/>
              <a:buChar char="•"/>
              <a:defRPr sz="3733" kern="1200">
                <a:solidFill>
                  <a:srgbClr val="0000CC"/>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rgbClr val="0000CC"/>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rgbClr val="0000CC"/>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rgbClr val="0000CC"/>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rgbClr val="0000CC"/>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dirty="0" smtClean="0">
                <a:latin typeface="Cambria Math" panose="02040503050406030204" pitchFamily="18" charset="0"/>
                <a:ea typeface="Cambria Math" panose="02040503050406030204" pitchFamily="18" charset="0"/>
              </a:rPr>
              <a:t>The small labels that pop up when you pause your pointer over a toolbar button or control is the </a:t>
            </a:r>
            <a:r>
              <a:rPr lang="en-US" b="1" dirty="0" smtClean="0">
                <a:latin typeface="Cambria Math" panose="02040503050406030204" pitchFamily="18" charset="0"/>
                <a:ea typeface="Cambria Math" panose="02040503050406030204" pitchFamily="18" charset="0"/>
              </a:rPr>
              <a:t>Tooltip</a:t>
            </a:r>
            <a:r>
              <a:rPr lang="en-US" dirty="0" smtClean="0">
                <a:latin typeface="Cambria Math" panose="02040503050406030204" pitchFamily="18" charset="0"/>
                <a:ea typeface="Cambria Math" panose="02040503050406030204" pitchFamily="18" charset="0"/>
              </a:rPr>
              <a:t>.</a:t>
            </a:r>
          </a:p>
          <a:p>
            <a:r>
              <a:rPr lang="en-US" dirty="0" smtClean="0">
                <a:latin typeface="Cambria Math" panose="02040503050406030204" pitchFamily="18" charset="0"/>
                <a:ea typeface="Cambria Math" panose="02040503050406030204" pitchFamily="18" charset="0"/>
              </a:rPr>
              <a:t>You can easily add tooltips to your project by setting the </a:t>
            </a:r>
            <a:r>
              <a:rPr lang="en-US" dirty="0" err="1" smtClean="0">
                <a:latin typeface="Cambria Math" panose="02040503050406030204" pitchFamily="18" charset="0"/>
                <a:ea typeface="Cambria Math" panose="02040503050406030204" pitchFamily="18" charset="0"/>
              </a:rPr>
              <a:t>ToolTipText</a:t>
            </a:r>
            <a:r>
              <a:rPr lang="en-US" dirty="0" smtClean="0">
                <a:latin typeface="Cambria Math" panose="02040503050406030204" pitchFamily="18" charset="0"/>
                <a:ea typeface="Cambria Math" panose="02040503050406030204" pitchFamily="18" charset="0"/>
              </a:rPr>
              <a:t> property to any text that you want according to the type of control.</a:t>
            </a:r>
          </a:p>
        </p:txBody>
      </p:sp>
      <p:sp>
        <p:nvSpPr>
          <p:cNvPr id="7" name="Title 1"/>
          <p:cNvSpPr txBox="1">
            <a:spLocks/>
          </p:cNvSpPr>
          <p:nvPr/>
        </p:nvSpPr>
        <p:spPr>
          <a:xfrm>
            <a:off x="3262026" y="3888834"/>
            <a:ext cx="4414681" cy="652569"/>
          </a:xfrm>
          <a:prstGeom prst="rect">
            <a:avLst/>
          </a:prstGeom>
        </p:spPr>
        <p:txBody>
          <a:bodyPr vert="horz" lIns="91440" tIns="45720" rIns="91440" bIns="45720" rtlCol="0" anchor="ctr">
            <a:normAutofit fontScale="92500"/>
          </a:bodyPr>
          <a:lstStyle>
            <a:lvl1pPr algn="l" defTabSz="1219170" rtl="0" eaLnBrk="1" latinLnBrk="0" hangingPunct="1">
              <a:spcBef>
                <a:spcPct val="0"/>
              </a:spcBef>
              <a:buNone/>
              <a:defRPr sz="4800" kern="1200">
                <a:solidFill>
                  <a:srgbClr val="FF0D97"/>
                </a:solidFill>
                <a:effectLst>
                  <a:outerShdw blurRad="50800" dist="38100" dir="2700000" algn="tl" rotWithShape="0">
                    <a:prstClr val="black">
                      <a:alpha val="40000"/>
                    </a:prstClr>
                  </a:outerShdw>
                </a:effectLst>
                <a:latin typeface="+mj-lt"/>
                <a:ea typeface="+mj-ea"/>
                <a:cs typeface="+mj-cs"/>
              </a:defRPr>
            </a:lvl1pPr>
          </a:lstStyle>
          <a:p>
            <a:r>
              <a:rPr lang="en-US" sz="3600" b="1" dirty="0" smtClean="0">
                <a:solidFill>
                  <a:srgbClr val="002060"/>
                </a:solidFill>
                <a:latin typeface="Cambria Math" panose="02040503050406030204" pitchFamily="18" charset="0"/>
                <a:ea typeface="Cambria Math" panose="02040503050406030204" pitchFamily="18" charset="0"/>
              </a:rPr>
              <a:t>4.2.6 Creating Tooltips</a:t>
            </a:r>
            <a:endParaRPr lang="en-US" sz="3600" b="1" dirty="0">
              <a:solidFill>
                <a:srgbClr val="002060"/>
              </a:solidFill>
              <a:latin typeface="Cambria Math" panose="02040503050406030204" pitchFamily="18" charset="0"/>
              <a:ea typeface="Cambria Math" panose="02040503050406030204" pitchFamily="18" charset="0"/>
            </a:endParaRPr>
          </a:p>
        </p:txBody>
      </p:sp>
      <p:sp>
        <p:nvSpPr>
          <p:cNvPr id="8" name="Title 1"/>
          <p:cNvSpPr txBox="1">
            <a:spLocks/>
          </p:cNvSpPr>
          <p:nvPr/>
        </p:nvSpPr>
        <p:spPr>
          <a:xfrm>
            <a:off x="3091905" y="574072"/>
            <a:ext cx="7902160" cy="652569"/>
          </a:xfrm>
          <a:prstGeom prst="rect">
            <a:avLst/>
          </a:prstGeom>
        </p:spPr>
        <p:txBody>
          <a:bodyPr vert="horz" lIns="91440" tIns="45720" rIns="91440" bIns="45720" rtlCol="0" anchor="ctr">
            <a:normAutofit fontScale="92500"/>
          </a:bodyPr>
          <a:lstStyle>
            <a:lvl1pPr algn="l" defTabSz="1219170" rtl="0" eaLnBrk="1" latinLnBrk="0" hangingPunct="1">
              <a:spcBef>
                <a:spcPct val="0"/>
              </a:spcBef>
              <a:buNone/>
              <a:defRPr sz="4800" kern="1200">
                <a:solidFill>
                  <a:srgbClr val="FF0D97"/>
                </a:solidFill>
                <a:effectLst>
                  <a:outerShdw blurRad="50800" dist="38100" dir="2700000" algn="tl" rotWithShape="0">
                    <a:prstClr val="black">
                      <a:alpha val="40000"/>
                    </a:prstClr>
                  </a:outerShdw>
                </a:effectLst>
                <a:latin typeface="+mj-lt"/>
                <a:ea typeface="+mj-ea"/>
                <a:cs typeface="+mj-cs"/>
              </a:defRPr>
            </a:lvl1pPr>
          </a:lstStyle>
          <a:p>
            <a:r>
              <a:rPr lang="en-US" sz="3600" b="1" dirty="0" smtClean="0">
                <a:solidFill>
                  <a:srgbClr val="002060"/>
                </a:solidFill>
                <a:latin typeface="Cambria Math" panose="02040503050406030204" pitchFamily="18" charset="0"/>
                <a:ea typeface="Cambria Math" panose="02040503050406030204" pitchFamily="18" charset="0"/>
              </a:rPr>
              <a:t>4.2.5 Setting the Form Location on Screen</a:t>
            </a:r>
            <a:endParaRPr lang="en-US" sz="3600" b="1" dirty="0">
              <a:solidFill>
                <a:srgbClr val="00206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415224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668234" y="106773"/>
            <a:ext cx="5454501" cy="967132"/>
          </a:xfrm>
        </p:spPr>
        <p:txBody>
          <a:bodyPr>
            <a:normAutofit fontScale="90000"/>
          </a:bodyPr>
          <a:lstStyle/>
          <a:p>
            <a:r>
              <a:rPr lang="en-US" sz="4400" b="1" dirty="0" smtClean="0">
                <a:solidFill>
                  <a:srgbClr val="002060"/>
                </a:solidFill>
                <a:latin typeface="Cambria Math" panose="02040503050406030204" pitchFamily="18" charset="0"/>
                <a:ea typeface="Cambria Math" panose="02040503050406030204" pitchFamily="18" charset="0"/>
              </a:rPr>
              <a:t>4.3 Coding for Controls</a:t>
            </a:r>
            <a:endParaRPr lang="en-US" sz="4400" b="1" dirty="0">
              <a:solidFill>
                <a:srgbClr val="002060"/>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1041992" y="1073905"/>
            <a:ext cx="10209200" cy="5007918"/>
          </a:xfrm>
          <a:solidFill>
            <a:schemeClr val="bg1"/>
          </a:solidFill>
        </p:spPr>
        <p:txBody>
          <a:bodyPr>
            <a:normAutofit fontScale="25000" lnSpcReduction="20000"/>
          </a:bodyPr>
          <a:lstStyle/>
          <a:p>
            <a:r>
              <a:rPr lang="en-US" sz="9600" dirty="0" smtClean="0">
                <a:latin typeface="Cambria Math" panose="02040503050406030204" pitchFamily="18" charset="0"/>
                <a:ea typeface="Cambria Math" panose="02040503050406030204" pitchFamily="18" charset="0"/>
              </a:rPr>
              <a:t>You already know how to set initial properties for controls at design time. </a:t>
            </a:r>
          </a:p>
          <a:p>
            <a:r>
              <a:rPr lang="en-US" sz="9600" dirty="0" smtClean="0">
                <a:latin typeface="Cambria Math" panose="02040503050406030204" pitchFamily="18" charset="0"/>
                <a:ea typeface="Cambria Math" panose="02040503050406030204" pitchFamily="18" charset="0"/>
              </a:rPr>
              <a:t>You may also want to set some properties in the code as your project executes.</a:t>
            </a:r>
          </a:p>
          <a:p>
            <a:r>
              <a:rPr lang="en-US" sz="9600" dirty="0" smtClean="0">
                <a:latin typeface="Cambria Math" panose="02040503050406030204" pitchFamily="18" charset="0"/>
                <a:ea typeface="Cambria Math" panose="02040503050406030204" pitchFamily="18" charset="0"/>
              </a:rPr>
              <a:t>You can do this by clearing out the content of the text boxes and label; reset the focus; and change font attributes such as bold, underline, italic, and even the color of the text.</a:t>
            </a:r>
          </a:p>
          <a:p>
            <a:endParaRPr lang="en-US" sz="9600" dirty="0" smtClean="0">
              <a:latin typeface="Cambria Math" panose="02040503050406030204" pitchFamily="18" charset="0"/>
              <a:ea typeface="Cambria Math" panose="02040503050406030204" pitchFamily="18" charset="0"/>
            </a:endParaRPr>
          </a:p>
          <a:p>
            <a:r>
              <a:rPr lang="en-US" sz="9600" b="1" u="sng" dirty="0" smtClean="0">
                <a:latin typeface="Cambria Math" panose="02040503050406030204" pitchFamily="18" charset="0"/>
                <a:ea typeface="Cambria Math" panose="02040503050406030204" pitchFamily="18" charset="0"/>
              </a:rPr>
              <a:t>Clearing Tex Boxes and Labels</a:t>
            </a:r>
            <a:r>
              <a:rPr lang="en-US" sz="9600" b="1" dirty="0" smtClean="0">
                <a:latin typeface="Cambria Math" panose="02040503050406030204" pitchFamily="18" charset="0"/>
                <a:ea typeface="Cambria Math" panose="02040503050406030204" pitchFamily="18" charset="0"/>
              </a:rPr>
              <a:t>: </a:t>
            </a:r>
            <a:r>
              <a:rPr lang="en-US" sz="9600" dirty="0" smtClean="0">
                <a:latin typeface="Cambria Math" panose="02040503050406030204" pitchFamily="18" charset="0"/>
                <a:ea typeface="Cambria Math" panose="02040503050406030204" pitchFamily="18" charset="0"/>
              </a:rPr>
              <a:t>You can clear out the content of a text box or label by setting the property to an empty string. Use “” (no space between the two quotation marks). This is an empty string called the null string. </a:t>
            </a:r>
          </a:p>
          <a:p>
            <a:pPr marL="533386" lvl="1" indent="0">
              <a:buNone/>
            </a:pPr>
            <a:r>
              <a:rPr lang="en-US" sz="9600" dirty="0" smtClean="0">
                <a:latin typeface="Cambria Math" panose="02040503050406030204" pitchFamily="18" charset="0"/>
                <a:ea typeface="Cambria Math" panose="02040503050406030204" pitchFamily="18" charset="0"/>
              </a:rPr>
              <a:t>Examples: </a:t>
            </a:r>
            <a:r>
              <a:rPr lang="en-US" sz="9600" b="1" dirty="0" err="1" smtClean="0">
                <a:latin typeface="Cambria Math" panose="02040503050406030204" pitchFamily="18" charset="0"/>
                <a:ea typeface="Cambria Math" panose="02040503050406030204" pitchFamily="18" charset="0"/>
              </a:rPr>
              <a:t>txtName.Text</a:t>
            </a:r>
            <a:r>
              <a:rPr lang="en-US" sz="9600" b="1" dirty="0" smtClean="0">
                <a:latin typeface="Cambria Math" panose="02040503050406030204" pitchFamily="18" charset="0"/>
                <a:ea typeface="Cambria Math" panose="02040503050406030204" pitchFamily="18" charset="0"/>
              </a:rPr>
              <a:t> = “”, </a:t>
            </a:r>
            <a:r>
              <a:rPr lang="en-US" sz="9600" b="1" dirty="0" err="1" smtClean="0">
                <a:latin typeface="Cambria Math" panose="02040503050406030204" pitchFamily="18" charset="0"/>
                <a:ea typeface="Cambria Math" panose="02040503050406030204" pitchFamily="18" charset="0"/>
              </a:rPr>
              <a:t>lblMessage.Caption</a:t>
            </a:r>
            <a:r>
              <a:rPr lang="en-US" sz="9600" b="1" dirty="0" smtClean="0">
                <a:latin typeface="Cambria Math" panose="02040503050406030204" pitchFamily="18" charset="0"/>
                <a:ea typeface="Cambria Math" panose="02040503050406030204" pitchFamily="18" charset="0"/>
              </a:rPr>
              <a:t> = “”</a:t>
            </a:r>
          </a:p>
          <a:p>
            <a:pPr marL="533386" lvl="1" indent="0">
              <a:buNone/>
            </a:pPr>
            <a:endParaRPr lang="en-US" sz="9600" b="1" dirty="0" smtClean="0">
              <a:latin typeface="Cambria Math" panose="02040503050406030204" pitchFamily="18" charset="0"/>
              <a:ea typeface="Cambria Math" panose="02040503050406030204" pitchFamily="18" charset="0"/>
            </a:endParaRPr>
          </a:p>
          <a:p>
            <a:r>
              <a:rPr lang="en-US" sz="9600" b="1" u="sng" dirty="0">
                <a:latin typeface="Cambria Math" panose="02040503050406030204" pitchFamily="18" charset="0"/>
                <a:ea typeface="Cambria Math" panose="02040503050406030204" pitchFamily="18" charset="0"/>
              </a:rPr>
              <a:t>Resetting the Focus: </a:t>
            </a:r>
            <a:r>
              <a:rPr lang="en-US" sz="9600" dirty="0">
                <a:latin typeface="Cambria Math" panose="02040503050406030204" pitchFamily="18" charset="0"/>
                <a:ea typeface="Cambria Math" panose="02040503050406030204" pitchFamily="18" charset="0"/>
              </a:rPr>
              <a:t>As your programs runs, you want a insertion point to appear in the text box where the user is expected to type. The focus should begin in the first text box. The </a:t>
            </a:r>
            <a:r>
              <a:rPr lang="en-US" sz="9600" dirty="0" err="1">
                <a:latin typeface="Cambria Math" panose="02040503050406030204" pitchFamily="18" charset="0"/>
                <a:ea typeface="Cambria Math" panose="02040503050406030204" pitchFamily="18" charset="0"/>
              </a:rPr>
              <a:t>SetFocus</a:t>
            </a:r>
            <a:r>
              <a:rPr lang="en-US" sz="9600" dirty="0">
                <a:latin typeface="Cambria Math" panose="02040503050406030204" pitchFamily="18" charset="0"/>
                <a:ea typeface="Cambria Math" panose="02040503050406030204" pitchFamily="18" charset="0"/>
              </a:rPr>
              <a:t> method handles this situation. </a:t>
            </a:r>
          </a:p>
          <a:p>
            <a:pPr marL="533386" lvl="1" indent="0">
              <a:buNone/>
            </a:pPr>
            <a:r>
              <a:rPr lang="en-US" sz="9600" dirty="0">
                <a:latin typeface="Cambria Math" panose="02040503050406030204" pitchFamily="18" charset="0"/>
                <a:ea typeface="Cambria Math" panose="02040503050406030204" pitchFamily="18" charset="0"/>
              </a:rPr>
              <a:t>Example: </a:t>
            </a:r>
            <a:r>
              <a:rPr lang="en-US" sz="9600" b="1" dirty="0" err="1">
                <a:latin typeface="Cambria Math" panose="02040503050406030204" pitchFamily="18" charset="0"/>
                <a:ea typeface="Cambria Math" panose="02040503050406030204" pitchFamily="18" charset="0"/>
              </a:rPr>
              <a:t>txtName.SetFocus</a:t>
            </a:r>
            <a:endParaRPr lang="en-US" sz="9600" b="1" dirty="0">
              <a:latin typeface="Cambria Math" panose="02040503050406030204" pitchFamily="18" charset="0"/>
              <a:ea typeface="Cambria Math" panose="02040503050406030204" pitchFamily="18" charset="0"/>
            </a:endParaRPr>
          </a:p>
          <a:p>
            <a:pPr marL="533386" lvl="1" indent="0">
              <a:buNone/>
            </a:pPr>
            <a:endParaRPr lang="en-US" b="1"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4022522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8941" y="723014"/>
            <a:ext cx="11109840" cy="5560827"/>
          </a:xfrm>
        </p:spPr>
        <p:txBody>
          <a:bodyPr>
            <a:normAutofit fontScale="92500" lnSpcReduction="20000"/>
          </a:bodyPr>
          <a:lstStyle/>
          <a:p>
            <a:r>
              <a:rPr lang="en-US" b="1" u="sng" dirty="0" smtClean="0">
                <a:latin typeface="Cambria Math" panose="02040503050406030204" pitchFamily="18" charset="0"/>
                <a:ea typeface="Cambria Math" panose="02040503050406030204" pitchFamily="18" charset="0"/>
              </a:rPr>
              <a:t>Setting the Value Property of Option Button: </a:t>
            </a:r>
            <a:r>
              <a:rPr lang="en-US" dirty="0" smtClean="0">
                <a:latin typeface="Cambria Math" panose="02040503050406030204" pitchFamily="18" charset="0"/>
                <a:ea typeface="Cambria Math" panose="02040503050406030204" pitchFamily="18" charset="0"/>
              </a:rPr>
              <a:t>The purpose of option buttons is to allow the user to make selections. You can also select or deselect option buttons at design time (to set initial status) or at run time (to respond to an event). to make an option button appear, set its value property to True in the property window. In code, assign True to its Value property.</a:t>
            </a:r>
          </a:p>
          <a:p>
            <a:pPr marL="533386" lvl="1" indent="0">
              <a:buNone/>
            </a:pPr>
            <a:r>
              <a:rPr lang="en-US" dirty="0" smtClean="0">
                <a:latin typeface="Cambria Math" panose="02040503050406030204" pitchFamily="18" charset="0"/>
                <a:ea typeface="Cambria Math" panose="02040503050406030204" pitchFamily="18" charset="0"/>
              </a:rPr>
              <a:t>Example: </a:t>
            </a:r>
            <a:r>
              <a:rPr lang="en-US" b="1" dirty="0" err="1" smtClean="0">
                <a:latin typeface="Cambria Math" panose="02040503050406030204" pitchFamily="18" charset="0"/>
                <a:ea typeface="Cambria Math" panose="02040503050406030204" pitchFamily="18" charset="0"/>
              </a:rPr>
              <a:t>optRed.Value</a:t>
            </a:r>
            <a:r>
              <a:rPr lang="en-US" b="1" dirty="0" smtClean="0">
                <a:latin typeface="Cambria Math" panose="02040503050406030204" pitchFamily="18" charset="0"/>
                <a:ea typeface="Cambria Math" panose="02040503050406030204" pitchFamily="18" charset="0"/>
              </a:rPr>
              <a:t>  = True  </a:t>
            </a:r>
          </a:p>
          <a:p>
            <a:pPr marL="533386" lvl="1" indent="0">
              <a:buNone/>
            </a:pPr>
            <a:endParaRPr lang="en-US" b="1" dirty="0" smtClean="0">
              <a:latin typeface="Cambria Math" panose="02040503050406030204" pitchFamily="18" charset="0"/>
              <a:ea typeface="Cambria Math" panose="02040503050406030204" pitchFamily="18" charset="0"/>
            </a:endParaRPr>
          </a:p>
          <a:p>
            <a:r>
              <a:rPr lang="en-US" b="1" u="sng" dirty="0" smtClean="0">
                <a:latin typeface="Cambria Math" panose="02040503050406030204" pitchFamily="18" charset="0"/>
                <a:ea typeface="Cambria Math" panose="02040503050406030204" pitchFamily="18" charset="0"/>
              </a:rPr>
              <a:t>Setting the Value Property of Check Boxes: </a:t>
            </a:r>
            <a:r>
              <a:rPr lang="en-US" dirty="0" smtClean="0">
                <a:latin typeface="Cambria Math" panose="02040503050406030204" pitchFamily="18" charset="0"/>
                <a:ea typeface="Cambria Math" panose="02040503050406030204" pitchFamily="18" charset="0"/>
              </a:rPr>
              <a:t>For check boxes, the procedure is slightly different, since the value property has three settings; 0 – unchecked, 1 – checked, and 2 – grayed. You can set the initial state by making a selection in the property window. At run time, use the following code statements. </a:t>
            </a:r>
            <a:r>
              <a:rPr lang="en-US" b="1" dirty="0" err="1" smtClean="0">
                <a:latin typeface="Cambria Math" panose="02040503050406030204" pitchFamily="18" charset="0"/>
                <a:ea typeface="Cambria Math" panose="02040503050406030204" pitchFamily="18" charset="0"/>
              </a:rPr>
              <a:t>chkBold.Value</a:t>
            </a:r>
            <a:r>
              <a:rPr lang="en-US" b="1" dirty="0" smtClean="0">
                <a:latin typeface="Cambria Math" panose="02040503050406030204" pitchFamily="18" charset="0"/>
                <a:ea typeface="Cambria Math" panose="02040503050406030204" pitchFamily="18" charset="0"/>
              </a:rPr>
              <a:t> = 1</a:t>
            </a:r>
            <a:r>
              <a:rPr lang="en-US" dirty="0" smtClean="0">
                <a:latin typeface="Cambria Math" panose="02040503050406030204" pitchFamily="18" charset="0"/>
                <a:ea typeface="Cambria Math" panose="02040503050406030204" pitchFamily="18" charset="0"/>
              </a:rPr>
              <a:t>, </a:t>
            </a:r>
            <a:r>
              <a:rPr lang="en-US" b="1" dirty="0" err="1" smtClean="0">
                <a:latin typeface="Cambria Math" panose="02040503050406030204" pitchFamily="18" charset="0"/>
                <a:ea typeface="Cambria Math" panose="02040503050406030204" pitchFamily="18" charset="0"/>
              </a:rPr>
              <a:t>chkItalic</a:t>
            </a:r>
            <a:r>
              <a:rPr lang="en-US" b="1" dirty="0" smtClean="0">
                <a:latin typeface="Cambria Math" panose="02040503050406030204" pitchFamily="18" charset="0"/>
                <a:ea typeface="Cambria Math" panose="02040503050406030204" pitchFamily="18" charset="0"/>
              </a:rPr>
              <a:t> = 0</a:t>
            </a:r>
          </a:p>
          <a:p>
            <a:pPr marL="0" indent="0">
              <a:buNone/>
            </a:pPr>
            <a:endParaRPr lang="en-US" dirty="0" smtClean="0">
              <a:latin typeface="Cambria Math" panose="02040503050406030204" pitchFamily="18" charset="0"/>
              <a:ea typeface="Cambria Math" panose="02040503050406030204" pitchFamily="18" charset="0"/>
            </a:endParaRPr>
          </a:p>
          <a:p>
            <a:pPr marL="0" indent="0">
              <a:buNone/>
            </a:pPr>
            <a:r>
              <a:rPr lang="en-US" dirty="0" smtClean="0">
                <a:latin typeface="Cambria Math" panose="02040503050406030204" pitchFamily="18" charset="0"/>
                <a:ea typeface="Cambria Math" panose="02040503050406030204" pitchFamily="18" charset="0"/>
              </a:rPr>
              <a:t>You can also use the basic constants Checked and Unchecked to set the value property in code. </a:t>
            </a:r>
          </a:p>
          <a:p>
            <a:pPr marL="533386" lvl="1" indent="0">
              <a:buNone/>
            </a:pPr>
            <a:r>
              <a:rPr lang="en-US" b="1" dirty="0" err="1" smtClean="0">
                <a:latin typeface="Cambria Math" panose="02040503050406030204" pitchFamily="18" charset="0"/>
                <a:ea typeface="Cambria Math" panose="02040503050406030204" pitchFamily="18" charset="0"/>
              </a:rPr>
              <a:t>chkBold.Value</a:t>
            </a:r>
            <a:r>
              <a:rPr lang="en-US" b="1" dirty="0" smtClean="0">
                <a:latin typeface="Cambria Math" panose="02040503050406030204" pitchFamily="18" charset="0"/>
                <a:ea typeface="Cambria Math" panose="02040503050406030204" pitchFamily="18" charset="0"/>
              </a:rPr>
              <a:t> </a:t>
            </a:r>
            <a:r>
              <a:rPr lang="en-US" b="1" dirty="0">
                <a:latin typeface="Cambria Math" panose="02040503050406030204" pitchFamily="18" charset="0"/>
                <a:ea typeface="Cambria Math" panose="02040503050406030204" pitchFamily="18" charset="0"/>
              </a:rPr>
              <a:t>= </a:t>
            </a:r>
            <a:r>
              <a:rPr lang="en-US" b="1" dirty="0" smtClean="0">
                <a:latin typeface="Cambria Math" panose="02040503050406030204" pitchFamily="18" charset="0"/>
                <a:ea typeface="Cambria Math" panose="02040503050406030204" pitchFamily="18" charset="0"/>
              </a:rPr>
              <a:t>checked</a:t>
            </a:r>
            <a:r>
              <a:rPr lang="en-US" dirty="0" smtClean="0">
                <a:latin typeface="Cambria Math" panose="02040503050406030204" pitchFamily="18" charset="0"/>
                <a:ea typeface="Cambria Math" panose="02040503050406030204" pitchFamily="18" charset="0"/>
              </a:rPr>
              <a:t>, </a:t>
            </a:r>
            <a:r>
              <a:rPr lang="en-US" b="1" dirty="0" err="1">
                <a:latin typeface="Cambria Math" panose="02040503050406030204" pitchFamily="18" charset="0"/>
                <a:ea typeface="Cambria Math" panose="02040503050406030204" pitchFamily="18" charset="0"/>
              </a:rPr>
              <a:t>chkItalic</a:t>
            </a:r>
            <a:r>
              <a:rPr lang="en-US" b="1" dirty="0">
                <a:latin typeface="Cambria Math" panose="02040503050406030204" pitchFamily="18" charset="0"/>
                <a:ea typeface="Cambria Math" panose="02040503050406030204" pitchFamily="18" charset="0"/>
              </a:rPr>
              <a:t> = </a:t>
            </a:r>
            <a:r>
              <a:rPr lang="en-US" b="1" dirty="0" smtClean="0">
                <a:latin typeface="Cambria Math" panose="02040503050406030204" pitchFamily="18" charset="0"/>
                <a:ea typeface="Cambria Math" panose="02040503050406030204" pitchFamily="18" charset="0"/>
              </a:rPr>
              <a:t>unchecked</a:t>
            </a:r>
            <a:endParaRPr lang="en-US" b="1"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569162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8941" y="761312"/>
            <a:ext cx="11024780" cy="5344213"/>
          </a:xfrm>
        </p:spPr>
        <p:txBody>
          <a:bodyPr>
            <a:normAutofit fontScale="92500"/>
          </a:bodyPr>
          <a:lstStyle/>
          <a:p>
            <a:r>
              <a:rPr lang="en-US" b="1" u="sng" dirty="0" smtClean="0">
                <a:latin typeface="Cambria Math" panose="02040503050406030204" pitchFamily="18" charset="0"/>
                <a:ea typeface="Cambria Math" panose="02040503050406030204" pitchFamily="18" charset="0"/>
              </a:rPr>
              <a:t>Changing the Font property of the properties of controls: </a:t>
            </a:r>
            <a:r>
              <a:rPr lang="en-US" dirty="0" smtClean="0">
                <a:latin typeface="Cambria Math" panose="02040503050406030204" pitchFamily="18" charset="0"/>
                <a:ea typeface="Cambria Math" panose="02040503050406030204" pitchFamily="18" charset="0"/>
              </a:rPr>
              <a:t>To define the initial Font property of controls, selects Font in the Property Window. There you can change the name of the font, size, style and color. You can also change that property while the program is running by setting font property in the code. VB has a special object called </a:t>
            </a:r>
            <a:r>
              <a:rPr lang="en-US" b="1" dirty="0" smtClean="0">
                <a:latin typeface="Cambria Math" panose="02040503050406030204" pitchFamily="18" charset="0"/>
                <a:ea typeface="Cambria Math" panose="02040503050406030204" pitchFamily="18" charset="0"/>
              </a:rPr>
              <a:t>Font Object </a:t>
            </a:r>
            <a:r>
              <a:rPr lang="en-US" dirty="0" smtClean="0">
                <a:latin typeface="Cambria Math" panose="02040503050406030204" pitchFamily="18" charset="0"/>
                <a:ea typeface="Cambria Math" panose="02040503050406030204" pitchFamily="18" charset="0"/>
              </a:rPr>
              <a:t>for this. </a:t>
            </a:r>
          </a:p>
          <a:p>
            <a:pPr marL="533386" lvl="1" indent="0">
              <a:buNone/>
            </a:pPr>
            <a:r>
              <a:rPr lang="en-US" dirty="0" smtClean="0">
                <a:latin typeface="Cambria Math" panose="02040503050406030204" pitchFamily="18" charset="0"/>
                <a:ea typeface="Cambria Math" panose="02040503050406030204" pitchFamily="18" charset="0"/>
              </a:rPr>
              <a:t>Examples:      </a:t>
            </a:r>
          </a:p>
          <a:p>
            <a:pPr marL="533386" lvl="1" indent="0">
              <a:buNone/>
            </a:pPr>
            <a:r>
              <a:rPr lang="en-US" b="1" dirty="0" smtClean="0">
                <a:latin typeface="Cambria Math" panose="02040503050406030204" pitchFamily="18" charset="0"/>
                <a:ea typeface="Cambria Math" panose="02040503050406030204" pitchFamily="18" charset="0"/>
              </a:rPr>
              <a:t>	</a:t>
            </a:r>
            <a:r>
              <a:rPr lang="en-US" b="1" dirty="0" err="1" smtClean="0">
                <a:latin typeface="Cambria Math" panose="02040503050406030204" pitchFamily="18" charset="0"/>
                <a:ea typeface="Cambria Math" panose="02040503050406030204" pitchFamily="18" charset="0"/>
              </a:rPr>
              <a:t>txtName.Font.Bold</a:t>
            </a:r>
            <a:r>
              <a:rPr lang="en-US" b="1" dirty="0" smtClean="0">
                <a:latin typeface="Cambria Math" panose="02040503050406030204" pitchFamily="18" charset="0"/>
                <a:ea typeface="Cambria Math" panose="02040503050406030204" pitchFamily="18" charset="0"/>
              </a:rPr>
              <a:t> = True                    		</a:t>
            </a:r>
            <a:r>
              <a:rPr lang="en-US" b="1" dirty="0" err="1" smtClean="0">
                <a:latin typeface="Cambria Math" panose="02040503050406030204" pitchFamily="18" charset="0"/>
                <a:ea typeface="Cambria Math" panose="02040503050406030204" pitchFamily="18" charset="0"/>
              </a:rPr>
              <a:t>lblMessage.Font.Size</a:t>
            </a:r>
            <a:r>
              <a:rPr lang="en-US" b="1" dirty="0" smtClean="0">
                <a:latin typeface="Cambria Math" panose="02040503050406030204" pitchFamily="18" charset="0"/>
                <a:ea typeface="Cambria Math" panose="02040503050406030204" pitchFamily="18" charset="0"/>
              </a:rPr>
              <a:t> = 12</a:t>
            </a:r>
          </a:p>
          <a:p>
            <a:pPr marL="533386" lvl="1" indent="0">
              <a:buNone/>
            </a:pPr>
            <a:r>
              <a:rPr lang="en-US" b="1" dirty="0" smtClean="0">
                <a:latin typeface="Cambria Math" panose="02040503050406030204" pitchFamily="18" charset="0"/>
                <a:ea typeface="Cambria Math" panose="02040503050406030204" pitchFamily="18" charset="0"/>
              </a:rPr>
              <a:t>	</a:t>
            </a:r>
            <a:r>
              <a:rPr lang="en-US" b="1" dirty="0" err="1" smtClean="0">
                <a:latin typeface="Cambria Math" panose="02040503050406030204" pitchFamily="18" charset="0"/>
                <a:ea typeface="Cambria Math" panose="02040503050406030204" pitchFamily="18" charset="0"/>
              </a:rPr>
              <a:t>lblTitle.Italic</a:t>
            </a:r>
            <a:r>
              <a:rPr lang="en-US" b="1" dirty="0" smtClean="0">
                <a:latin typeface="Cambria Math" panose="02040503050406030204" pitchFamily="18" charset="0"/>
                <a:ea typeface="Cambria Math" panose="02040503050406030204" pitchFamily="18" charset="0"/>
              </a:rPr>
              <a:t> = True</a:t>
            </a:r>
          </a:p>
          <a:p>
            <a:pPr marL="533386" lvl="1" indent="0">
              <a:buNone/>
            </a:pPr>
            <a:endParaRPr lang="en-US" b="1" dirty="0" smtClean="0">
              <a:latin typeface="Cambria Math" panose="02040503050406030204" pitchFamily="18" charset="0"/>
              <a:ea typeface="Cambria Math" panose="02040503050406030204" pitchFamily="18" charset="0"/>
            </a:endParaRPr>
          </a:p>
          <a:p>
            <a:r>
              <a:rPr lang="en-US" b="1" u="sng" dirty="0" smtClean="0">
                <a:latin typeface="Cambria Math" panose="02040503050406030204" pitchFamily="18" charset="0"/>
                <a:ea typeface="Cambria Math" panose="02040503050406030204" pitchFamily="18" charset="0"/>
              </a:rPr>
              <a:t>Changing Color of Text: </a:t>
            </a:r>
            <a:r>
              <a:rPr lang="en-US" dirty="0" smtClean="0">
                <a:latin typeface="Cambria Math" panose="02040503050406030204" pitchFamily="18" charset="0"/>
                <a:ea typeface="Cambria Math" panose="02040503050406030204" pitchFamily="18" charset="0"/>
              </a:rPr>
              <a:t>You can change the color of the text by changing the font color property of a control. Most controls has a fore-color and a background property. The fore-color property change the color of the text, the back color property controls the color around the text. </a:t>
            </a:r>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865741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3765" y="726597"/>
            <a:ext cx="11196481" cy="5695468"/>
          </a:xfrm>
        </p:spPr>
        <p:txBody>
          <a:bodyPr>
            <a:noAutofit/>
          </a:bodyPr>
          <a:lstStyle/>
          <a:p>
            <a:r>
              <a:rPr lang="en-US" sz="2000" b="1" u="sng" dirty="0" smtClean="0">
                <a:latin typeface="Cambria Math" panose="02040503050406030204" pitchFamily="18" charset="0"/>
                <a:ea typeface="Cambria Math" panose="02040503050406030204" pitchFamily="18" charset="0"/>
              </a:rPr>
              <a:t>The Color Constants:</a:t>
            </a:r>
            <a:r>
              <a:rPr lang="en-US" sz="2000" dirty="0" smtClean="0">
                <a:latin typeface="Cambria Math" panose="02040503050406030204" pitchFamily="18" charset="0"/>
                <a:ea typeface="Cambria Math" panose="02040503050406030204" pitchFamily="18" charset="0"/>
              </a:rPr>
              <a:t> VB provides an easy way to specify some of the most used colors. The eight Color Constants are: </a:t>
            </a:r>
            <a:r>
              <a:rPr lang="en-US" sz="2000" dirty="0" err="1" smtClean="0">
                <a:latin typeface="Cambria Math" panose="02040503050406030204" pitchFamily="18" charset="0"/>
                <a:ea typeface="Cambria Math" panose="02040503050406030204" pitchFamily="18" charset="0"/>
              </a:rPr>
              <a:t>vbBlack</a:t>
            </a:r>
            <a:r>
              <a:rPr lang="en-US" sz="2000" dirty="0" smtClean="0">
                <a:latin typeface="Cambria Math" panose="02040503050406030204" pitchFamily="18" charset="0"/>
                <a:ea typeface="Cambria Math" panose="02040503050406030204" pitchFamily="18" charset="0"/>
              </a:rPr>
              <a:t>, </a:t>
            </a:r>
            <a:r>
              <a:rPr lang="en-US" sz="2000" dirty="0" err="1" smtClean="0">
                <a:latin typeface="Cambria Math" panose="02040503050406030204" pitchFamily="18" charset="0"/>
                <a:ea typeface="Cambria Math" panose="02040503050406030204" pitchFamily="18" charset="0"/>
              </a:rPr>
              <a:t>vbRed</a:t>
            </a:r>
            <a:r>
              <a:rPr lang="en-US" sz="2000" dirty="0" smtClean="0">
                <a:latin typeface="Cambria Math" panose="02040503050406030204" pitchFamily="18" charset="0"/>
                <a:ea typeface="Cambria Math" panose="02040503050406030204" pitchFamily="18" charset="0"/>
              </a:rPr>
              <a:t>, </a:t>
            </a:r>
            <a:r>
              <a:rPr lang="en-US" sz="2000" dirty="0" err="1" smtClean="0">
                <a:latin typeface="Cambria Math" panose="02040503050406030204" pitchFamily="18" charset="0"/>
                <a:ea typeface="Cambria Math" panose="02040503050406030204" pitchFamily="18" charset="0"/>
              </a:rPr>
              <a:t>vbGreen</a:t>
            </a:r>
            <a:r>
              <a:rPr lang="en-US" sz="2000" dirty="0" smtClean="0">
                <a:latin typeface="Cambria Math" panose="02040503050406030204" pitchFamily="18" charset="0"/>
                <a:ea typeface="Cambria Math" panose="02040503050406030204" pitchFamily="18" charset="0"/>
              </a:rPr>
              <a:t>, </a:t>
            </a:r>
            <a:r>
              <a:rPr lang="en-US" sz="2000" dirty="0" err="1" smtClean="0">
                <a:latin typeface="Cambria Math" panose="02040503050406030204" pitchFamily="18" charset="0"/>
                <a:ea typeface="Cambria Math" panose="02040503050406030204" pitchFamily="18" charset="0"/>
              </a:rPr>
              <a:t>vbBlue</a:t>
            </a:r>
            <a:r>
              <a:rPr lang="en-US" sz="2000" dirty="0" smtClean="0">
                <a:latin typeface="Cambria Math" panose="02040503050406030204" pitchFamily="18" charset="0"/>
                <a:ea typeface="Cambria Math" panose="02040503050406030204" pitchFamily="18" charset="0"/>
              </a:rPr>
              <a:t>, </a:t>
            </a:r>
            <a:r>
              <a:rPr lang="en-US" sz="2000" dirty="0" err="1" smtClean="0">
                <a:latin typeface="Cambria Math" panose="02040503050406030204" pitchFamily="18" charset="0"/>
                <a:ea typeface="Cambria Math" panose="02040503050406030204" pitchFamily="18" charset="0"/>
              </a:rPr>
              <a:t>vbMagenta</a:t>
            </a:r>
            <a:r>
              <a:rPr lang="en-US" sz="2000" dirty="0" smtClean="0">
                <a:latin typeface="Cambria Math" panose="02040503050406030204" pitchFamily="18" charset="0"/>
                <a:ea typeface="Cambria Math" panose="02040503050406030204" pitchFamily="18" charset="0"/>
              </a:rPr>
              <a:t>, </a:t>
            </a:r>
            <a:r>
              <a:rPr lang="en-US" sz="2000" dirty="0" err="1" smtClean="0">
                <a:latin typeface="Cambria Math" panose="02040503050406030204" pitchFamily="18" charset="0"/>
                <a:ea typeface="Cambria Math" panose="02040503050406030204" pitchFamily="18" charset="0"/>
              </a:rPr>
              <a:t>vbCyan</a:t>
            </a:r>
            <a:r>
              <a:rPr lang="en-US" sz="2000" dirty="0" smtClean="0">
                <a:latin typeface="Cambria Math" panose="02040503050406030204" pitchFamily="18" charset="0"/>
                <a:ea typeface="Cambria Math" panose="02040503050406030204" pitchFamily="18" charset="0"/>
              </a:rPr>
              <a:t>, </a:t>
            </a:r>
            <a:r>
              <a:rPr lang="en-US" sz="2000" dirty="0" err="1" smtClean="0">
                <a:latin typeface="Cambria Math" panose="02040503050406030204" pitchFamily="18" charset="0"/>
                <a:ea typeface="Cambria Math" panose="02040503050406030204" pitchFamily="18" charset="0"/>
              </a:rPr>
              <a:t>vbWhite</a:t>
            </a:r>
            <a:r>
              <a:rPr lang="en-US" sz="2000" dirty="0" smtClean="0">
                <a:latin typeface="Cambria Math" panose="02040503050406030204" pitchFamily="18" charset="0"/>
                <a:ea typeface="Cambria Math" panose="02040503050406030204" pitchFamily="18" charset="0"/>
              </a:rPr>
              <a:t> and </a:t>
            </a:r>
            <a:r>
              <a:rPr lang="en-US" sz="2000" dirty="0" err="1" smtClean="0">
                <a:latin typeface="Cambria Math" panose="02040503050406030204" pitchFamily="18" charset="0"/>
                <a:ea typeface="Cambria Math" panose="02040503050406030204" pitchFamily="18" charset="0"/>
              </a:rPr>
              <a:t>vbYellow</a:t>
            </a:r>
            <a:r>
              <a:rPr lang="en-US" sz="2000" dirty="0" smtClean="0">
                <a:latin typeface="Cambria Math" panose="02040503050406030204" pitchFamily="18" charset="0"/>
                <a:ea typeface="Cambria Math" panose="02040503050406030204" pitchFamily="18" charset="0"/>
              </a:rPr>
              <a:t>. </a:t>
            </a:r>
          </a:p>
          <a:p>
            <a:pPr marL="533386" lvl="1" indent="0">
              <a:buNone/>
            </a:pPr>
            <a:r>
              <a:rPr lang="en-US" sz="2000" dirty="0" smtClean="0">
                <a:latin typeface="Cambria Math" panose="02040503050406030204" pitchFamily="18" charset="0"/>
                <a:ea typeface="Cambria Math" panose="02040503050406030204" pitchFamily="18" charset="0"/>
              </a:rPr>
              <a:t>Example: </a:t>
            </a:r>
            <a:r>
              <a:rPr lang="en-US" sz="2000" b="1" dirty="0" err="1" smtClean="0">
                <a:latin typeface="Cambria Math" panose="02040503050406030204" pitchFamily="18" charset="0"/>
                <a:ea typeface="Cambria Math" panose="02040503050406030204" pitchFamily="18" charset="0"/>
              </a:rPr>
              <a:t>txtName.ForeColor</a:t>
            </a:r>
            <a:r>
              <a:rPr lang="en-US" sz="2000" b="1" dirty="0" smtClean="0">
                <a:latin typeface="Cambria Math" panose="02040503050406030204" pitchFamily="18" charset="0"/>
                <a:ea typeface="Cambria Math" panose="02040503050406030204" pitchFamily="18" charset="0"/>
              </a:rPr>
              <a:t> = </a:t>
            </a:r>
            <a:r>
              <a:rPr lang="en-US" sz="2000" b="1" dirty="0" err="1" smtClean="0">
                <a:latin typeface="Cambria Math" panose="02040503050406030204" pitchFamily="18" charset="0"/>
                <a:ea typeface="Cambria Math" panose="02040503050406030204" pitchFamily="18" charset="0"/>
              </a:rPr>
              <a:t>vbRed</a:t>
            </a:r>
            <a:r>
              <a:rPr lang="en-US" sz="2000" b="1" dirty="0" smtClean="0">
                <a:latin typeface="Cambria Math" panose="02040503050406030204" pitchFamily="18" charset="0"/>
                <a:ea typeface="Cambria Math" panose="02040503050406030204" pitchFamily="18" charset="0"/>
              </a:rPr>
              <a:t>, </a:t>
            </a:r>
            <a:r>
              <a:rPr lang="en-US" sz="2000" b="1" dirty="0" err="1" smtClean="0">
                <a:latin typeface="Cambria Math" panose="02040503050406030204" pitchFamily="18" charset="0"/>
                <a:ea typeface="Cambria Math" panose="02040503050406030204" pitchFamily="18" charset="0"/>
              </a:rPr>
              <a:t>lblMessage.ForeColor</a:t>
            </a:r>
            <a:r>
              <a:rPr lang="en-US" sz="2000" b="1" dirty="0" smtClean="0">
                <a:latin typeface="Cambria Math" panose="02040503050406030204" pitchFamily="18" charset="0"/>
                <a:ea typeface="Cambria Math" panose="02040503050406030204" pitchFamily="18" charset="0"/>
              </a:rPr>
              <a:t> = </a:t>
            </a:r>
            <a:r>
              <a:rPr lang="en-US" sz="2000" b="1" dirty="0" err="1" smtClean="0">
                <a:latin typeface="Cambria Math" panose="02040503050406030204" pitchFamily="18" charset="0"/>
                <a:ea typeface="Cambria Math" panose="02040503050406030204" pitchFamily="18" charset="0"/>
              </a:rPr>
              <a:t>vbWhite</a:t>
            </a:r>
            <a:endParaRPr lang="en-US" sz="2000" b="1" dirty="0" smtClean="0">
              <a:latin typeface="Cambria Math" panose="02040503050406030204" pitchFamily="18" charset="0"/>
              <a:ea typeface="Cambria Math" panose="02040503050406030204" pitchFamily="18" charset="0"/>
            </a:endParaRPr>
          </a:p>
          <a:p>
            <a:pPr marL="533386" lvl="1" indent="0">
              <a:buNone/>
            </a:pPr>
            <a:endParaRPr lang="en-US" sz="2000" b="1" dirty="0" smtClean="0">
              <a:latin typeface="Cambria Math" panose="02040503050406030204" pitchFamily="18" charset="0"/>
              <a:ea typeface="Cambria Math" panose="02040503050406030204" pitchFamily="18" charset="0"/>
            </a:endParaRPr>
          </a:p>
          <a:p>
            <a:r>
              <a:rPr lang="en-US" sz="2000" b="1" u="sng" dirty="0" smtClean="0">
                <a:latin typeface="Cambria Math" panose="02040503050406030204" pitchFamily="18" charset="0"/>
                <a:ea typeface="Cambria Math" panose="02040503050406030204" pitchFamily="18" charset="0"/>
              </a:rPr>
              <a:t>Changing Multiple Properties of a Control:</a:t>
            </a:r>
            <a:r>
              <a:rPr lang="en-US" sz="2000" dirty="0" smtClean="0">
                <a:latin typeface="Cambria Math" panose="02040503050406030204" pitchFamily="18" charset="0"/>
                <a:ea typeface="Cambria Math" panose="02040503050406030204" pitchFamily="18" charset="0"/>
              </a:rPr>
              <a:t> By now you can see that there are times when you want to change several properties of a </a:t>
            </a:r>
            <a:r>
              <a:rPr lang="en-US" sz="2000" dirty="0" err="1" smtClean="0">
                <a:latin typeface="Cambria Math" panose="02040503050406030204" pitchFamily="18" charset="0"/>
                <a:ea typeface="Cambria Math" panose="02040503050406030204" pitchFamily="18" charset="0"/>
              </a:rPr>
              <a:t>songle</a:t>
            </a:r>
            <a:r>
              <a:rPr lang="en-US" sz="2000" dirty="0" smtClean="0">
                <a:latin typeface="Cambria Math" panose="02040503050406030204" pitchFamily="18" charset="0"/>
                <a:ea typeface="Cambria Math" panose="02040503050406030204" pitchFamily="18" charset="0"/>
              </a:rPr>
              <a:t> control. Example: </a:t>
            </a:r>
          </a:p>
          <a:p>
            <a:pPr marL="1066773" lvl="2" indent="0">
              <a:buNone/>
            </a:pPr>
            <a:r>
              <a:rPr lang="en-US" sz="2000" dirty="0" err="1" smtClean="0">
                <a:latin typeface="Cambria Math" panose="02040503050406030204" pitchFamily="18" charset="0"/>
                <a:ea typeface="Cambria Math" panose="02040503050406030204" pitchFamily="18" charset="0"/>
              </a:rPr>
              <a:t>txtTitle.Visible</a:t>
            </a:r>
            <a:r>
              <a:rPr lang="en-US" sz="2000" dirty="0" smtClean="0">
                <a:latin typeface="Cambria Math" panose="02040503050406030204" pitchFamily="18" charset="0"/>
                <a:ea typeface="Cambria Math" panose="02040503050406030204" pitchFamily="18" charset="0"/>
              </a:rPr>
              <a:t> = True</a:t>
            </a:r>
          </a:p>
          <a:p>
            <a:pPr marL="1066773" lvl="2" indent="0">
              <a:buNone/>
            </a:pPr>
            <a:r>
              <a:rPr lang="en-US" sz="2000" dirty="0" err="1" smtClean="0">
                <a:latin typeface="Cambria Math" panose="02040503050406030204" pitchFamily="18" charset="0"/>
                <a:ea typeface="Cambria Math" panose="02040503050406030204" pitchFamily="18" charset="0"/>
              </a:rPr>
              <a:t>txtTitle.ForeColor</a:t>
            </a:r>
            <a:r>
              <a:rPr lang="en-US" sz="2000" dirty="0" smtClean="0">
                <a:latin typeface="Cambria Math" panose="02040503050406030204" pitchFamily="18" charset="0"/>
                <a:ea typeface="Cambria Math" panose="02040503050406030204" pitchFamily="18" charset="0"/>
              </a:rPr>
              <a:t> = </a:t>
            </a:r>
            <a:r>
              <a:rPr lang="en-US" sz="2000" dirty="0" err="1" smtClean="0">
                <a:latin typeface="Cambria Math" panose="02040503050406030204" pitchFamily="18" charset="0"/>
                <a:ea typeface="Cambria Math" panose="02040503050406030204" pitchFamily="18" charset="0"/>
              </a:rPr>
              <a:t>vbWhite</a:t>
            </a:r>
            <a:r>
              <a:rPr lang="en-US" sz="2000" dirty="0" smtClean="0">
                <a:latin typeface="Cambria Math" panose="02040503050406030204" pitchFamily="18" charset="0"/>
                <a:ea typeface="Cambria Math" panose="02040503050406030204" pitchFamily="18" charset="0"/>
              </a:rPr>
              <a:t> </a:t>
            </a:r>
          </a:p>
          <a:p>
            <a:pPr marL="1066773" lvl="2" indent="0">
              <a:buNone/>
            </a:pPr>
            <a:r>
              <a:rPr lang="en-US" sz="2000" dirty="0" err="1" smtClean="0">
                <a:latin typeface="Cambria Math" panose="02040503050406030204" pitchFamily="18" charset="0"/>
                <a:ea typeface="Cambria Math" panose="02040503050406030204" pitchFamily="18" charset="0"/>
              </a:rPr>
              <a:t>txtTitle.Font.Bold</a:t>
            </a:r>
            <a:r>
              <a:rPr lang="en-US" sz="2000" dirty="0">
                <a:latin typeface="Cambria Math" panose="02040503050406030204" pitchFamily="18" charset="0"/>
                <a:ea typeface="Cambria Math" panose="02040503050406030204" pitchFamily="18" charset="0"/>
              </a:rPr>
              <a:t> </a:t>
            </a:r>
            <a:r>
              <a:rPr lang="en-US" sz="2000" dirty="0" smtClean="0">
                <a:latin typeface="Cambria Math" panose="02040503050406030204" pitchFamily="18" charset="0"/>
                <a:ea typeface="Cambria Math" panose="02040503050406030204" pitchFamily="18" charset="0"/>
              </a:rPr>
              <a:t>= True</a:t>
            </a:r>
          </a:p>
          <a:p>
            <a:pPr marL="1066773" lvl="2" indent="0">
              <a:buNone/>
            </a:pPr>
            <a:r>
              <a:rPr lang="en-US" sz="2000" dirty="0" err="1" smtClean="0">
                <a:latin typeface="Cambria Math" panose="02040503050406030204" pitchFamily="18" charset="0"/>
                <a:ea typeface="Cambria Math" panose="02040503050406030204" pitchFamily="18" charset="0"/>
              </a:rPr>
              <a:t>txtTitle.Font.Italic</a:t>
            </a:r>
            <a:r>
              <a:rPr lang="en-US" sz="2000" dirty="0" smtClean="0">
                <a:latin typeface="Cambria Math" panose="02040503050406030204" pitchFamily="18" charset="0"/>
                <a:ea typeface="Cambria Math" panose="02040503050406030204" pitchFamily="18" charset="0"/>
              </a:rPr>
              <a:t> = True </a:t>
            </a:r>
          </a:p>
          <a:p>
            <a:pPr marL="1066773" lvl="2" indent="0">
              <a:buNone/>
            </a:pPr>
            <a:r>
              <a:rPr lang="en-US" sz="2000" dirty="0" err="1" smtClean="0">
                <a:latin typeface="Cambria Math" panose="02040503050406030204" pitchFamily="18" charset="0"/>
                <a:ea typeface="Cambria Math" panose="02040503050406030204" pitchFamily="18" charset="0"/>
              </a:rPr>
              <a:t>txtTitle.SetFocus</a:t>
            </a:r>
            <a:r>
              <a:rPr lang="en-US" sz="2000" dirty="0" smtClean="0">
                <a:latin typeface="Cambria Math" panose="02040503050406030204" pitchFamily="18" charset="0"/>
                <a:ea typeface="Cambria Math" panose="02040503050406030204" pitchFamily="18" charset="0"/>
              </a:rPr>
              <a:t>  </a:t>
            </a:r>
          </a:p>
          <a:p>
            <a:pPr marL="0" indent="0">
              <a:buNone/>
            </a:pPr>
            <a:r>
              <a:rPr lang="en-US" sz="2000" dirty="0" smtClean="0">
                <a:latin typeface="Cambria Math" panose="02040503050406030204" pitchFamily="18" charset="0"/>
                <a:ea typeface="Cambria Math" panose="02040503050406030204" pitchFamily="18" charset="0"/>
              </a:rPr>
              <a:t>You can still do that. VB provides a statement to make this task easier – the </a:t>
            </a:r>
            <a:r>
              <a:rPr lang="en-US" sz="2000" b="1" dirty="0" smtClean="0">
                <a:latin typeface="Cambria Math" panose="02040503050406030204" pitchFamily="18" charset="0"/>
                <a:ea typeface="Cambria Math" panose="02040503050406030204" pitchFamily="18" charset="0"/>
              </a:rPr>
              <a:t>With</a:t>
            </a:r>
            <a:r>
              <a:rPr lang="en-US" sz="2000" dirty="0" smtClean="0">
                <a:latin typeface="Cambria Math" panose="02040503050406030204" pitchFamily="18" charset="0"/>
                <a:ea typeface="Cambria Math" panose="02040503050406030204" pitchFamily="18" charset="0"/>
              </a:rPr>
              <a:t> and </a:t>
            </a:r>
            <a:r>
              <a:rPr lang="en-US" sz="2000" b="1" dirty="0" smtClean="0">
                <a:latin typeface="Cambria Math" panose="02040503050406030204" pitchFamily="18" charset="0"/>
                <a:ea typeface="Cambria Math" panose="02040503050406030204" pitchFamily="18" charset="0"/>
              </a:rPr>
              <a:t>End With </a:t>
            </a:r>
            <a:r>
              <a:rPr lang="en-US" sz="2000" dirty="0" smtClean="0">
                <a:latin typeface="Cambria Math" panose="02040503050406030204" pitchFamily="18" charset="0"/>
                <a:ea typeface="Cambria Math" panose="02040503050406030204" pitchFamily="18" charset="0"/>
              </a:rPr>
              <a:t>statement.</a:t>
            </a:r>
            <a:endParaRPr lang="en-US" sz="20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473224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84521" y="1322429"/>
            <a:ext cx="6453963" cy="5216594"/>
          </a:xfrm>
          <a:solidFill>
            <a:schemeClr val="bg1"/>
          </a:solidFill>
        </p:spPr>
        <p:txBody>
          <a:bodyPr>
            <a:noAutofit/>
          </a:bodyPr>
          <a:lstStyle/>
          <a:p>
            <a:pPr marL="1676358" lvl="3" indent="0">
              <a:buNone/>
            </a:pPr>
            <a:r>
              <a:rPr lang="en-US" sz="2000" b="1" dirty="0" smtClean="0">
                <a:latin typeface="Cambria Math" panose="02040503050406030204" pitchFamily="18" charset="0"/>
                <a:ea typeface="Cambria Math" panose="02040503050406030204" pitchFamily="18" charset="0"/>
              </a:rPr>
              <a:t>With </a:t>
            </a:r>
            <a:r>
              <a:rPr lang="en-US" sz="2000" b="1" dirty="0" err="1" smtClean="0">
                <a:latin typeface="Cambria Math" panose="02040503050406030204" pitchFamily="18" charset="0"/>
                <a:ea typeface="Cambria Math" panose="02040503050406030204" pitchFamily="18" charset="0"/>
              </a:rPr>
              <a:t>ObjectName</a:t>
            </a:r>
            <a:r>
              <a:rPr lang="en-US" sz="2000" b="1" dirty="0" smtClean="0">
                <a:latin typeface="Cambria Math" panose="02040503050406030204" pitchFamily="18" charset="0"/>
                <a:ea typeface="Cambria Math" panose="02040503050406030204" pitchFamily="18" charset="0"/>
              </a:rPr>
              <a:t> </a:t>
            </a:r>
          </a:p>
          <a:p>
            <a:pPr marL="1676358" lvl="3" indent="0">
              <a:buNone/>
            </a:pPr>
            <a:r>
              <a:rPr lang="en-US" sz="2000" b="1" dirty="0" smtClean="0">
                <a:latin typeface="Cambria Math" panose="02040503050406030204" pitchFamily="18" charset="0"/>
                <a:ea typeface="Cambria Math" panose="02040503050406030204" pitchFamily="18" charset="0"/>
              </a:rPr>
              <a:t>	Statement(s)</a:t>
            </a:r>
          </a:p>
          <a:p>
            <a:pPr marL="1676358" lvl="3" indent="0">
              <a:buNone/>
            </a:pPr>
            <a:r>
              <a:rPr lang="en-US" sz="2000" b="1" dirty="0" smtClean="0">
                <a:latin typeface="Cambria Math" panose="02040503050406030204" pitchFamily="18" charset="0"/>
                <a:ea typeface="Cambria Math" panose="02040503050406030204" pitchFamily="18" charset="0"/>
              </a:rPr>
              <a:t>End With </a:t>
            </a:r>
          </a:p>
          <a:p>
            <a:pPr marL="1676358" lvl="3" indent="0">
              <a:buNone/>
            </a:pPr>
            <a:endParaRPr lang="en-US" sz="2000" b="1" dirty="0" smtClean="0">
              <a:latin typeface="Cambria Math" panose="02040503050406030204" pitchFamily="18" charset="0"/>
              <a:ea typeface="Cambria Math" panose="02040503050406030204" pitchFamily="18" charset="0"/>
            </a:endParaRPr>
          </a:p>
          <a:p>
            <a:r>
              <a:rPr lang="en-US" sz="2000" dirty="0" smtClean="0">
                <a:latin typeface="Cambria Math" panose="02040503050406030204" pitchFamily="18" charset="0"/>
                <a:ea typeface="Cambria Math" panose="02040503050406030204" pitchFamily="18" charset="0"/>
              </a:rPr>
              <a:t>You specify an object name in the </a:t>
            </a:r>
            <a:r>
              <a:rPr lang="en-US" sz="2000" b="1" dirty="0" smtClean="0">
                <a:latin typeface="Cambria Math" panose="02040503050406030204" pitchFamily="18" charset="0"/>
                <a:ea typeface="Cambria Math" panose="02040503050406030204" pitchFamily="18" charset="0"/>
              </a:rPr>
              <a:t>With</a:t>
            </a:r>
            <a:r>
              <a:rPr lang="en-US" sz="2000" dirty="0" smtClean="0">
                <a:latin typeface="Cambria Math" panose="02040503050406030204" pitchFamily="18" charset="0"/>
                <a:ea typeface="Cambria Math" panose="02040503050406030204" pitchFamily="18" charset="0"/>
              </a:rPr>
              <a:t> statement. All subsequent statement until the </a:t>
            </a:r>
            <a:r>
              <a:rPr lang="en-US" sz="2000" b="1" dirty="0" smtClean="0">
                <a:latin typeface="Cambria Math" panose="02040503050406030204" pitchFamily="18" charset="0"/>
                <a:ea typeface="Cambria Math" panose="02040503050406030204" pitchFamily="18" charset="0"/>
              </a:rPr>
              <a:t>End With </a:t>
            </a:r>
            <a:r>
              <a:rPr lang="en-US" sz="2000" dirty="0" smtClean="0">
                <a:latin typeface="Cambria Math" panose="02040503050406030204" pitchFamily="18" charset="0"/>
                <a:ea typeface="Cambria Math" panose="02040503050406030204" pitchFamily="18" charset="0"/>
              </a:rPr>
              <a:t>relates to that object.</a:t>
            </a:r>
          </a:p>
          <a:p>
            <a:pPr marL="0" indent="0">
              <a:buNone/>
            </a:pPr>
            <a:r>
              <a:rPr lang="en-US" sz="2000" dirty="0" smtClean="0">
                <a:latin typeface="Cambria Math" panose="02040503050406030204" pitchFamily="18" charset="0"/>
                <a:ea typeface="Cambria Math" panose="02040503050406030204" pitchFamily="18" charset="0"/>
              </a:rPr>
              <a:t>	Example: </a:t>
            </a:r>
          </a:p>
          <a:p>
            <a:pPr marL="1676358" lvl="3" indent="0">
              <a:buNone/>
            </a:pPr>
            <a:r>
              <a:rPr lang="en-US" sz="2000" dirty="0" smtClean="0">
                <a:latin typeface="Cambria Math" panose="02040503050406030204" pitchFamily="18" charset="0"/>
                <a:ea typeface="Cambria Math" panose="02040503050406030204" pitchFamily="18" charset="0"/>
              </a:rPr>
              <a:t>With </a:t>
            </a:r>
            <a:r>
              <a:rPr lang="en-US" sz="2000" dirty="0" err="1" smtClean="0">
                <a:latin typeface="Cambria Math" panose="02040503050406030204" pitchFamily="18" charset="0"/>
                <a:ea typeface="Cambria Math" panose="02040503050406030204" pitchFamily="18" charset="0"/>
              </a:rPr>
              <a:t>txtTitle</a:t>
            </a:r>
            <a:endParaRPr lang="en-US" sz="2000" dirty="0" smtClean="0">
              <a:latin typeface="Cambria Math" panose="02040503050406030204" pitchFamily="18" charset="0"/>
              <a:ea typeface="Cambria Math" panose="02040503050406030204" pitchFamily="18" charset="0"/>
            </a:endParaRPr>
          </a:p>
          <a:p>
            <a:pPr marL="2285942" lvl="4" indent="0">
              <a:buNone/>
            </a:pPr>
            <a:r>
              <a:rPr lang="en-US" sz="2000" dirty="0" smtClean="0">
                <a:latin typeface="Cambria Math" panose="02040503050406030204" pitchFamily="18" charset="0"/>
                <a:ea typeface="Cambria Math" panose="02040503050406030204" pitchFamily="18" charset="0"/>
              </a:rPr>
              <a:t>.Visible </a:t>
            </a:r>
            <a:r>
              <a:rPr lang="en-US" sz="2000" dirty="0">
                <a:latin typeface="Cambria Math" panose="02040503050406030204" pitchFamily="18" charset="0"/>
                <a:ea typeface="Cambria Math" panose="02040503050406030204" pitchFamily="18" charset="0"/>
              </a:rPr>
              <a:t>= True</a:t>
            </a:r>
          </a:p>
          <a:p>
            <a:pPr marL="2285942" lvl="4" indent="0">
              <a:buNone/>
            </a:pPr>
            <a:r>
              <a:rPr lang="en-US" sz="2000" dirty="0" smtClean="0">
                <a:latin typeface="Cambria Math" panose="02040503050406030204" pitchFamily="18" charset="0"/>
                <a:ea typeface="Cambria Math" panose="02040503050406030204" pitchFamily="18" charset="0"/>
              </a:rPr>
              <a:t>.</a:t>
            </a:r>
            <a:r>
              <a:rPr lang="en-US" sz="2000" dirty="0" err="1" smtClean="0">
                <a:latin typeface="Cambria Math" panose="02040503050406030204" pitchFamily="18" charset="0"/>
                <a:ea typeface="Cambria Math" panose="02040503050406030204" pitchFamily="18" charset="0"/>
              </a:rPr>
              <a:t>ForeColor</a:t>
            </a:r>
            <a:r>
              <a:rPr lang="en-US" sz="2000" dirty="0" smtClean="0">
                <a:latin typeface="Cambria Math" panose="02040503050406030204" pitchFamily="18" charset="0"/>
                <a:ea typeface="Cambria Math" panose="02040503050406030204" pitchFamily="18" charset="0"/>
              </a:rPr>
              <a:t> </a:t>
            </a:r>
            <a:r>
              <a:rPr lang="en-US" sz="2000" dirty="0">
                <a:latin typeface="Cambria Math" panose="02040503050406030204" pitchFamily="18" charset="0"/>
                <a:ea typeface="Cambria Math" panose="02040503050406030204" pitchFamily="18" charset="0"/>
              </a:rPr>
              <a:t>= </a:t>
            </a:r>
            <a:r>
              <a:rPr lang="en-US" sz="2000" dirty="0" err="1">
                <a:latin typeface="Cambria Math" panose="02040503050406030204" pitchFamily="18" charset="0"/>
                <a:ea typeface="Cambria Math" panose="02040503050406030204" pitchFamily="18" charset="0"/>
              </a:rPr>
              <a:t>vbWhite</a:t>
            </a:r>
            <a:r>
              <a:rPr lang="en-US" sz="2000" dirty="0">
                <a:latin typeface="Cambria Math" panose="02040503050406030204" pitchFamily="18" charset="0"/>
                <a:ea typeface="Cambria Math" panose="02040503050406030204" pitchFamily="18" charset="0"/>
              </a:rPr>
              <a:t> </a:t>
            </a:r>
          </a:p>
          <a:p>
            <a:pPr marL="2285942" lvl="4" indent="0">
              <a:buNone/>
            </a:pPr>
            <a:r>
              <a:rPr lang="en-US" sz="2000" dirty="0" smtClean="0">
                <a:latin typeface="Cambria Math" panose="02040503050406030204" pitchFamily="18" charset="0"/>
                <a:ea typeface="Cambria Math" panose="02040503050406030204" pitchFamily="18" charset="0"/>
              </a:rPr>
              <a:t>.</a:t>
            </a:r>
            <a:r>
              <a:rPr lang="en-US" sz="2000" dirty="0" err="1" smtClean="0">
                <a:latin typeface="Cambria Math" panose="02040503050406030204" pitchFamily="18" charset="0"/>
                <a:ea typeface="Cambria Math" panose="02040503050406030204" pitchFamily="18" charset="0"/>
              </a:rPr>
              <a:t>Font.Bold</a:t>
            </a:r>
            <a:r>
              <a:rPr lang="en-US" sz="2000" dirty="0" smtClean="0">
                <a:latin typeface="Cambria Math" panose="02040503050406030204" pitchFamily="18" charset="0"/>
                <a:ea typeface="Cambria Math" panose="02040503050406030204" pitchFamily="18" charset="0"/>
              </a:rPr>
              <a:t> </a:t>
            </a:r>
            <a:r>
              <a:rPr lang="en-US" sz="2000" dirty="0">
                <a:latin typeface="Cambria Math" panose="02040503050406030204" pitchFamily="18" charset="0"/>
                <a:ea typeface="Cambria Math" panose="02040503050406030204" pitchFamily="18" charset="0"/>
              </a:rPr>
              <a:t>= True</a:t>
            </a:r>
          </a:p>
          <a:p>
            <a:pPr marL="2285942" lvl="4" indent="0">
              <a:buNone/>
            </a:pPr>
            <a:r>
              <a:rPr lang="en-US" sz="2000" dirty="0" smtClean="0">
                <a:latin typeface="Cambria Math" panose="02040503050406030204" pitchFamily="18" charset="0"/>
                <a:ea typeface="Cambria Math" panose="02040503050406030204" pitchFamily="18" charset="0"/>
              </a:rPr>
              <a:t>.</a:t>
            </a:r>
            <a:r>
              <a:rPr lang="en-US" sz="2000" dirty="0" err="1" smtClean="0">
                <a:latin typeface="Cambria Math" panose="02040503050406030204" pitchFamily="18" charset="0"/>
                <a:ea typeface="Cambria Math" panose="02040503050406030204" pitchFamily="18" charset="0"/>
              </a:rPr>
              <a:t>Font.Italic</a:t>
            </a:r>
            <a:r>
              <a:rPr lang="en-US" sz="2000" dirty="0" smtClean="0">
                <a:latin typeface="Cambria Math" panose="02040503050406030204" pitchFamily="18" charset="0"/>
                <a:ea typeface="Cambria Math" panose="02040503050406030204" pitchFamily="18" charset="0"/>
              </a:rPr>
              <a:t> </a:t>
            </a:r>
            <a:r>
              <a:rPr lang="en-US" sz="2000" dirty="0">
                <a:latin typeface="Cambria Math" panose="02040503050406030204" pitchFamily="18" charset="0"/>
                <a:ea typeface="Cambria Math" panose="02040503050406030204" pitchFamily="18" charset="0"/>
              </a:rPr>
              <a:t>= True </a:t>
            </a:r>
          </a:p>
          <a:p>
            <a:pPr marL="2285942" lvl="4" indent="0">
              <a:buNone/>
            </a:pPr>
            <a:r>
              <a:rPr lang="en-US" sz="2000" dirty="0" smtClean="0">
                <a:latin typeface="Cambria Math" panose="02040503050406030204" pitchFamily="18" charset="0"/>
                <a:ea typeface="Cambria Math" panose="02040503050406030204" pitchFamily="18" charset="0"/>
              </a:rPr>
              <a:t>.</a:t>
            </a:r>
            <a:r>
              <a:rPr lang="en-US" sz="2000" dirty="0" err="1" smtClean="0">
                <a:latin typeface="Cambria Math" panose="02040503050406030204" pitchFamily="18" charset="0"/>
                <a:ea typeface="Cambria Math" panose="02040503050406030204" pitchFamily="18" charset="0"/>
              </a:rPr>
              <a:t>SetFocus</a:t>
            </a:r>
            <a:r>
              <a:rPr lang="en-US" sz="2000" dirty="0" smtClean="0">
                <a:latin typeface="Cambria Math" panose="02040503050406030204" pitchFamily="18" charset="0"/>
                <a:ea typeface="Cambria Math" panose="02040503050406030204" pitchFamily="18" charset="0"/>
              </a:rPr>
              <a:t>  </a:t>
            </a:r>
          </a:p>
          <a:p>
            <a:pPr marL="1676358" lvl="3" indent="0">
              <a:buNone/>
            </a:pPr>
            <a:r>
              <a:rPr lang="en-US" sz="2000" dirty="0" smtClean="0">
                <a:latin typeface="Cambria Math" panose="02040503050406030204" pitchFamily="18" charset="0"/>
                <a:ea typeface="Cambria Math" panose="02040503050406030204" pitchFamily="18" charset="0"/>
              </a:rPr>
              <a:t>End With </a:t>
            </a:r>
            <a:endParaRPr lang="en-US" sz="2000" dirty="0">
              <a:latin typeface="Cambria Math" panose="02040503050406030204" pitchFamily="18" charset="0"/>
              <a:ea typeface="Cambria Math" panose="02040503050406030204" pitchFamily="18" charset="0"/>
            </a:endParaRPr>
          </a:p>
        </p:txBody>
      </p:sp>
      <p:sp>
        <p:nvSpPr>
          <p:cNvPr id="5" name="Title 1"/>
          <p:cNvSpPr txBox="1">
            <a:spLocks/>
          </p:cNvSpPr>
          <p:nvPr/>
        </p:nvSpPr>
        <p:spPr>
          <a:xfrm>
            <a:off x="1977657" y="248541"/>
            <a:ext cx="9537404" cy="980184"/>
          </a:xfrm>
          <a:prstGeom prst="rect">
            <a:avLst/>
          </a:prstGeom>
          <a:solidFill>
            <a:schemeClr val="bg1"/>
          </a:solidFill>
        </p:spPr>
        <p:txBody>
          <a:bodyPr vert="horz" lIns="91440" tIns="45720" rIns="91440" bIns="45720" rtlCol="0" anchor="ctr">
            <a:normAutofit fontScale="92500"/>
          </a:bodyPr>
          <a:lstStyle>
            <a:lvl1pPr algn="l" defTabSz="1219170" rtl="0" eaLnBrk="1" latinLnBrk="0" hangingPunct="1">
              <a:spcBef>
                <a:spcPct val="0"/>
              </a:spcBef>
              <a:buNone/>
              <a:defRPr sz="4800" kern="1200">
                <a:solidFill>
                  <a:srgbClr val="FF0D97"/>
                </a:solidFill>
                <a:effectLst>
                  <a:outerShdw blurRad="50800" dist="38100" dir="2700000" algn="tl" rotWithShape="0">
                    <a:prstClr val="black">
                      <a:alpha val="40000"/>
                    </a:prstClr>
                  </a:outerShdw>
                </a:effectLst>
                <a:latin typeface="+mj-lt"/>
                <a:ea typeface="+mj-ea"/>
                <a:cs typeface="+mj-cs"/>
              </a:defRPr>
            </a:lvl1pPr>
          </a:lstStyle>
          <a:p>
            <a:r>
              <a:rPr lang="en-US" sz="3600" b="1" dirty="0" smtClean="0">
                <a:solidFill>
                  <a:srgbClr val="002060"/>
                </a:solidFill>
                <a:latin typeface="Cambria Math" panose="02040503050406030204" pitchFamily="18" charset="0"/>
                <a:ea typeface="Cambria Math" panose="02040503050406030204" pitchFamily="18" charset="0"/>
              </a:rPr>
              <a:t>4.3.1 With </a:t>
            </a:r>
            <a:r>
              <a:rPr lang="en-US" sz="3600" dirty="0" smtClean="0">
                <a:solidFill>
                  <a:srgbClr val="002060"/>
                </a:solidFill>
                <a:latin typeface="Cambria Math" panose="02040503050406030204" pitchFamily="18" charset="0"/>
                <a:ea typeface="Cambria Math" panose="02040503050406030204" pitchFamily="18" charset="0"/>
              </a:rPr>
              <a:t>and</a:t>
            </a:r>
            <a:r>
              <a:rPr lang="en-US" sz="3600" b="1" dirty="0" smtClean="0">
                <a:solidFill>
                  <a:srgbClr val="002060"/>
                </a:solidFill>
                <a:latin typeface="Cambria Math" panose="02040503050406030204" pitchFamily="18" charset="0"/>
                <a:ea typeface="Cambria Math" panose="02040503050406030204" pitchFamily="18" charset="0"/>
              </a:rPr>
              <a:t> With End Statement – General Form</a:t>
            </a:r>
            <a:endParaRPr lang="en-US" sz="3600" b="1" dirty="0">
              <a:solidFill>
                <a:srgbClr val="002060"/>
              </a:solidFill>
              <a:latin typeface="Cambria Math" panose="02040503050406030204" pitchFamily="18" charset="0"/>
              <a:ea typeface="Cambria Math" panose="02040503050406030204" pitchFamily="18" charset="0"/>
            </a:endParaRPr>
          </a:p>
        </p:txBody>
      </p:sp>
      <p:sp>
        <p:nvSpPr>
          <p:cNvPr id="6" name="Content Placeholder 2"/>
          <p:cNvSpPr txBox="1">
            <a:spLocks/>
          </p:cNvSpPr>
          <p:nvPr/>
        </p:nvSpPr>
        <p:spPr>
          <a:xfrm>
            <a:off x="7733623" y="3678926"/>
            <a:ext cx="3646968" cy="2331179"/>
          </a:xfrm>
          <a:prstGeom prst="rect">
            <a:avLst/>
          </a:prstGeom>
        </p:spPr>
        <p:txBody>
          <a:bodyPr vert="horz" lIns="91440" tIns="45720" rIns="91440" bIns="45720" rtlCol="0">
            <a:noAutofit/>
          </a:bodyPr>
          <a:lstStyle>
            <a:lvl1pPr marL="457189" indent="-457189" algn="l" defTabSz="1219170" rtl="0" eaLnBrk="1" latinLnBrk="0" hangingPunct="1">
              <a:spcBef>
                <a:spcPct val="20000"/>
              </a:spcBef>
              <a:buFont typeface="Arial" pitchFamily="34" charset="0"/>
              <a:buChar char="•"/>
              <a:defRPr sz="3733" kern="1200">
                <a:solidFill>
                  <a:srgbClr val="0000CC"/>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rgbClr val="0000CC"/>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rgbClr val="0000CC"/>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rgbClr val="0000CC"/>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rgbClr val="0000CC"/>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buFont typeface="Arial" pitchFamily="34" charset="0"/>
              <a:buNone/>
            </a:pPr>
            <a:r>
              <a:rPr lang="en-US" sz="2000" dirty="0" smtClean="0">
                <a:latin typeface="Cambria Math" panose="02040503050406030204" pitchFamily="18" charset="0"/>
                <a:ea typeface="Cambria Math" panose="02040503050406030204" pitchFamily="18" charset="0"/>
              </a:rPr>
              <a:t>The statement beginning with and ending with End With are called the With Block. The statements inside the block are intended for readability. Although indentation is not required by VB, it is required by a good programming practices. </a:t>
            </a:r>
            <a:endParaRPr lang="en-US" sz="20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4869165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38310" y="1333499"/>
            <a:ext cx="8406580" cy="3914775"/>
          </a:xfrm>
        </p:spPr>
        <p:txBody>
          <a:bodyPr>
            <a:normAutofit fontScale="70000" lnSpcReduction="20000"/>
          </a:bodyPr>
          <a:lstStyle/>
          <a:p>
            <a:r>
              <a:rPr lang="en-US" sz="3400" b="1" u="sng" dirty="0" smtClean="0">
                <a:latin typeface="Cambria Math" panose="02040503050406030204" pitchFamily="18" charset="0"/>
                <a:ea typeface="Cambria Math" panose="02040503050406030204" pitchFamily="18" charset="0"/>
              </a:rPr>
              <a:t>Concatenating Text: </a:t>
            </a:r>
            <a:r>
              <a:rPr lang="en-US" sz="3400" dirty="0" smtClean="0">
                <a:latin typeface="Cambria Math" panose="02040503050406030204" pitchFamily="18" charset="0"/>
                <a:ea typeface="Cambria Math" panose="02040503050406030204" pitchFamily="18" charset="0"/>
              </a:rPr>
              <a:t>At times you need to join strings of text. For example, you may want to join a literal and a property. You can “track” one string of a character to the end of another in the process called </a:t>
            </a:r>
            <a:r>
              <a:rPr lang="en-US" sz="3400" b="1" dirty="0" smtClean="0">
                <a:latin typeface="Cambria Math" panose="02040503050406030204" pitchFamily="18" charset="0"/>
                <a:ea typeface="Cambria Math" panose="02040503050406030204" pitchFamily="18" charset="0"/>
              </a:rPr>
              <a:t>concatenation</a:t>
            </a:r>
            <a:r>
              <a:rPr lang="en-US" sz="3400" dirty="0" smtClean="0">
                <a:latin typeface="Cambria Math" panose="02040503050406030204" pitchFamily="18" charset="0"/>
                <a:ea typeface="Cambria Math" panose="02040503050406030204" pitchFamily="18" charset="0"/>
              </a:rPr>
              <a:t>. To do this, use an ampersand (</a:t>
            </a:r>
            <a:r>
              <a:rPr lang="en-US" sz="3400" b="1" dirty="0" smtClean="0">
                <a:latin typeface="Cambria Math" panose="02040503050406030204" pitchFamily="18" charset="0"/>
                <a:ea typeface="Cambria Math" panose="02040503050406030204" pitchFamily="18" charset="0"/>
              </a:rPr>
              <a:t>&amp;</a:t>
            </a:r>
            <a:r>
              <a:rPr lang="en-US" sz="3400" dirty="0" smtClean="0">
                <a:latin typeface="Cambria Math" panose="02040503050406030204" pitchFamily="18" charset="0"/>
                <a:ea typeface="Cambria Math" panose="02040503050406030204" pitchFamily="18" charset="0"/>
              </a:rPr>
              <a:t>) proceeded and followed by a space between two strings. </a:t>
            </a:r>
          </a:p>
          <a:p>
            <a:pPr marL="533386" lvl="1" indent="0">
              <a:buNone/>
            </a:pPr>
            <a:endParaRPr lang="en-US" sz="3400" dirty="0" smtClean="0">
              <a:latin typeface="Cambria Math" panose="02040503050406030204" pitchFamily="18" charset="0"/>
              <a:ea typeface="Cambria Math" panose="02040503050406030204" pitchFamily="18" charset="0"/>
            </a:endParaRPr>
          </a:p>
          <a:p>
            <a:pPr marL="533386" lvl="1" indent="0">
              <a:buNone/>
            </a:pPr>
            <a:r>
              <a:rPr lang="en-US" sz="3400" dirty="0" smtClean="0">
                <a:latin typeface="Cambria Math" panose="02040503050406030204" pitchFamily="18" charset="0"/>
                <a:ea typeface="Cambria Math" panose="02040503050406030204" pitchFamily="18" charset="0"/>
              </a:rPr>
              <a:t>Example: </a:t>
            </a:r>
          </a:p>
          <a:p>
            <a:pPr marL="1066773" lvl="2" indent="0">
              <a:buNone/>
            </a:pPr>
            <a:r>
              <a:rPr lang="en-US" sz="3400" b="1" dirty="0" err="1" smtClean="0">
                <a:latin typeface="Cambria Math" panose="02040503050406030204" pitchFamily="18" charset="0"/>
                <a:ea typeface="Cambria Math" panose="02040503050406030204" pitchFamily="18" charset="0"/>
              </a:rPr>
              <a:t>lblMessage.Caption</a:t>
            </a:r>
            <a:r>
              <a:rPr lang="en-US" sz="3400" b="1" dirty="0" smtClean="0">
                <a:latin typeface="Cambria Math" panose="02040503050406030204" pitchFamily="18" charset="0"/>
                <a:ea typeface="Cambria Math" panose="02040503050406030204" pitchFamily="18" charset="0"/>
              </a:rPr>
              <a:t> = “Your name is:” * </a:t>
            </a:r>
            <a:r>
              <a:rPr lang="en-US" sz="3400" b="1" dirty="0" err="1" smtClean="0">
                <a:latin typeface="Cambria Math" panose="02040503050406030204" pitchFamily="18" charset="0"/>
                <a:ea typeface="Cambria Math" panose="02040503050406030204" pitchFamily="18" charset="0"/>
              </a:rPr>
              <a:t>tatName.Text</a:t>
            </a:r>
            <a:endParaRPr lang="en-US" sz="3400" b="1" dirty="0" smtClean="0">
              <a:latin typeface="Cambria Math" panose="02040503050406030204" pitchFamily="18" charset="0"/>
              <a:ea typeface="Cambria Math" panose="02040503050406030204" pitchFamily="18" charset="0"/>
            </a:endParaRPr>
          </a:p>
          <a:p>
            <a:pPr marL="1066773" lvl="2" indent="0">
              <a:buNone/>
            </a:pPr>
            <a:r>
              <a:rPr lang="en-US" sz="3400" b="1" dirty="0" err="1" smtClean="0">
                <a:latin typeface="Cambria Math" panose="02040503050406030204" pitchFamily="18" charset="0"/>
                <a:ea typeface="Cambria Math" panose="02040503050406030204" pitchFamily="18" charset="0"/>
              </a:rPr>
              <a:t>txtNameAnd</a:t>
            </a:r>
            <a:r>
              <a:rPr lang="en-US" sz="3400" b="1" dirty="0" smtClean="0">
                <a:latin typeface="Cambria Math" panose="02040503050406030204" pitchFamily="18" charset="0"/>
                <a:ea typeface="Cambria Math" panose="02040503050406030204" pitchFamily="18" charset="0"/>
              </a:rPr>
              <a:t> </a:t>
            </a:r>
            <a:r>
              <a:rPr lang="en-US" sz="3400" b="1" dirty="0" err="1" smtClean="0">
                <a:latin typeface="Cambria Math" panose="02040503050406030204" pitchFamily="18" charset="0"/>
                <a:ea typeface="Cambria Math" panose="02040503050406030204" pitchFamily="18" charset="0"/>
              </a:rPr>
              <a:t>Address.Text</a:t>
            </a:r>
            <a:r>
              <a:rPr lang="en-US" sz="3400" b="1" dirty="0" smtClean="0">
                <a:latin typeface="Cambria Math" panose="02040503050406030204" pitchFamily="18" charset="0"/>
                <a:ea typeface="Cambria Math" panose="02040503050406030204" pitchFamily="18" charset="0"/>
              </a:rPr>
              <a:t> = </a:t>
            </a:r>
            <a:r>
              <a:rPr lang="en-US" sz="3400" b="1" dirty="0" err="1" smtClean="0">
                <a:latin typeface="Cambria Math" panose="02040503050406030204" pitchFamily="18" charset="0"/>
                <a:ea typeface="Cambria Math" panose="02040503050406030204" pitchFamily="18" charset="0"/>
              </a:rPr>
              <a:t>txtName.Text</a:t>
            </a:r>
            <a:r>
              <a:rPr lang="en-US" sz="3400" b="1" dirty="0" smtClean="0">
                <a:latin typeface="Cambria Math" panose="02040503050406030204" pitchFamily="18" charset="0"/>
                <a:ea typeface="Cambria Math" panose="02040503050406030204" pitchFamily="18" charset="0"/>
              </a:rPr>
              <a:t> &amp; </a:t>
            </a:r>
            <a:r>
              <a:rPr lang="en-US" sz="3400" b="1" dirty="0" err="1" smtClean="0">
                <a:latin typeface="Cambria Math" panose="02040503050406030204" pitchFamily="18" charset="0"/>
                <a:ea typeface="Cambria Math" panose="02040503050406030204" pitchFamily="18" charset="0"/>
              </a:rPr>
              <a:t>txtAddress.Text</a:t>
            </a:r>
            <a:endParaRPr lang="en-US" sz="3400" b="1" dirty="0" smtClean="0">
              <a:latin typeface="Cambria Math" panose="02040503050406030204" pitchFamily="18" charset="0"/>
              <a:ea typeface="Cambria Math" panose="02040503050406030204" pitchFamily="18" charset="0"/>
            </a:endParaRPr>
          </a:p>
          <a:p>
            <a:pPr marL="1066773" lvl="2" indent="0">
              <a:buNone/>
            </a:pPr>
            <a:r>
              <a:rPr lang="en-US" sz="3400" b="1" dirty="0" err="1" smtClean="0">
                <a:latin typeface="Cambria Math" panose="02040503050406030204" pitchFamily="18" charset="0"/>
                <a:ea typeface="Cambria Math" panose="02040503050406030204" pitchFamily="18" charset="0"/>
              </a:rPr>
              <a:t>lblFontSize.Caption</a:t>
            </a:r>
            <a:r>
              <a:rPr lang="en-US" sz="3400" b="1" dirty="0" smtClean="0">
                <a:latin typeface="Cambria Math" panose="02040503050406030204" pitchFamily="18" charset="0"/>
                <a:ea typeface="Cambria Math" panose="02040503050406030204" pitchFamily="18" charset="0"/>
              </a:rPr>
              <a:t> = “The current </a:t>
            </a:r>
            <a:r>
              <a:rPr lang="en-US" sz="3400" b="1" dirty="0" err="1" smtClean="0">
                <a:latin typeface="Cambria Math" panose="02040503050406030204" pitchFamily="18" charset="0"/>
                <a:ea typeface="Cambria Math" panose="02040503050406030204" pitchFamily="18" charset="0"/>
              </a:rPr>
              <a:t>fontsize</a:t>
            </a:r>
            <a:r>
              <a:rPr lang="en-US" sz="3400" b="1" dirty="0" smtClean="0">
                <a:latin typeface="Cambria Math" panose="02040503050406030204" pitchFamily="18" charset="0"/>
                <a:ea typeface="Cambria Math" panose="02040503050406030204" pitchFamily="18" charset="0"/>
              </a:rPr>
              <a:t> is &amp; </a:t>
            </a:r>
            <a:r>
              <a:rPr lang="en-US" sz="3400" b="1" dirty="0" err="1" smtClean="0">
                <a:latin typeface="Cambria Math" panose="02040503050406030204" pitchFamily="18" charset="0"/>
                <a:ea typeface="Cambria Math" panose="02040503050406030204" pitchFamily="18" charset="0"/>
              </a:rPr>
              <a:t>txtMessage.Font.Size</a:t>
            </a:r>
            <a:r>
              <a:rPr lang="en-US" sz="3400" b="1" dirty="0" smtClean="0">
                <a:latin typeface="Cambria Math" panose="02040503050406030204" pitchFamily="18" charset="0"/>
                <a:ea typeface="Cambria Math" panose="02040503050406030204" pitchFamily="18" charset="0"/>
              </a:rPr>
              <a:t> &amp; “points”</a:t>
            </a:r>
          </a:p>
          <a:p>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795754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9070" y="542925"/>
            <a:ext cx="10272995" cy="5885384"/>
          </a:xfrm>
          <a:solidFill>
            <a:schemeClr val="bg1"/>
          </a:solidFill>
        </p:spPr>
        <p:txBody>
          <a:bodyPr>
            <a:noAutofit/>
          </a:bodyPr>
          <a:lstStyle/>
          <a:p>
            <a:r>
              <a:rPr lang="en-US" sz="2000" b="1" u="sng" dirty="0" smtClean="0">
                <a:latin typeface="Cambria Math" panose="02040503050406030204" pitchFamily="18" charset="0"/>
                <a:ea typeface="Cambria Math" panose="02040503050406030204" pitchFamily="18" charset="0"/>
              </a:rPr>
              <a:t>Continuing Long Program Lines: </a:t>
            </a:r>
            <a:r>
              <a:rPr lang="en-US" sz="2000" dirty="0" smtClean="0">
                <a:latin typeface="Cambria Math" panose="02040503050406030204" pitchFamily="18" charset="0"/>
                <a:ea typeface="Cambria Math" panose="02040503050406030204" pitchFamily="18" charset="0"/>
              </a:rPr>
              <a:t>Basic interprets the code on one line as one statement. You can type very long lines in the Basic code window. However when a Basic statement becomes too long for one line, you can use a line continuation character. You can type a space and an underscore, press enter and continue the statement on the next line. It is okay to indent the continued lines. The only restriction is that line continuation character must appear between elements; you cannot place a continuation in the middle of a literal or split the name of an object property.</a:t>
            </a:r>
          </a:p>
          <a:p>
            <a:pPr marL="0" indent="0">
              <a:buNone/>
            </a:pPr>
            <a:r>
              <a:rPr lang="en-US" sz="2000" dirty="0" smtClean="0">
                <a:latin typeface="Cambria Math" panose="02040503050406030204" pitchFamily="18" charset="0"/>
                <a:ea typeface="Cambria Math" panose="02040503050406030204" pitchFamily="18" charset="0"/>
              </a:rPr>
              <a:t>	Example:</a:t>
            </a:r>
          </a:p>
          <a:p>
            <a:pPr marL="1676358" lvl="3" indent="0">
              <a:buNone/>
            </a:pPr>
            <a:r>
              <a:rPr lang="en-US" sz="2000" b="1" dirty="0" err="1" smtClean="0">
                <a:latin typeface="Cambria Math" panose="02040503050406030204" pitchFamily="18" charset="0"/>
                <a:ea typeface="Cambria Math" panose="02040503050406030204" pitchFamily="18" charset="0"/>
              </a:rPr>
              <a:t>lblGreeting.Caption</a:t>
            </a:r>
            <a:r>
              <a:rPr lang="en-US" sz="2000" b="1" dirty="0" smtClean="0">
                <a:latin typeface="Cambria Math" panose="02040503050406030204" pitchFamily="18" charset="0"/>
                <a:ea typeface="Cambria Math" panose="02040503050406030204" pitchFamily="18" charset="0"/>
              </a:rPr>
              <a:t> = =“Greeting” &amp; </a:t>
            </a:r>
            <a:r>
              <a:rPr lang="en-US" sz="2000" b="1" dirty="0" err="1" smtClean="0">
                <a:latin typeface="Cambria Math" panose="02040503050406030204" pitchFamily="18" charset="0"/>
                <a:ea typeface="Cambria Math" panose="02040503050406030204" pitchFamily="18" charset="0"/>
              </a:rPr>
              <a:t>txtName.Text</a:t>
            </a:r>
            <a:r>
              <a:rPr lang="en-US" sz="2000" b="1" dirty="0" smtClean="0">
                <a:latin typeface="Cambria Math" panose="02040503050406030204" pitchFamily="18" charset="0"/>
                <a:ea typeface="Cambria Math" panose="02040503050406030204" pitchFamily="18" charset="0"/>
              </a:rPr>
              <a:t> &amp; “:”&amp;_</a:t>
            </a:r>
          </a:p>
          <a:p>
            <a:pPr marL="1676358" lvl="3" indent="0">
              <a:buNone/>
            </a:pPr>
            <a:r>
              <a:rPr lang="en-US" sz="2000" b="1" dirty="0" smtClean="0">
                <a:latin typeface="Cambria Math" panose="02040503050406030204" pitchFamily="18" charset="0"/>
                <a:ea typeface="Cambria Math" panose="02040503050406030204" pitchFamily="18" charset="0"/>
              </a:rPr>
              <a:t>“You have been selected to win a free prize&gt;&amp;_</a:t>
            </a:r>
          </a:p>
          <a:p>
            <a:pPr marL="1676358" lvl="3" indent="0">
              <a:buNone/>
            </a:pPr>
            <a:r>
              <a:rPr lang="en-US" sz="2000" b="1" dirty="0" smtClean="0">
                <a:latin typeface="Cambria Math" panose="02040503050406030204" pitchFamily="18" charset="0"/>
                <a:ea typeface="Cambria Math" panose="02040503050406030204" pitchFamily="18" charset="0"/>
              </a:rPr>
              <a:t>“Just send us $100 for postage and Handling.”</a:t>
            </a:r>
          </a:p>
          <a:p>
            <a:pPr marL="1676358" lvl="3" indent="0">
              <a:buNone/>
            </a:pPr>
            <a:endParaRPr lang="en-US" sz="2000" b="1" dirty="0" smtClean="0">
              <a:latin typeface="Cambria Math" panose="02040503050406030204" pitchFamily="18" charset="0"/>
              <a:ea typeface="Cambria Math" panose="02040503050406030204" pitchFamily="18" charset="0"/>
            </a:endParaRPr>
          </a:p>
          <a:p>
            <a:r>
              <a:rPr lang="en-US" sz="2000" b="1" u="sng" dirty="0" smtClean="0">
                <a:latin typeface="Cambria Math" panose="02040503050406030204" pitchFamily="18" charset="0"/>
                <a:ea typeface="Cambria Math" panose="02040503050406030204" pitchFamily="18" charset="0"/>
              </a:rPr>
              <a:t>Using the Default Property of a Control: </a:t>
            </a:r>
            <a:r>
              <a:rPr lang="en-US" sz="2000" dirty="0" smtClean="0">
                <a:latin typeface="Cambria Math" panose="02040503050406030204" pitchFamily="18" charset="0"/>
                <a:ea typeface="Cambria Math" panose="02040503050406030204" pitchFamily="18" charset="0"/>
              </a:rPr>
              <a:t>Each class of control has one property that is the default property. When you use the default property of the control, you do not have to name the property. For example: the Text Property is the default property of a Text Box. Therefore these two statement are equivalent. </a:t>
            </a:r>
          </a:p>
          <a:p>
            <a:pPr marL="533386" lvl="1" indent="0">
              <a:buNone/>
            </a:pPr>
            <a:r>
              <a:rPr lang="en-US" sz="2000" b="1" dirty="0" err="1" smtClean="0">
                <a:latin typeface="Cambria Math" panose="02040503050406030204" pitchFamily="18" charset="0"/>
                <a:ea typeface="Cambria Math" panose="02040503050406030204" pitchFamily="18" charset="0"/>
              </a:rPr>
              <a:t>txtComapny.Text</a:t>
            </a:r>
            <a:r>
              <a:rPr lang="en-US" sz="2000" b="1" dirty="0" smtClean="0">
                <a:latin typeface="Cambria Math" panose="02040503050406030204" pitchFamily="18" charset="0"/>
                <a:ea typeface="Cambria Math" panose="02040503050406030204" pitchFamily="18" charset="0"/>
              </a:rPr>
              <a:t> = “S n S – for Stop and Shop”</a:t>
            </a:r>
          </a:p>
          <a:p>
            <a:pPr marL="533386" lvl="1" indent="0">
              <a:buNone/>
            </a:pPr>
            <a:r>
              <a:rPr lang="en-US" sz="2000" b="1" dirty="0" err="1" smtClean="0">
                <a:latin typeface="Cambria Math" panose="02040503050406030204" pitchFamily="18" charset="0"/>
                <a:ea typeface="Cambria Math" panose="02040503050406030204" pitchFamily="18" charset="0"/>
              </a:rPr>
              <a:t>txtCompany</a:t>
            </a:r>
            <a:r>
              <a:rPr lang="en-US" sz="2000" b="1" dirty="0" smtClean="0">
                <a:latin typeface="Cambria Math" panose="02040503050406030204" pitchFamily="18" charset="0"/>
                <a:ea typeface="Cambria Math" panose="02040503050406030204" pitchFamily="18" charset="0"/>
              </a:rPr>
              <a:t> = “S n S – for Stop and Shop” </a:t>
            </a:r>
            <a:endParaRPr lang="en-US" sz="2000" b="1"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165746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131777111"/>
              </p:ext>
            </p:extLst>
          </p:nvPr>
        </p:nvGraphicFramePr>
        <p:xfrm>
          <a:off x="923366" y="1162421"/>
          <a:ext cx="5136777" cy="5068049"/>
        </p:xfrm>
        <a:graphic>
          <a:graphicData uri="http://schemas.openxmlformats.org/drawingml/2006/table">
            <a:tbl>
              <a:tblPr firstRow="1" bandRow="1">
                <a:tableStyleId>{616DA210-FB5B-4158-B5E0-FEB733F419BA}</a:tableStyleId>
              </a:tblPr>
              <a:tblGrid>
                <a:gridCol w="2537011"/>
                <a:gridCol w="2599766"/>
              </a:tblGrid>
              <a:tr h="558730">
                <a:tc>
                  <a:txBody>
                    <a:bodyPr/>
                    <a:lstStyle/>
                    <a:p>
                      <a:r>
                        <a:rPr lang="en-US" sz="2000" dirty="0" smtClean="0">
                          <a:latin typeface="Cambria Math" panose="02040503050406030204" pitchFamily="18" charset="0"/>
                          <a:ea typeface="Cambria Math" panose="02040503050406030204" pitchFamily="18" charset="0"/>
                        </a:rPr>
                        <a:t>Controls</a:t>
                      </a:r>
                      <a:r>
                        <a:rPr lang="en-US" sz="2000" baseline="0" dirty="0" smtClean="0">
                          <a:latin typeface="Cambria Math" panose="02040503050406030204" pitchFamily="18" charset="0"/>
                          <a:ea typeface="Cambria Math" panose="02040503050406030204" pitchFamily="18" charset="0"/>
                        </a:rPr>
                        <a:t> </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Default Property </a:t>
                      </a:r>
                      <a:endParaRPr lang="en-US" sz="2000" dirty="0">
                        <a:latin typeface="Cambria Math" panose="02040503050406030204" pitchFamily="18" charset="0"/>
                        <a:ea typeface="Cambria Math" panose="02040503050406030204" pitchFamily="18" charset="0"/>
                      </a:endParaRPr>
                    </a:p>
                  </a:txBody>
                  <a:tcPr>
                    <a:solidFill>
                      <a:schemeClr val="bg1"/>
                    </a:solidFill>
                  </a:tcPr>
                </a:tc>
              </a:tr>
              <a:tr h="510841">
                <a:tc>
                  <a:txBody>
                    <a:bodyPr/>
                    <a:lstStyle/>
                    <a:p>
                      <a:r>
                        <a:rPr lang="en-US" sz="2000" dirty="0" smtClean="0">
                          <a:latin typeface="Cambria Math" panose="02040503050406030204" pitchFamily="18" charset="0"/>
                          <a:ea typeface="Cambria Math" panose="02040503050406030204" pitchFamily="18" charset="0"/>
                        </a:rPr>
                        <a:t>Check box</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Value </a:t>
                      </a:r>
                      <a:endParaRPr lang="en-US" sz="2000" dirty="0">
                        <a:latin typeface="Cambria Math" panose="02040503050406030204" pitchFamily="18" charset="0"/>
                        <a:ea typeface="Cambria Math" panose="02040503050406030204" pitchFamily="18" charset="0"/>
                      </a:endParaRPr>
                    </a:p>
                  </a:txBody>
                  <a:tcPr>
                    <a:solidFill>
                      <a:schemeClr val="bg1"/>
                    </a:solidFill>
                  </a:tcPr>
                </a:tc>
              </a:tr>
              <a:tr h="564108">
                <a:tc>
                  <a:txBody>
                    <a:bodyPr/>
                    <a:lstStyle/>
                    <a:p>
                      <a:r>
                        <a:rPr lang="en-US" sz="2000" dirty="0" smtClean="0">
                          <a:latin typeface="Cambria Math" panose="02040503050406030204" pitchFamily="18" charset="0"/>
                          <a:ea typeface="Cambria Math" panose="02040503050406030204" pitchFamily="18" charset="0"/>
                        </a:rPr>
                        <a:t>Combo box </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Text </a:t>
                      </a:r>
                      <a:endParaRPr lang="en-US" sz="2000" dirty="0">
                        <a:latin typeface="Cambria Math" panose="02040503050406030204" pitchFamily="18" charset="0"/>
                        <a:ea typeface="Cambria Math" panose="02040503050406030204" pitchFamily="18" charset="0"/>
                      </a:endParaRPr>
                    </a:p>
                  </a:txBody>
                  <a:tcPr>
                    <a:solidFill>
                      <a:schemeClr val="bg1"/>
                    </a:solidFill>
                  </a:tcPr>
                </a:tc>
              </a:tr>
              <a:tr h="573914">
                <a:tc>
                  <a:txBody>
                    <a:bodyPr/>
                    <a:lstStyle/>
                    <a:p>
                      <a:r>
                        <a:rPr lang="en-US" sz="2000" dirty="0" smtClean="0">
                          <a:latin typeface="Cambria Math" panose="02040503050406030204" pitchFamily="18" charset="0"/>
                          <a:ea typeface="Cambria Math" panose="02040503050406030204" pitchFamily="18" charset="0"/>
                        </a:rPr>
                        <a:t>Command button</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Value</a:t>
                      </a:r>
                      <a:endParaRPr lang="en-US" sz="2000" dirty="0">
                        <a:latin typeface="Cambria Math" panose="02040503050406030204" pitchFamily="18" charset="0"/>
                        <a:ea typeface="Cambria Math" panose="02040503050406030204" pitchFamily="18" charset="0"/>
                      </a:endParaRPr>
                    </a:p>
                  </a:txBody>
                  <a:tcPr>
                    <a:solidFill>
                      <a:schemeClr val="bg1"/>
                    </a:solidFill>
                  </a:tcPr>
                </a:tc>
              </a:tr>
              <a:tr h="564803">
                <a:tc>
                  <a:txBody>
                    <a:bodyPr/>
                    <a:lstStyle/>
                    <a:p>
                      <a:r>
                        <a:rPr lang="en-US" sz="2000" dirty="0" smtClean="0">
                          <a:latin typeface="Cambria Math" panose="02040503050406030204" pitchFamily="18" charset="0"/>
                          <a:ea typeface="Cambria Math" panose="02040503050406030204" pitchFamily="18" charset="0"/>
                        </a:rPr>
                        <a:t>Frame</a:t>
                      </a:r>
                      <a:r>
                        <a:rPr lang="en-US" sz="2000" baseline="0" dirty="0" smtClean="0">
                          <a:latin typeface="Cambria Math" panose="02040503050406030204" pitchFamily="18" charset="0"/>
                          <a:ea typeface="Cambria Math" panose="02040503050406030204" pitchFamily="18" charset="0"/>
                        </a:rPr>
                        <a:t> </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Caption </a:t>
                      </a:r>
                      <a:endParaRPr lang="en-US" sz="2000" dirty="0">
                        <a:latin typeface="Cambria Math" panose="02040503050406030204" pitchFamily="18" charset="0"/>
                        <a:ea typeface="Cambria Math" panose="02040503050406030204" pitchFamily="18" charset="0"/>
                      </a:endParaRPr>
                    </a:p>
                  </a:txBody>
                  <a:tcPr>
                    <a:solidFill>
                      <a:schemeClr val="bg1"/>
                    </a:solidFill>
                  </a:tcPr>
                </a:tc>
              </a:tr>
              <a:tr h="610353">
                <a:tc>
                  <a:txBody>
                    <a:bodyPr/>
                    <a:lstStyle/>
                    <a:p>
                      <a:r>
                        <a:rPr lang="en-US" sz="2000" dirty="0" smtClean="0">
                          <a:latin typeface="Cambria Math" panose="02040503050406030204" pitchFamily="18" charset="0"/>
                          <a:ea typeface="Cambria Math" panose="02040503050406030204" pitchFamily="18" charset="0"/>
                        </a:rPr>
                        <a:t>Horizontal scroll bar</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Value</a:t>
                      </a:r>
                      <a:endParaRPr lang="en-US" sz="2000" dirty="0">
                        <a:latin typeface="Cambria Math" panose="02040503050406030204" pitchFamily="18" charset="0"/>
                        <a:ea typeface="Cambria Math" panose="02040503050406030204" pitchFamily="18" charset="0"/>
                      </a:endParaRPr>
                    </a:p>
                  </a:txBody>
                  <a:tcPr>
                    <a:solidFill>
                      <a:schemeClr val="bg1"/>
                    </a:solidFill>
                  </a:tcPr>
                </a:tc>
              </a:tr>
              <a:tr h="619462">
                <a:tc>
                  <a:txBody>
                    <a:bodyPr/>
                    <a:lstStyle/>
                    <a:p>
                      <a:r>
                        <a:rPr lang="en-US" sz="2000" dirty="0" smtClean="0">
                          <a:latin typeface="Cambria Math" panose="02040503050406030204" pitchFamily="18" charset="0"/>
                          <a:ea typeface="Cambria Math" panose="02040503050406030204" pitchFamily="18" charset="0"/>
                        </a:rPr>
                        <a:t>Image </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Picture </a:t>
                      </a:r>
                      <a:endParaRPr lang="en-US" sz="2000" dirty="0">
                        <a:latin typeface="Cambria Math" panose="02040503050406030204" pitchFamily="18" charset="0"/>
                        <a:ea typeface="Cambria Math" panose="02040503050406030204" pitchFamily="18" charset="0"/>
                      </a:endParaRPr>
                    </a:p>
                  </a:txBody>
                  <a:tcPr>
                    <a:solidFill>
                      <a:schemeClr val="bg1"/>
                    </a:solidFill>
                  </a:tcPr>
                </a:tc>
              </a:tr>
              <a:tr h="592133">
                <a:tc>
                  <a:txBody>
                    <a:bodyPr/>
                    <a:lstStyle/>
                    <a:p>
                      <a:r>
                        <a:rPr lang="en-US" sz="2000" dirty="0" smtClean="0">
                          <a:latin typeface="Cambria Math" panose="02040503050406030204" pitchFamily="18" charset="0"/>
                          <a:ea typeface="Cambria Math" panose="02040503050406030204" pitchFamily="18" charset="0"/>
                        </a:rPr>
                        <a:t>Label</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Caption</a:t>
                      </a:r>
                      <a:endParaRPr lang="en-US" sz="2000" dirty="0">
                        <a:latin typeface="Cambria Math" panose="02040503050406030204" pitchFamily="18" charset="0"/>
                        <a:ea typeface="Cambria Math" panose="02040503050406030204" pitchFamily="18" charset="0"/>
                      </a:endParaRPr>
                    </a:p>
                  </a:txBody>
                  <a:tcPr>
                    <a:solidFill>
                      <a:schemeClr val="bg1"/>
                    </a:solidFill>
                  </a:tcPr>
                </a:tc>
              </a:tr>
              <a:tr h="473705">
                <a:tc>
                  <a:txBody>
                    <a:bodyPr/>
                    <a:lstStyle/>
                    <a:p>
                      <a:r>
                        <a:rPr lang="en-US" sz="2000" dirty="0" smtClean="0">
                          <a:latin typeface="Cambria Math" panose="02040503050406030204" pitchFamily="18" charset="0"/>
                          <a:ea typeface="Cambria Math" panose="02040503050406030204" pitchFamily="18" charset="0"/>
                        </a:rPr>
                        <a:t>Line</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Visible </a:t>
                      </a:r>
                      <a:endParaRPr lang="en-US" sz="2000" dirty="0">
                        <a:latin typeface="Cambria Math" panose="02040503050406030204" pitchFamily="18" charset="0"/>
                        <a:ea typeface="Cambria Math" panose="02040503050406030204" pitchFamily="18" charset="0"/>
                      </a:endParaRPr>
                    </a:p>
                  </a:txBody>
                  <a:tcPr>
                    <a:solidFill>
                      <a:schemeClr val="bg1"/>
                    </a:solidFill>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98324905"/>
              </p:ext>
            </p:extLst>
          </p:nvPr>
        </p:nvGraphicFramePr>
        <p:xfrm>
          <a:off x="6427695" y="1192305"/>
          <a:ext cx="4957481" cy="5011271"/>
        </p:xfrm>
        <a:graphic>
          <a:graphicData uri="http://schemas.openxmlformats.org/drawingml/2006/table">
            <a:tbl>
              <a:tblPr firstRow="1" bandRow="1">
                <a:tableStyleId>{616DA210-FB5B-4158-B5E0-FEB733F419BA}</a:tableStyleId>
              </a:tblPr>
              <a:tblGrid>
                <a:gridCol w="2205317"/>
                <a:gridCol w="2752164"/>
              </a:tblGrid>
              <a:tr h="505635">
                <a:tc>
                  <a:txBody>
                    <a:bodyPr/>
                    <a:lstStyle/>
                    <a:p>
                      <a:r>
                        <a:rPr lang="en-US" sz="2000" dirty="0" smtClean="0">
                          <a:latin typeface="Cambria Math" panose="02040503050406030204" pitchFamily="18" charset="0"/>
                          <a:ea typeface="Cambria Math" panose="02040503050406030204" pitchFamily="18" charset="0"/>
                        </a:rPr>
                        <a:t>Controls</a:t>
                      </a:r>
                      <a:r>
                        <a:rPr lang="en-US" sz="2000" baseline="0" dirty="0" smtClean="0">
                          <a:latin typeface="Cambria Math" panose="02040503050406030204" pitchFamily="18" charset="0"/>
                          <a:ea typeface="Cambria Math" panose="02040503050406030204" pitchFamily="18" charset="0"/>
                        </a:rPr>
                        <a:t> </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Default Property </a:t>
                      </a:r>
                      <a:endParaRPr lang="en-US" sz="2000" dirty="0">
                        <a:latin typeface="Cambria Math" panose="02040503050406030204" pitchFamily="18" charset="0"/>
                        <a:ea typeface="Cambria Math" panose="02040503050406030204" pitchFamily="18" charset="0"/>
                      </a:endParaRPr>
                    </a:p>
                  </a:txBody>
                  <a:tcPr>
                    <a:solidFill>
                      <a:schemeClr val="bg1"/>
                    </a:solidFill>
                  </a:tcPr>
                </a:tc>
              </a:tr>
              <a:tr h="543101">
                <a:tc>
                  <a:txBody>
                    <a:bodyPr/>
                    <a:lstStyle/>
                    <a:p>
                      <a:r>
                        <a:rPr lang="en-US" sz="2000" dirty="0" smtClean="0">
                          <a:latin typeface="Cambria Math" panose="02040503050406030204" pitchFamily="18" charset="0"/>
                          <a:ea typeface="Cambria Math" panose="02040503050406030204" pitchFamily="18" charset="0"/>
                        </a:rPr>
                        <a:t>List box</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Text </a:t>
                      </a:r>
                      <a:endParaRPr lang="en-US" sz="2000" dirty="0">
                        <a:latin typeface="Cambria Math" panose="02040503050406030204" pitchFamily="18" charset="0"/>
                        <a:ea typeface="Cambria Math" panose="02040503050406030204" pitchFamily="18" charset="0"/>
                      </a:endParaRPr>
                    </a:p>
                  </a:txBody>
                  <a:tcPr>
                    <a:solidFill>
                      <a:schemeClr val="bg1"/>
                    </a:solidFill>
                  </a:tcPr>
                </a:tc>
              </a:tr>
              <a:tr h="505635">
                <a:tc>
                  <a:txBody>
                    <a:bodyPr/>
                    <a:lstStyle/>
                    <a:p>
                      <a:r>
                        <a:rPr lang="en-US" sz="2000" dirty="0" smtClean="0">
                          <a:latin typeface="Cambria Math" panose="02040503050406030204" pitchFamily="18" charset="0"/>
                          <a:ea typeface="Cambria Math" panose="02040503050406030204" pitchFamily="18" charset="0"/>
                        </a:rPr>
                        <a:t>Menu</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Enabled </a:t>
                      </a:r>
                      <a:endParaRPr lang="en-US" sz="2000" dirty="0">
                        <a:latin typeface="Cambria Math" panose="02040503050406030204" pitchFamily="18" charset="0"/>
                        <a:ea typeface="Cambria Math" panose="02040503050406030204" pitchFamily="18" charset="0"/>
                      </a:endParaRPr>
                    </a:p>
                  </a:txBody>
                  <a:tcPr>
                    <a:solidFill>
                      <a:schemeClr val="bg1"/>
                    </a:solidFill>
                  </a:tcPr>
                </a:tc>
              </a:tr>
              <a:tr h="578906">
                <a:tc>
                  <a:txBody>
                    <a:bodyPr/>
                    <a:lstStyle/>
                    <a:p>
                      <a:r>
                        <a:rPr lang="en-US" sz="2000" dirty="0" smtClean="0">
                          <a:latin typeface="Cambria Math" panose="02040503050406030204" pitchFamily="18" charset="0"/>
                          <a:ea typeface="Cambria Math" panose="02040503050406030204" pitchFamily="18" charset="0"/>
                        </a:rPr>
                        <a:t>Option button</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Value</a:t>
                      </a:r>
                      <a:endParaRPr lang="en-US" sz="2000" dirty="0">
                        <a:latin typeface="Cambria Math" panose="02040503050406030204" pitchFamily="18" charset="0"/>
                        <a:ea typeface="Cambria Math" panose="02040503050406030204" pitchFamily="18" charset="0"/>
                      </a:endParaRPr>
                    </a:p>
                  </a:txBody>
                  <a:tcPr>
                    <a:solidFill>
                      <a:schemeClr val="bg1"/>
                    </a:solidFill>
                  </a:tcPr>
                </a:tc>
              </a:tr>
              <a:tr h="583265">
                <a:tc>
                  <a:txBody>
                    <a:bodyPr/>
                    <a:lstStyle/>
                    <a:p>
                      <a:r>
                        <a:rPr lang="en-US" sz="2000" dirty="0" smtClean="0">
                          <a:latin typeface="Cambria Math" panose="02040503050406030204" pitchFamily="18" charset="0"/>
                          <a:ea typeface="Cambria Math" panose="02040503050406030204" pitchFamily="18" charset="0"/>
                        </a:rPr>
                        <a:t>Picture box</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Picture </a:t>
                      </a:r>
                      <a:endParaRPr lang="en-US" sz="2000" dirty="0">
                        <a:latin typeface="Cambria Math" panose="02040503050406030204" pitchFamily="18" charset="0"/>
                        <a:ea typeface="Cambria Math" panose="02040503050406030204" pitchFamily="18" charset="0"/>
                      </a:endParaRPr>
                    </a:p>
                  </a:txBody>
                  <a:tcPr>
                    <a:solidFill>
                      <a:schemeClr val="bg1"/>
                    </a:solidFill>
                  </a:tcPr>
                </a:tc>
              </a:tr>
              <a:tr h="596654">
                <a:tc>
                  <a:txBody>
                    <a:bodyPr/>
                    <a:lstStyle/>
                    <a:p>
                      <a:r>
                        <a:rPr lang="en-US" sz="2000" dirty="0" smtClean="0">
                          <a:latin typeface="Cambria Math" panose="02040503050406030204" pitchFamily="18" charset="0"/>
                          <a:ea typeface="Cambria Math" panose="02040503050406030204" pitchFamily="18" charset="0"/>
                        </a:rPr>
                        <a:t>Shape</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Shape</a:t>
                      </a:r>
                      <a:endParaRPr lang="en-US" sz="2000" dirty="0">
                        <a:latin typeface="Cambria Math" panose="02040503050406030204" pitchFamily="18" charset="0"/>
                        <a:ea typeface="Cambria Math" panose="02040503050406030204" pitchFamily="18" charset="0"/>
                      </a:endParaRPr>
                    </a:p>
                  </a:txBody>
                  <a:tcPr>
                    <a:solidFill>
                      <a:schemeClr val="bg1"/>
                    </a:solidFill>
                  </a:tcPr>
                </a:tc>
              </a:tr>
              <a:tr h="601012">
                <a:tc>
                  <a:txBody>
                    <a:bodyPr/>
                    <a:lstStyle/>
                    <a:p>
                      <a:r>
                        <a:rPr lang="en-US" sz="2000" dirty="0" smtClean="0">
                          <a:latin typeface="Cambria Math" panose="02040503050406030204" pitchFamily="18" charset="0"/>
                          <a:ea typeface="Cambria Math" panose="02040503050406030204" pitchFamily="18" charset="0"/>
                        </a:rPr>
                        <a:t>Text</a:t>
                      </a:r>
                      <a:r>
                        <a:rPr lang="en-US" sz="2000" baseline="0" dirty="0" smtClean="0">
                          <a:latin typeface="Cambria Math" panose="02040503050406030204" pitchFamily="18" charset="0"/>
                          <a:ea typeface="Cambria Math" panose="02040503050406030204" pitchFamily="18" charset="0"/>
                        </a:rPr>
                        <a:t> box</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Text </a:t>
                      </a:r>
                      <a:endParaRPr lang="en-US" sz="2000" dirty="0">
                        <a:latin typeface="Cambria Math" panose="02040503050406030204" pitchFamily="18" charset="0"/>
                        <a:ea typeface="Cambria Math" panose="02040503050406030204" pitchFamily="18" charset="0"/>
                      </a:endParaRPr>
                    </a:p>
                  </a:txBody>
                  <a:tcPr>
                    <a:solidFill>
                      <a:schemeClr val="bg1"/>
                    </a:solidFill>
                  </a:tcPr>
                </a:tc>
              </a:tr>
              <a:tr h="587479">
                <a:tc>
                  <a:txBody>
                    <a:bodyPr/>
                    <a:lstStyle/>
                    <a:p>
                      <a:r>
                        <a:rPr lang="en-US" sz="2000" dirty="0" smtClean="0">
                          <a:latin typeface="Cambria Math" panose="02040503050406030204" pitchFamily="18" charset="0"/>
                          <a:ea typeface="Cambria Math" panose="02040503050406030204" pitchFamily="18" charset="0"/>
                        </a:rPr>
                        <a:t>Timer</a:t>
                      </a:r>
                      <a:r>
                        <a:rPr lang="en-US" sz="2000" baseline="0" dirty="0" smtClean="0">
                          <a:latin typeface="Cambria Math" panose="02040503050406030204" pitchFamily="18" charset="0"/>
                          <a:ea typeface="Cambria Math" panose="02040503050406030204" pitchFamily="18" charset="0"/>
                        </a:rPr>
                        <a:t> </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Enabled</a:t>
                      </a:r>
                      <a:endParaRPr lang="en-US" sz="2000" dirty="0">
                        <a:latin typeface="Cambria Math" panose="02040503050406030204" pitchFamily="18" charset="0"/>
                        <a:ea typeface="Cambria Math" panose="02040503050406030204" pitchFamily="18" charset="0"/>
                      </a:endParaRPr>
                    </a:p>
                  </a:txBody>
                  <a:tcPr>
                    <a:solidFill>
                      <a:schemeClr val="bg1"/>
                    </a:solidFill>
                  </a:tcPr>
                </a:tc>
              </a:tr>
              <a:tr h="509584">
                <a:tc>
                  <a:txBody>
                    <a:bodyPr/>
                    <a:lstStyle/>
                    <a:p>
                      <a:r>
                        <a:rPr lang="en-US" sz="2000" dirty="0" smtClean="0">
                          <a:latin typeface="Cambria Math" panose="02040503050406030204" pitchFamily="18" charset="0"/>
                          <a:ea typeface="Cambria Math" panose="02040503050406030204" pitchFamily="18" charset="0"/>
                        </a:rPr>
                        <a:t>Vertical scroll bar </a:t>
                      </a:r>
                      <a:endParaRPr lang="en-US" sz="2000" dirty="0">
                        <a:latin typeface="Cambria Math" panose="02040503050406030204" pitchFamily="18" charset="0"/>
                        <a:ea typeface="Cambria Math" panose="02040503050406030204" pitchFamily="18" charset="0"/>
                      </a:endParaRPr>
                    </a:p>
                  </a:txBody>
                  <a:tcPr>
                    <a:solidFill>
                      <a:schemeClr val="bg1"/>
                    </a:solidFill>
                  </a:tcPr>
                </a:tc>
                <a:tc>
                  <a:txBody>
                    <a:bodyPr/>
                    <a:lstStyle/>
                    <a:p>
                      <a:r>
                        <a:rPr lang="en-US" sz="2000" dirty="0" smtClean="0">
                          <a:latin typeface="Cambria Math" panose="02040503050406030204" pitchFamily="18" charset="0"/>
                          <a:ea typeface="Cambria Math" panose="02040503050406030204" pitchFamily="18" charset="0"/>
                        </a:rPr>
                        <a:t>Value</a:t>
                      </a:r>
                      <a:endParaRPr lang="en-US" sz="2000" dirty="0">
                        <a:latin typeface="Cambria Math" panose="02040503050406030204" pitchFamily="18" charset="0"/>
                        <a:ea typeface="Cambria Math" panose="02040503050406030204" pitchFamily="18" charset="0"/>
                      </a:endParaRPr>
                    </a:p>
                  </a:txBody>
                  <a:tcPr>
                    <a:solidFill>
                      <a:schemeClr val="bg1"/>
                    </a:solidFill>
                  </a:tcPr>
                </a:tc>
              </a:tr>
            </a:tbl>
          </a:graphicData>
        </a:graphic>
      </p:graphicFrame>
      <p:sp>
        <p:nvSpPr>
          <p:cNvPr id="7" name="Title 1"/>
          <p:cNvSpPr txBox="1">
            <a:spLocks/>
          </p:cNvSpPr>
          <p:nvPr/>
        </p:nvSpPr>
        <p:spPr>
          <a:xfrm>
            <a:off x="1020726" y="170287"/>
            <a:ext cx="10590027" cy="980184"/>
          </a:xfrm>
          <a:prstGeom prst="rect">
            <a:avLst/>
          </a:prstGeom>
          <a:solidFill>
            <a:schemeClr val="bg1"/>
          </a:solidFill>
        </p:spPr>
        <p:txBody>
          <a:bodyPr vert="horz" lIns="91440" tIns="45720" rIns="91440" bIns="45720" rtlCol="0" anchor="ctr">
            <a:normAutofit fontScale="92500"/>
          </a:bodyPr>
          <a:lstStyle>
            <a:lvl1pPr algn="l" defTabSz="1219170" rtl="0" eaLnBrk="1" latinLnBrk="0" hangingPunct="1">
              <a:spcBef>
                <a:spcPct val="0"/>
              </a:spcBef>
              <a:buNone/>
              <a:defRPr sz="4800" kern="1200">
                <a:solidFill>
                  <a:srgbClr val="FF0D97"/>
                </a:solidFill>
                <a:effectLst>
                  <a:outerShdw blurRad="50800" dist="38100" dir="2700000" algn="tl" rotWithShape="0">
                    <a:prstClr val="black">
                      <a:alpha val="40000"/>
                    </a:prstClr>
                  </a:outerShdw>
                </a:effectLst>
                <a:latin typeface="+mj-lt"/>
                <a:ea typeface="+mj-ea"/>
                <a:cs typeface="+mj-cs"/>
              </a:defRPr>
            </a:lvl1pPr>
          </a:lstStyle>
          <a:p>
            <a:r>
              <a:rPr lang="en-US" sz="3600" b="1" dirty="0" smtClean="0">
                <a:solidFill>
                  <a:srgbClr val="002060"/>
                </a:solidFill>
                <a:latin typeface="Cambria Math" panose="02040503050406030204" pitchFamily="18" charset="0"/>
                <a:ea typeface="Cambria Math" panose="02040503050406030204" pitchFamily="18" charset="0"/>
              </a:rPr>
              <a:t>4.3.2 Table showing Controls and their Default Properties</a:t>
            </a:r>
            <a:endParaRPr lang="en-US" sz="3600" b="1" dirty="0">
              <a:solidFill>
                <a:srgbClr val="00206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224790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0721" y="1532155"/>
            <a:ext cx="7956409" cy="1018035"/>
          </a:xfrm>
        </p:spPr>
        <p:txBody>
          <a:bodyPr>
            <a:normAutofit/>
          </a:bodyPr>
          <a:lstStyle/>
          <a:p>
            <a:pPr algn="ctr"/>
            <a:r>
              <a:rPr lang="en-US" b="1" dirty="0" smtClean="0">
                <a:solidFill>
                  <a:schemeClr val="tx1"/>
                </a:solidFill>
                <a:latin typeface="Cambria Math" panose="02040503050406030204" pitchFamily="18" charset="0"/>
                <a:ea typeface="Cambria Math" panose="02040503050406030204" pitchFamily="18" charset="0"/>
              </a:rPr>
              <a:t>Summary and Review Exercises </a:t>
            </a:r>
            <a:endParaRPr lang="en-US" b="1" dirty="0">
              <a:solidFill>
                <a:schemeClr val="tx1"/>
              </a:solidFill>
              <a:latin typeface="Cambria Math" panose="02040503050406030204" pitchFamily="18" charset="0"/>
              <a:ea typeface="Cambria Math" panose="02040503050406030204" pitchFamily="18" charset="0"/>
            </a:endParaRPr>
          </a:p>
        </p:txBody>
      </p:sp>
      <p:sp>
        <p:nvSpPr>
          <p:cNvPr id="6" name="Content Placeholder 5"/>
          <p:cNvSpPr>
            <a:spLocks noGrp="1"/>
          </p:cNvSpPr>
          <p:nvPr>
            <p:ph idx="1"/>
          </p:nvPr>
        </p:nvSpPr>
        <p:spPr>
          <a:xfrm>
            <a:off x="1503680" y="2691561"/>
            <a:ext cx="8850490" cy="3050020"/>
          </a:xfrm>
        </p:spPr>
        <p:txBody>
          <a:bodyPr>
            <a:normAutofit/>
          </a:bodyPr>
          <a:lstStyle/>
          <a:p>
            <a:r>
              <a:rPr lang="en-US" dirty="0">
                <a:solidFill>
                  <a:srgbClr val="002060"/>
                </a:solidFill>
                <a:latin typeface="Cambria Math" panose="02040503050406030204" pitchFamily="18" charset="0"/>
                <a:ea typeface="Cambria Math" panose="02040503050406030204" pitchFamily="18" charset="0"/>
              </a:rPr>
              <a:t>Read Chapter Summary Notes on Page 114 of Introduction to Programming Book 1.</a:t>
            </a:r>
          </a:p>
          <a:p>
            <a:r>
              <a:rPr lang="en-US" dirty="0">
                <a:solidFill>
                  <a:srgbClr val="002060"/>
                </a:solidFill>
                <a:latin typeface="Cambria Math" panose="02040503050406030204" pitchFamily="18" charset="0"/>
                <a:ea typeface="Cambria Math" panose="02040503050406030204" pitchFamily="18" charset="0"/>
              </a:rPr>
              <a:t>Complete all 16 review questions on Page 115 of Introduction to Programming Book 1.</a:t>
            </a:r>
          </a:p>
          <a:p>
            <a:r>
              <a:rPr lang="en-US" dirty="0">
                <a:solidFill>
                  <a:srgbClr val="002060"/>
                </a:solidFill>
                <a:latin typeface="Cambria Math" panose="02040503050406030204" pitchFamily="18" charset="0"/>
                <a:ea typeface="Cambria Math" panose="02040503050406030204" pitchFamily="18" charset="0"/>
              </a:rPr>
              <a:t>Try to at least do </a:t>
            </a:r>
            <a:r>
              <a:rPr lang="en-US" b="1" dirty="0">
                <a:solidFill>
                  <a:srgbClr val="002060"/>
                </a:solidFill>
                <a:latin typeface="Cambria Math" panose="02040503050406030204" pitchFamily="18" charset="0"/>
                <a:ea typeface="Cambria Math" panose="02040503050406030204" pitchFamily="18" charset="0"/>
              </a:rPr>
              <a:t>Hands-On Programming Examples and Exercises </a:t>
            </a:r>
          </a:p>
        </p:txBody>
      </p:sp>
    </p:spTree>
    <p:extLst>
      <p:ext uri="{BB962C8B-B14F-4D97-AF65-F5344CB8AC3E}">
        <p14:creationId xmlns:p14="http://schemas.microsoft.com/office/powerpoint/2010/main" val="559578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1661</TotalTime>
  <Words>3433</Words>
  <Application>Microsoft Office PowerPoint</Application>
  <PresentationFormat>Widescreen</PresentationFormat>
  <Paragraphs>251</Paragraphs>
  <Slides>25</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Calibri</vt:lpstr>
      <vt:lpstr>Calibri Light</vt:lpstr>
      <vt:lpstr>Calisto MT</vt:lpstr>
      <vt:lpstr>Cambria Math</vt:lpstr>
      <vt:lpstr>Courier New</vt:lpstr>
      <vt:lpstr>Symbol</vt:lpstr>
      <vt:lpstr>Times New Roman</vt:lpstr>
      <vt:lpstr>Wingdings</vt:lpstr>
      <vt:lpstr>Office Theme</vt:lpstr>
      <vt:lpstr>Chapter 3:More Controls</vt:lpstr>
      <vt:lpstr>Learning Objectives</vt:lpstr>
      <vt:lpstr>4.1 Introducing More Controls</vt:lpstr>
      <vt:lpstr>4.1.1 Textbox Control</vt:lpstr>
      <vt:lpstr>4.1.2 Frame Control</vt:lpstr>
      <vt:lpstr>4.1.4 Option Button Control</vt:lpstr>
      <vt:lpstr>4.1.6 Line Control</vt:lpstr>
      <vt:lpstr>4.1.7 Shape Control</vt:lpstr>
      <vt:lpstr>4.2 Working with the Multiple Controls</vt:lpstr>
      <vt:lpstr>PowerPoint Presentation</vt:lpstr>
      <vt:lpstr>PowerPoint Presentation</vt:lpstr>
      <vt:lpstr>4.2.1 Designing the User Interface</vt:lpstr>
      <vt:lpstr>4.2.2 Designing the Keyboard Access Key</vt:lpstr>
      <vt:lpstr>PowerPoint Presentation</vt:lpstr>
      <vt:lpstr>4.2.4 The Tab Order</vt:lpstr>
      <vt:lpstr>PowerPoint Presentation</vt:lpstr>
      <vt:lpstr>4.3 Coding for Controls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and Review Exercises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Dianne Sikinapi</dc:creator>
  <cp:lastModifiedBy>Odilia Tita</cp:lastModifiedBy>
  <cp:revision>221</cp:revision>
  <cp:lastPrinted>2025-04-29T23:02:14Z</cp:lastPrinted>
  <dcterms:created xsi:type="dcterms:W3CDTF">2023-07-21T06:19:42Z</dcterms:created>
  <dcterms:modified xsi:type="dcterms:W3CDTF">2026-02-03T22:45:45Z</dcterms:modified>
</cp:coreProperties>
</file>