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1" r:id="rId1"/>
  </p:sldMasterIdLst>
  <p:notesMasterIdLst>
    <p:notesMasterId r:id="rId21"/>
  </p:notesMasterIdLst>
  <p:handoutMasterIdLst>
    <p:handoutMasterId r:id="rId22"/>
  </p:handoutMasterIdLst>
  <p:sldIdLst>
    <p:sldId id="261" r:id="rId2"/>
    <p:sldId id="293" r:id="rId3"/>
    <p:sldId id="294" r:id="rId4"/>
    <p:sldId id="295" r:id="rId5"/>
    <p:sldId id="310" r:id="rId6"/>
    <p:sldId id="298" r:id="rId7"/>
    <p:sldId id="308" r:id="rId8"/>
    <p:sldId id="309" r:id="rId9"/>
    <p:sldId id="316" r:id="rId10"/>
    <p:sldId id="300" r:id="rId11"/>
    <p:sldId id="301" r:id="rId12"/>
    <p:sldId id="303" r:id="rId13"/>
    <p:sldId id="304" r:id="rId14"/>
    <p:sldId id="306" r:id="rId15"/>
    <p:sldId id="311" r:id="rId16"/>
    <p:sldId id="312" r:id="rId17"/>
    <p:sldId id="313" r:id="rId18"/>
    <p:sldId id="314" r:id="rId19"/>
    <p:sldId id="315" r:id="rId20"/>
  </p:sldIdLst>
  <p:sldSz cx="9144000" cy="5143500" type="screen16x9"/>
  <p:notesSz cx="9385300" cy="7099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8225"/>
    <a:srgbClr val="FF0D97"/>
    <a:srgbClr val="FF2549"/>
    <a:srgbClr val="5DD5FF"/>
    <a:srgbClr val="003635"/>
    <a:srgbClr val="9EFF29"/>
    <a:srgbClr val="C80064"/>
    <a:srgbClr val="C33A1F"/>
    <a:srgbClr val="007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666" y="-462"/>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55"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066963" cy="356198"/>
          </a:xfrm>
          <a:prstGeom prst="rect">
            <a:avLst/>
          </a:prstGeom>
        </p:spPr>
        <p:txBody>
          <a:bodyPr vert="horz" lIns="94191" tIns="47095" rIns="94191" bIns="47095" rtlCol="0"/>
          <a:lstStyle>
            <a:lvl1pPr algn="l">
              <a:defRPr sz="1200"/>
            </a:lvl1pPr>
          </a:lstStyle>
          <a:p>
            <a:r>
              <a:rPr lang="en-US" smtClean="0"/>
              <a:t>Introduction to Programming - 1008</a:t>
            </a:r>
            <a:endParaRPr lang="en-US"/>
          </a:p>
        </p:txBody>
      </p:sp>
      <p:sp>
        <p:nvSpPr>
          <p:cNvPr id="3" name="Date Placeholder 2"/>
          <p:cNvSpPr>
            <a:spLocks noGrp="1"/>
          </p:cNvSpPr>
          <p:nvPr>
            <p:ph type="dt" sz="quarter" idx="1"/>
          </p:nvPr>
        </p:nvSpPr>
        <p:spPr>
          <a:xfrm>
            <a:off x="5316166" y="0"/>
            <a:ext cx="4066963" cy="356198"/>
          </a:xfrm>
          <a:prstGeom prst="rect">
            <a:avLst/>
          </a:prstGeom>
        </p:spPr>
        <p:txBody>
          <a:bodyPr vert="horz" lIns="94191" tIns="47095" rIns="94191" bIns="47095" rtlCol="0"/>
          <a:lstStyle>
            <a:lvl1pPr algn="r">
              <a:defRPr sz="1200"/>
            </a:lvl1pPr>
          </a:lstStyle>
          <a:p>
            <a:r>
              <a:rPr lang="en-US" smtClean="0"/>
              <a:t>15/10/2024</a:t>
            </a:r>
            <a:endParaRPr lang="en-US"/>
          </a:p>
        </p:txBody>
      </p:sp>
      <p:sp>
        <p:nvSpPr>
          <p:cNvPr id="4" name="Footer Placeholder 3"/>
          <p:cNvSpPr>
            <a:spLocks noGrp="1"/>
          </p:cNvSpPr>
          <p:nvPr>
            <p:ph type="ftr" sz="quarter" idx="2"/>
          </p:nvPr>
        </p:nvSpPr>
        <p:spPr>
          <a:xfrm>
            <a:off x="2" y="6743103"/>
            <a:ext cx="4066963" cy="356197"/>
          </a:xfrm>
          <a:prstGeom prst="rect">
            <a:avLst/>
          </a:prstGeom>
        </p:spPr>
        <p:txBody>
          <a:bodyPr vert="horz" lIns="94191" tIns="47095" rIns="94191" bIns="47095" rtlCol="0" anchor="b"/>
          <a:lstStyle>
            <a:lvl1pPr algn="l">
              <a:defRPr sz="1200"/>
            </a:lvl1pPr>
          </a:lstStyle>
          <a:p>
            <a:r>
              <a:rPr lang="en-US" smtClean="0"/>
              <a:t>ITI | July Semester 2024 | CIC D1</a:t>
            </a:r>
            <a:endParaRPr lang="en-US"/>
          </a:p>
        </p:txBody>
      </p:sp>
      <p:sp>
        <p:nvSpPr>
          <p:cNvPr id="5" name="Slide Number Placeholder 4"/>
          <p:cNvSpPr>
            <a:spLocks noGrp="1"/>
          </p:cNvSpPr>
          <p:nvPr>
            <p:ph type="sldNum" sz="quarter" idx="3"/>
          </p:nvPr>
        </p:nvSpPr>
        <p:spPr>
          <a:xfrm>
            <a:off x="5316166" y="6743103"/>
            <a:ext cx="4066963" cy="356197"/>
          </a:xfrm>
          <a:prstGeom prst="rect">
            <a:avLst/>
          </a:prstGeom>
        </p:spPr>
        <p:txBody>
          <a:bodyPr vert="horz" lIns="94191" tIns="47095" rIns="94191" bIns="47095" rtlCol="0" anchor="b"/>
          <a:lstStyle>
            <a:lvl1pPr algn="r">
              <a:defRPr sz="1200"/>
            </a:lvl1pPr>
          </a:lstStyle>
          <a:p>
            <a:fld id="{3E461E19-025F-465C-83B2-2CAEB0970E7E}" type="slidenum">
              <a:rPr lang="en-US" smtClean="0"/>
              <a:t>‹#›</a:t>
            </a:fld>
            <a:endParaRPr lang="en-US"/>
          </a:p>
        </p:txBody>
      </p:sp>
    </p:spTree>
    <p:extLst>
      <p:ext uri="{BB962C8B-B14F-4D97-AF65-F5344CB8AC3E}">
        <p14:creationId xmlns:p14="http://schemas.microsoft.com/office/powerpoint/2010/main" val="3398252949"/>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066963" cy="356198"/>
          </a:xfrm>
          <a:prstGeom prst="rect">
            <a:avLst/>
          </a:prstGeom>
        </p:spPr>
        <p:txBody>
          <a:bodyPr vert="horz" lIns="94191" tIns="47095" rIns="94191" bIns="47095" rtlCol="0"/>
          <a:lstStyle>
            <a:lvl1pPr algn="l">
              <a:defRPr sz="1200"/>
            </a:lvl1pPr>
          </a:lstStyle>
          <a:p>
            <a:r>
              <a:rPr lang="en-US" smtClean="0"/>
              <a:t>Introduction to Programming - 1008</a:t>
            </a:r>
            <a:endParaRPr lang="en-US"/>
          </a:p>
        </p:txBody>
      </p:sp>
      <p:sp>
        <p:nvSpPr>
          <p:cNvPr id="3" name="Date Placeholder 2"/>
          <p:cNvSpPr>
            <a:spLocks noGrp="1"/>
          </p:cNvSpPr>
          <p:nvPr>
            <p:ph type="dt" idx="1"/>
          </p:nvPr>
        </p:nvSpPr>
        <p:spPr>
          <a:xfrm>
            <a:off x="5316166" y="0"/>
            <a:ext cx="4066963" cy="356198"/>
          </a:xfrm>
          <a:prstGeom prst="rect">
            <a:avLst/>
          </a:prstGeom>
        </p:spPr>
        <p:txBody>
          <a:bodyPr vert="horz" lIns="94191" tIns="47095" rIns="94191" bIns="47095" rtlCol="0"/>
          <a:lstStyle>
            <a:lvl1pPr algn="r">
              <a:defRPr sz="1200"/>
            </a:lvl1pPr>
          </a:lstStyle>
          <a:p>
            <a:r>
              <a:rPr lang="en-US" smtClean="0"/>
              <a:t>15/10/2024</a:t>
            </a:r>
            <a:endParaRPr lang="en-US"/>
          </a:p>
        </p:txBody>
      </p:sp>
      <p:sp>
        <p:nvSpPr>
          <p:cNvPr id="4" name="Slide Image Placeholder 3"/>
          <p:cNvSpPr>
            <a:spLocks noGrp="1" noRot="1" noChangeAspect="1"/>
          </p:cNvSpPr>
          <p:nvPr>
            <p:ph type="sldImg" idx="2"/>
          </p:nvPr>
        </p:nvSpPr>
        <p:spPr>
          <a:xfrm>
            <a:off x="2563813" y="887413"/>
            <a:ext cx="4257675" cy="2395537"/>
          </a:xfrm>
          <a:prstGeom prst="rect">
            <a:avLst/>
          </a:prstGeom>
          <a:noFill/>
          <a:ln w="12700">
            <a:solidFill>
              <a:prstClr val="black"/>
            </a:solidFill>
          </a:ln>
        </p:spPr>
        <p:txBody>
          <a:bodyPr vert="horz" lIns="94191" tIns="47095" rIns="94191" bIns="47095" rtlCol="0" anchor="ctr"/>
          <a:lstStyle/>
          <a:p>
            <a:endParaRPr lang="en-US"/>
          </a:p>
        </p:txBody>
      </p:sp>
      <p:sp>
        <p:nvSpPr>
          <p:cNvPr id="5" name="Notes Placeholder 4"/>
          <p:cNvSpPr>
            <a:spLocks noGrp="1"/>
          </p:cNvSpPr>
          <p:nvPr>
            <p:ph type="body" sz="quarter" idx="3"/>
          </p:nvPr>
        </p:nvSpPr>
        <p:spPr>
          <a:xfrm>
            <a:off x="938530" y="3416538"/>
            <a:ext cx="7508240" cy="2795350"/>
          </a:xfrm>
          <a:prstGeom prst="rect">
            <a:avLst/>
          </a:prstGeom>
        </p:spPr>
        <p:txBody>
          <a:bodyPr vert="horz" lIns="94191" tIns="47095" rIns="94191" bIns="4709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6743103"/>
            <a:ext cx="4066963" cy="356197"/>
          </a:xfrm>
          <a:prstGeom prst="rect">
            <a:avLst/>
          </a:prstGeom>
        </p:spPr>
        <p:txBody>
          <a:bodyPr vert="horz" lIns="94191" tIns="47095" rIns="94191" bIns="47095" rtlCol="0" anchor="b"/>
          <a:lstStyle>
            <a:lvl1pPr algn="l">
              <a:defRPr sz="1200"/>
            </a:lvl1pPr>
          </a:lstStyle>
          <a:p>
            <a:r>
              <a:rPr lang="en-US" smtClean="0"/>
              <a:t>ITI | July Semester 2024 | CIC D1</a:t>
            </a:r>
            <a:endParaRPr lang="en-US"/>
          </a:p>
        </p:txBody>
      </p:sp>
      <p:sp>
        <p:nvSpPr>
          <p:cNvPr id="7" name="Slide Number Placeholder 6"/>
          <p:cNvSpPr>
            <a:spLocks noGrp="1"/>
          </p:cNvSpPr>
          <p:nvPr>
            <p:ph type="sldNum" sz="quarter" idx="5"/>
          </p:nvPr>
        </p:nvSpPr>
        <p:spPr>
          <a:xfrm>
            <a:off x="5316166" y="6743103"/>
            <a:ext cx="4066963" cy="356197"/>
          </a:xfrm>
          <a:prstGeom prst="rect">
            <a:avLst/>
          </a:prstGeom>
        </p:spPr>
        <p:txBody>
          <a:bodyPr vert="horz" lIns="94191" tIns="47095" rIns="94191" bIns="47095"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19</a:t>
            </a:fld>
            <a:endParaRPr lang="en-US"/>
          </a:p>
        </p:txBody>
      </p:sp>
      <p:sp>
        <p:nvSpPr>
          <p:cNvPr id="5" name="Footer Placeholder 4"/>
          <p:cNvSpPr>
            <a:spLocks noGrp="1"/>
          </p:cNvSpPr>
          <p:nvPr>
            <p:ph type="ftr" sz="quarter" idx="11"/>
          </p:nvPr>
        </p:nvSpPr>
        <p:spPr/>
        <p:txBody>
          <a:bodyPr/>
          <a:lstStyle/>
          <a:p>
            <a:r>
              <a:rPr lang="en-US" smtClean="0"/>
              <a:t>ITI | July Semester 2024 | CIC D1</a:t>
            </a:r>
            <a:endParaRPr lang="en-US"/>
          </a:p>
        </p:txBody>
      </p:sp>
      <p:sp>
        <p:nvSpPr>
          <p:cNvPr id="6" name="Header Placeholder 5"/>
          <p:cNvSpPr>
            <a:spLocks noGrp="1"/>
          </p:cNvSpPr>
          <p:nvPr>
            <p:ph type="hdr" sz="quarter" idx="12"/>
          </p:nvPr>
        </p:nvSpPr>
        <p:spPr/>
        <p:txBody>
          <a:bodyPr/>
          <a:lstStyle/>
          <a:p>
            <a:r>
              <a:rPr lang="it-IT" smtClean="0"/>
              <a:t>Introduction to Programming - 1008</a:t>
            </a:r>
            <a:endParaRPr lang="en-US"/>
          </a:p>
        </p:txBody>
      </p:sp>
      <p:sp>
        <p:nvSpPr>
          <p:cNvPr id="7" name="Date Placeholder 6"/>
          <p:cNvSpPr>
            <a:spLocks noGrp="1"/>
          </p:cNvSpPr>
          <p:nvPr>
            <p:ph type="dt" idx="13"/>
          </p:nvPr>
        </p:nvSpPr>
        <p:spPr/>
        <p:txBody>
          <a:bodyPr/>
          <a:lstStyle/>
          <a:p>
            <a:r>
              <a:rPr lang="en-US" smtClean="0"/>
              <a:t>15/10/2024</a:t>
            </a:r>
            <a:endParaRPr lang="en-US"/>
          </a:p>
        </p:txBody>
      </p:sp>
    </p:spTree>
    <p:extLst>
      <p:ext uri="{BB962C8B-B14F-4D97-AF65-F5344CB8AC3E}">
        <p14:creationId xmlns:p14="http://schemas.microsoft.com/office/powerpoint/2010/main" val="1794672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774214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734191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019704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074F12-AA26-4AC8-9962-C36BB8F32554}"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095161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3074F12-AA26-4AC8-9962-C36BB8F32554}" type="datetimeFigureOut">
              <a:rPr lang="en-US" smtClean="0"/>
              <a:pPr/>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571392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074F12-AA26-4AC8-9962-C36BB8F32554}" type="datetimeFigureOut">
              <a:rPr lang="en-US" smtClean="0"/>
              <a:pPr/>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783175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704175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050069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375724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2093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xmlns=""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3949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3074F12-AA26-4AC8-9962-C36BB8F32554}" type="datetimeFigureOut">
              <a:rPr lang="en-US" smtClean="0"/>
              <a:pPr/>
              <a:t>2/4/2026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xmlns=""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350200482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03804" y="1111592"/>
            <a:ext cx="4408654" cy="685534"/>
          </a:xfrm>
        </p:spPr>
        <p:txBody>
          <a:bodyPr>
            <a:normAutofit fontScale="90000"/>
          </a:bodyPr>
          <a:lstStyle/>
          <a:p>
            <a:pPr algn="ctr"/>
            <a:r>
              <a:rPr lang="en-US" b="1" dirty="0" smtClean="0">
                <a:latin typeface="Cambria Math" panose="02040503050406030204" pitchFamily="18" charset="0"/>
                <a:ea typeface="Cambria Math" panose="02040503050406030204" pitchFamily="18" charset="0"/>
              </a:rPr>
              <a:t>Chapter Five : </a:t>
            </a:r>
            <a:endParaRPr lang="en-US" b="1" dirty="0">
              <a:latin typeface="Cambria Math" panose="02040503050406030204" pitchFamily="18" charset="0"/>
              <a:ea typeface="Cambria Math" panose="02040503050406030204" pitchFamily="18" charset="0"/>
            </a:endParaRPr>
          </a:p>
        </p:txBody>
      </p:sp>
      <p:sp>
        <p:nvSpPr>
          <p:cNvPr id="3" name="Subtitle 2"/>
          <p:cNvSpPr>
            <a:spLocks noGrp="1"/>
          </p:cNvSpPr>
          <p:nvPr>
            <p:ph type="subTitle" idx="1"/>
          </p:nvPr>
        </p:nvSpPr>
        <p:spPr>
          <a:xfrm>
            <a:off x="5079999" y="1797126"/>
            <a:ext cx="4209647" cy="940714"/>
          </a:xfrm>
          <a:solidFill>
            <a:schemeClr val="bg1"/>
          </a:solidFill>
        </p:spPr>
        <p:txBody>
          <a:bodyPr>
            <a:normAutofit/>
          </a:bodyPr>
          <a:lstStyle/>
          <a:p>
            <a:pPr algn="l"/>
            <a:r>
              <a:rPr lang="en-US" sz="2800" b="1" dirty="0" smtClean="0">
                <a:latin typeface="Cambria Math" panose="02040503050406030204" pitchFamily="18" charset="0"/>
                <a:ea typeface="Cambria Math" panose="02040503050406030204" pitchFamily="18" charset="0"/>
              </a:rPr>
              <a:t>Variables, Constants, Functions and Procedures</a:t>
            </a:r>
            <a:endParaRPr lang="en-US" sz="2800" b="1" dirty="0">
              <a:latin typeface="Cambria Math" panose="02040503050406030204" pitchFamily="18" charset="0"/>
              <a:ea typeface="Cambria Math" panose="02040503050406030204" pitchFamily="18" charset="0"/>
            </a:endParaRPr>
          </a:p>
        </p:txBody>
      </p:sp>
      <p:sp>
        <p:nvSpPr>
          <p:cNvPr id="4" name="TextBox 3"/>
          <p:cNvSpPr txBox="1"/>
          <p:nvPr/>
        </p:nvSpPr>
        <p:spPr>
          <a:xfrm>
            <a:off x="0" y="4558725"/>
            <a:ext cx="7696180" cy="461665"/>
          </a:xfrm>
          <a:prstGeom prst="rect">
            <a:avLst/>
          </a:prstGeom>
          <a:solidFill>
            <a:schemeClr val="bg1"/>
          </a:solidFill>
        </p:spPr>
        <p:txBody>
          <a:bodyPr wrap="square" rtlCol="0">
            <a:spAutoFit/>
          </a:bodyPr>
          <a:lstStyle/>
          <a:p>
            <a:r>
              <a:rPr lang="en-US" sz="2400" b="1" dirty="0" smtClean="0">
                <a:latin typeface="Cambria Math" panose="02040503050406030204" pitchFamily="18" charset="0"/>
                <a:ea typeface="Cambria Math" panose="02040503050406030204" pitchFamily="18" charset="0"/>
              </a:rPr>
              <a:t>1008_Introduction to Programming</a:t>
            </a:r>
            <a:endParaRPr lang="en-US" sz="2400" b="1" dirty="0">
              <a:latin typeface="Cambria Math" panose="02040503050406030204" pitchFamily="18" charset="0"/>
              <a:ea typeface="Cambria Math" panose="02040503050406030204" pitchFamily="18" charset="0"/>
            </a:endParaRPr>
          </a:p>
        </p:txBody>
      </p:sp>
      <p:pic>
        <p:nvPicPr>
          <p:cNvPr id="1026" name="Picture 2" descr="7 Data Types - Introduction to Programming - Bizanos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 y="386080"/>
            <a:ext cx="4646718" cy="41049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561786" y="4763845"/>
            <a:ext cx="3394444" cy="256545"/>
          </a:xfrm>
          <a:prstGeom prst="rect">
            <a:avLst/>
          </a:prstGeom>
          <a:solidFill>
            <a:schemeClr val="bg1"/>
          </a:solidFill>
        </p:spPr>
        <p:txBody>
          <a:bodyPr wrap="square" rtlCol="0">
            <a:spAutoFit/>
          </a:bodyPr>
          <a:lstStyle/>
          <a:p>
            <a:pPr algn="ctr"/>
            <a:r>
              <a:rPr lang="en-US" sz="1067" b="1" dirty="0">
                <a:latin typeface="Times New Roman" panose="02020603050405020304" pitchFamily="18" charset="0"/>
                <a:cs typeface="Times New Roman" panose="02020603050405020304" pitchFamily="18" charset="0"/>
              </a:rPr>
              <a:t>Compiled </a:t>
            </a:r>
            <a:r>
              <a:rPr lang="en-US" sz="1067" b="1" dirty="0" smtClean="0">
                <a:latin typeface="Times New Roman" panose="02020603050405020304" pitchFamily="18" charset="0"/>
                <a:cs typeface="Times New Roman" panose="02020603050405020304" pitchFamily="18" charset="0"/>
              </a:rPr>
              <a:t>by Ms. Dianne Sikinapi &amp;  </a:t>
            </a:r>
            <a:r>
              <a:rPr lang="en-US" sz="1067" b="1" dirty="0">
                <a:latin typeface="Times New Roman" panose="02020603050405020304" pitchFamily="18" charset="0"/>
                <a:cs typeface="Times New Roman" panose="02020603050405020304" pitchFamily="18" charset="0"/>
              </a:rPr>
              <a:t>Ms. </a:t>
            </a:r>
            <a:r>
              <a:rPr lang="en-US" sz="1067" b="1" dirty="0" smtClean="0">
                <a:latin typeface="Times New Roman" panose="02020603050405020304" pitchFamily="18" charset="0"/>
                <a:cs typeface="Times New Roman" panose="02020603050405020304" pitchFamily="18" charset="0"/>
              </a:rPr>
              <a:t>Odilia </a:t>
            </a:r>
            <a:r>
              <a:rPr lang="en-US" sz="1067" b="1" dirty="0" smtClean="0">
                <a:latin typeface="Times New Roman" panose="02020603050405020304" pitchFamily="18" charset="0"/>
                <a:cs typeface="Times New Roman" panose="02020603050405020304" pitchFamily="18" charset="0"/>
              </a:rPr>
              <a:t>Tita</a:t>
            </a:r>
            <a:endParaRPr lang="en-US" sz="1067"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4256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06215" y="191442"/>
            <a:ext cx="3976441" cy="763526"/>
          </a:xfrm>
        </p:spPr>
        <p:txBody>
          <a:bodyPr>
            <a:normAutofit/>
          </a:bodyPr>
          <a:lstStyle/>
          <a:p>
            <a:pPr algn="ctr"/>
            <a:r>
              <a:rPr lang="en-US" b="1" dirty="0">
                <a:solidFill>
                  <a:schemeClr val="tx1"/>
                </a:solidFill>
                <a:latin typeface="Calisto MT" panose="02040603050505030304" pitchFamily="18" charset="0"/>
              </a:rPr>
              <a:t>Learning </a:t>
            </a:r>
            <a:r>
              <a:rPr lang="en-US" b="1" dirty="0" smtClean="0">
                <a:solidFill>
                  <a:schemeClr val="tx1"/>
                </a:solidFill>
                <a:latin typeface="Calisto MT" panose="02040603050505030304" pitchFamily="18" charset="0"/>
              </a:rPr>
              <a:t>Objectives</a:t>
            </a:r>
            <a:endParaRPr lang="en-US" dirty="0">
              <a:latin typeface="Calisto MT" panose="02040603050505030304" pitchFamily="18" charset="0"/>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latin typeface="Calisto MT" panose="02040603050505030304" pitchFamily="18" charset="0"/>
              </a:rPr>
              <a:t>By </a:t>
            </a:r>
            <a:r>
              <a:rPr lang="en-US" dirty="0">
                <a:latin typeface="Calisto MT" panose="02040603050505030304" pitchFamily="18" charset="0"/>
              </a:rPr>
              <a:t>the end of this Unit, students should be able to:</a:t>
            </a:r>
          </a:p>
          <a:p>
            <a:pPr lvl="1">
              <a:buFont typeface="Wingdings" panose="05000000000000000000" pitchFamily="2" charset="2"/>
              <a:buChar char="ü"/>
            </a:pPr>
            <a:r>
              <a:rPr lang="en-US" dirty="0" smtClean="0">
                <a:latin typeface="Calisto MT" panose="02040603050505030304" pitchFamily="18" charset="0"/>
              </a:rPr>
              <a:t>Distinguish between Variables, Constants and Controls</a:t>
            </a:r>
          </a:p>
          <a:p>
            <a:pPr lvl="1">
              <a:buFont typeface="Wingdings" panose="05000000000000000000" pitchFamily="2" charset="2"/>
              <a:buChar char="ü"/>
            </a:pPr>
            <a:r>
              <a:rPr lang="en-US" dirty="0" smtClean="0">
                <a:latin typeface="Calisto MT" panose="02040603050505030304" pitchFamily="18" charset="0"/>
              </a:rPr>
              <a:t>Differentiate among the various Data Types</a:t>
            </a:r>
          </a:p>
          <a:p>
            <a:pPr lvl="1">
              <a:buFont typeface="Wingdings" panose="05000000000000000000" pitchFamily="2" charset="2"/>
              <a:buChar char="ü"/>
            </a:pPr>
            <a:r>
              <a:rPr lang="en-US" dirty="0" smtClean="0">
                <a:latin typeface="Calisto MT" panose="02040603050505030304" pitchFamily="18" charset="0"/>
              </a:rPr>
              <a:t>Learn and know the Data Types and their Prefixes</a:t>
            </a:r>
          </a:p>
          <a:p>
            <a:pPr lvl="1">
              <a:buFont typeface="Wingdings" panose="05000000000000000000" pitchFamily="2" charset="2"/>
              <a:buChar char="ü"/>
            </a:pPr>
            <a:r>
              <a:rPr lang="en-US" dirty="0" smtClean="0">
                <a:latin typeface="Calisto MT" panose="02040603050505030304" pitchFamily="18" charset="0"/>
              </a:rPr>
              <a:t>Know the Parts of a Variable</a:t>
            </a:r>
          </a:p>
          <a:p>
            <a:pPr lvl="1">
              <a:buFont typeface="Wingdings" panose="05000000000000000000" pitchFamily="2" charset="2"/>
              <a:buChar char="ü"/>
            </a:pPr>
            <a:r>
              <a:rPr lang="en-US" dirty="0" smtClean="0">
                <a:latin typeface="Calisto MT" panose="02040603050505030304" pitchFamily="18" charset="0"/>
              </a:rPr>
              <a:t>Apply Naming </a:t>
            </a:r>
            <a:r>
              <a:rPr lang="en-US" dirty="0">
                <a:latin typeface="Calisto MT" panose="02040603050505030304" pitchFamily="18" charset="0"/>
              </a:rPr>
              <a:t>C</a:t>
            </a:r>
            <a:r>
              <a:rPr lang="en-US" dirty="0" smtClean="0">
                <a:latin typeface="Calisto MT" panose="02040603050505030304" pitchFamily="18" charset="0"/>
              </a:rPr>
              <a:t>onventions</a:t>
            </a:r>
          </a:p>
          <a:p>
            <a:pPr lvl="1">
              <a:buFont typeface="Wingdings" panose="05000000000000000000" pitchFamily="2" charset="2"/>
              <a:buChar char="ü"/>
            </a:pPr>
            <a:r>
              <a:rPr lang="en-US" dirty="0" smtClean="0">
                <a:latin typeface="Calisto MT" panose="02040603050505030304" pitchFamily="18" charset="0"/>
              </a:rPr>
              <a:t>Distinguish between Named and Intrinsic Constants</a:t>
            </a:r>
          </a:p>
          <a:p>
            <a:pPr lvl="1">
              <a:buFont typeface="Wingdings" panose="05000000000000000000" pitchFamily="2" charset="2"/>
              <a:buChar char="ü"/>
            </a:pPr>
            <a:r>
              <a:rPr lang="en-US" dirty="0" smtClean="0">
                <a:latin typeface="Calisto MT" panose="02040603050505030304" pitchFamily="18" charset="0"/>
              </a:rPr>
              <a:t>Understand the Scope of Variables and be able to distinguish between Global, Module Level and Local Scope</a:t>
            </a:r>
          </a:p>
          <a:p>
            <a:pPr lvl="1">
              <a:buFont typeface="Wingdings" panose="05000000000000000000" pitchFamily="2" charset="2"/>
              <a:buChar char="ü"/>
            </a:pPr>
            <a:r>
              <a:rPr lang="en-US" dirty="0" smtClean="0">
                <a:latin typeface="Calisto MT" panose="02040603050505030304" pitchFamily="18" charset="0"/>
              </a:rPr>
              <a:t>Understand how to perform Calculations (basic Arithmetic Operation) in Visual Basic</a:t>
            </a:r>
          </a:p>
          <a:p>
            <a:pPr lvl="1">
              <a:buFont typeface="Wingdings" panose="05000000000000000000" pitchFamily="2" charset="2"/>
              <a:buChar char="ü"/>
            </a:pPr>
            <a:endParaRPr lang="en-US" dirty="0">
              <a:latin typeface="Calisto MT" panose="02040603050505030304" pitchFamily="18" charset="0"/>
            </a:endParaRPr>
          </a:p>
          <a:p>
            <a:pPr lvl="1">
              <a:buFont typeface="Wingdings" panose="05000000000000000000" pitchFamily="2" charset="2"/>
              <a:buChar char="v"/>
            </a:pPr>
            <a:r>
              <a:rPr lang="en-US" b="1" i="1" dirty="0">
                <a:latin typeface="Calisto MT" panose="02040603050505030304" pitchFamily="18" charset="0"/>
              </a:rPr>
              <a:t>See Textbook - Introduction to Programming Book </a:t>
            </a:r>
            <a:r>
              <a:rPr lang="en-US" b="1" i="1" dirty="0" smtClean="0">
                <a:latin typeface="Calisto MT" panose="02040603050505030304" pitchFamily="18" charset="0"/>
              </a:rPr>
              <a:t>2 Pages 119 - 150</a:t>
            </a:r>
            <a:endParaRPr lang="en-US" b="1" i="1" dirty="0">
              <a:latin typeface="Calisto MT" panose="02040603050505030304" pitchFamily="18" charset="0"/>
            </a:endParaRPr>
          </a:p>
          <a:p>
            <a:endParaRPr lang="en-US" dirty="0">
              <a:latin typeface="Calisto MT" panose="02040603050505030304" pitchFamily="18" charset="0"/>
            </a:endParaRPr>
          </a:p>
          <a:p>
            <a:endParaRPr lang="en-US" dirty="0">
              <a:latin typeface="Calisto MT" panose="02040603050505030304" pitchFamily="18" charset="0"/>
            </a:endParaRPr>
          </a:p>
        </p:txBody>
      </p:sp>
    </p:spTree>
    <p:extLst>
      <p:ext uri="{BB962C8B-B14F-4D97-AF65-F5344CB8AC3E}">
        <p14:creationId xmlns:p14="http://schemas.microsoft.com/office/powerpoint/2010/main" val="32186080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50500" y="128694"/>
            <a:ext cx="5249577" cy="725349"/>
          </a:xfrm>
        </p:spPr>
        <p:txBody>
          <a:bodyPr>
            <a:normAutofit/>
          </a:bodyPr>
          <a:lstStyle/>
          <a:p>
            <a:pPr algn="ctr"/>
            <a:r>
              <a:rPr lang="en-US" b="1" dirty="0" smtClean="0">
                <a:solidFill>
                  <a:schemeClr val="tx1">
                    <a:lumMod val="95000"/>
                    <a:lumOff val="5000"/>
                  </a:schemeClr>
                </a:solidFill>
                <a:latin typeface="Calisto MT" panose="02040603050505030304" pitchFamily="18" charset="0"/>
              </a:rPr>
              <a:t>5.1 Variable and Constant</a:t>
            </a:r>
            <a:endParaRPr lang="en-US" b="1" dirty="0">
              <a:solidFill>
                <a:schemeClr val="tx1">
                  <a:lumMod val="95000"/>
                  <a:lumOff val="5000"/>
                </a:schemeClr>
              </a:solidFill>
              <a:latin typeface="Calisto MT" panose="02040603050505030304" pitchFamily="18" charset="0"/>
            </a:endParaRPr>
          </a:p>
        </p:txBody>
      </p:sp>
      <p:sp>
        <p:nvSpPr>
          <p:cNvPr id="5" name="Content Placeholder 4"/>
          <p:cNvSpPr>
            <a:spLocks noGrp="1"/>
          </p:cNvSpPr>
          <p:nvPr>
            <p:ph idx="1"/>
          </p:nvPr>
        </p:nvSpPr>
        <p:spPr>
          <a:xfrm>
            <a:off x="413174" y="935323"/>
            <a:ext cx="8244730" cy="3541850"/>
          </a:xfrm>
          <a:solidFill>
            <a:schemeClr val="bg1"/>
          </a:solidFill>
        </p:spPr>
        <p:txBody>
          <a:bodyPr>
            <a:noAutofit/>
          </a:bodyPr>
          <a:lstStyle/>
          <a:p>
            <a:r>
              <a:rPr lang="en-US" sz="1600" dirty="0">
                <a:latin typeface="Calisto MT" panose="02040603050505030304" pitchFamily="18" charset="0"/>
              </a:rPr>
              <a:t>Data is everywhere and data is an important part of an application.</a:t>
            </a:r>
          </a:p>
          <a:p>
            <a:r>
              <a:rPr lang="en-US" sz="1600" dirty="0">
                <a:latin typeface="Calisto MT" panose="02040603050505030304" pitchFamily="18" charset="0"/>
              </a:rPr>
              <a:t>Let’s take a few examples:</a:t>
            </a:r>
          </a:p>
          <a:p>
            <a:pPr lvl="1">
              <a:buFont typeface="Wingdings" panose="05000000000000000000" pitchFamily="2" charset="2"/>
              <a:buChar char="ü"/>
            </a:pPr>
            <a:r>
              <a:rPr lang="en-US" sz="1600" dirty="0">
                <a:latin typeface="Calisto MT" panose="02040603050505030304" pitchFamily="18" charset="0"/>
              </a:rPr>
              <a:t>A simple game needs to store the name of the user and the score scored by the user.</a:t>
            </a:r>
          </a:p>
          <a:p>
            <a:pPr lvl="1">
              <a:buFont typeface="Wingdings" panose="05000000000000000000" pitchFamily="2" charset="2"/>
              <a:buChar char="ü"/>
            </a:pPr>
            <a:r>
              <a:rPr lang="en-US" sz="1600" dirty="0" smtClean="0">
                <a:latin typeface="Calisto MT" panose="02040603050505030304" pitchFamily="18" charset="0"/>
              </a:rPr>
              <a:t>Facebook </a:t>
            </a:r>
            <a:r>
              <a:rPr lang="en-US" sz="1600" dirty="0">
                <a:latin typeface="Calisto MT" panose="02040603050505030304" pitchFamily="18" charset="0"/>
              </a:rPr>
              <a:t>needs to store the number of likes and comments on a particular post.</a:t>
            </a:r>
          </a:p>
          <a:p>
            <a:pPr lvl="1">
              <a:buFont typeface="Wingdings" panose="05000000000000000000" pitchFamily="2" charset="2"/>
              <a:buChar char="ü"/>
            </a:pPr>
            <a:r>
              <a:rPr lang="en-US" sz="1600" dirty="0">
                <a:latin typeface="Calisto MT" panose="02040603050505030304" pitchFamily="18" charset="0"/>
              </a:rPr>
              <a:t>An audio player needs to store the number of songs on a playlist.</a:t>
            </a:r>
          </a:p>
          <a:p>
            <a:pPr marL="0" indent="0">
              <a:buNone/>
            </a:pPr>
            <a:r>
              <a:rPr lang="en-US" sz="1600" dirty="0">
                <a:latin typeface="Calisto MT" panose="02040603050505030304" pitchFamily="18" charset="0"/>
              </a:rPr>
              <a:t>And the list goes on. Thus, we need to take care of all such data and store it somewhere. Well, here the concept of Variable comes to our rescue. </a:t>
            </a:r>
          </a:p>
          <a:p>
            <a:r>
              <a:rPr lang="en-US" sz="1600" dirty="0">
                <a:latin typeface="Calisto MT" panose="02040603050505030304" pitchFamily="18" charset="0"/>
              </a:rPr>
              <a:t>A </a:t>
            </a:r>
            <a:r>
              <a:rPr lang="en-US" sz="1600" b="1" dirty="0">
                <a:latin typeface="Calisto MT" panose="02040603050505030304" pitchFamily="18" charset="0"/>
              </a:rPr>
              <a:t>Variable</a:t>
            </a:r>
            <a:r>
              <a:rPr lang="en-US" sz="1600" dirty="0">
                <a:latin typeface="Calisto MT" panose="02040603050505030304" pitchFamily="18" charset="0"/>
              </a:rPr>
              <a:t> allows us to store data into the memory that can be used and manipulated later. One thing to keep in mind is, generally, this data </a:t>
            </a:r>
            <a:r>
              <a:rPr lang="en-US" sz="1600" b="1" dirty="0">
                <a:latin typeface="Calisto MT" panose="02040603050505030304" pitchFamily="18" charset="0"/>
              </a:rPr>
              <a:t>keeps on changing over a period of time</a:t>
            </a:r>
            <a:r>
              <a:rPr lang="en-US" sz="1600" dirty="0" smtClean="0">
                <a:latin typeface="Calisto MT" panose="02040603050505030304" pitchFamily="18" charset="0"/>
              </a:rPr>
              <a:t>. Like;</a:t>
            </a:r>
            <a:endParaRPr lang="en-US" sz="1600" dirty="0">
              <a:latin typeface="Calisto MT" panose="02040603050505030304" pitchFamily="18" charset="0"/>
            </a:endParaRPr>
          </a:p>
          <a:p>
            <a:pPr lvl="1">
              <a:buFont typeface="Wingdings" panose="05000000000000000000" pitchFamily="2" charset="2"/>
              <a:buChar char="ü"/>
            </a:pPr>
            <a:r>
              <a:rPr lang="en-US" sz="1600" dirty="0">
                <a:latin typeface="Calisto MT" panose="02040603050505030304" pitchFamily="18" charset="0"/>
              </a:rPr>
              <a:t>The score of the game keeps on changing.</a:t>
            </a:r>
          </a:p>
          <a:p>
            <a:pPr lvl="1">
              <a:buFont typeface="Wingdings" panose="05000000000000000000" pitchFamily="2" charset="2"/>
              <a:buChar char="ü"/>
            </a:pPr>
            <a:r>
              <a:rPr lang="en-US" sz="1600" dirty="0">
                <a:latin typeface="Calisto MT" panose="02040603050505030304" pitchFamily="18" charset="0"/>
              </a:rPr>
              <a:t>The number of likes and comments on Facebook can change.</a:t>
            </a:r>
          </a:p>
          <a:p>
            <a:pPr lvl="1">
              <a:buFont typeface="Wingdings" panose="05000000000000000000" pitchFamily="2" charset="2"/>
              <a:buChar char="ü"/>
            </a:pPr>
            <a:r>
              <a:rPr lang="en-US" sz="1600" dirty="0">
                <a:latin typeface="Calisto MT" panose="02040603050505030304" pitchFamily="18" charset="0"/>
              </a:rPr>
              <a:t>The number of songs on a playlist can change</a:t>
            </a:r>
            <a:r>
              <a:rPr lang="en-US" sz="1600" dirty="0" smtClean="0">
                <a:latin typeface="Calisto MT" panose="02040603050505030304" pitchFamily="18" charset="0"/>
              </a:rPr>
              <a:t>.</a:t>
            </a:r>
            <a:endParaRPr lang="en-US" sz="1600" dirty="0">
              <a:latin typeface="Calisto MT" panose="02040603050505030304" pitchFamily="18" charset="0"/>
            </a:endParaRPr>
          </a:p>
        </p:txBody>
      </p:sp>
    </p:spTree>
    <p:extLst>
      <p:ext uri="{BB962C8B-B14F-4D97-AF65-F5344CB8AC3E}">
        <p14:creationId xmlns:p14="http://schemas.microsoft.com/office/powerpoint/2010/main" val="9880107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8827" y="399627"/>
            <a:ext cx="5892800" cy="555809"/>
          </a:xfrm>
        </p:spPr>
        <p:txBody>
          <a:bodyPr>
            <a:normAutofit/>
          </a:bodyPr>
          <a:lstStyle/>
          <a:p>
            <a:pPr algn="ctr"/>
            <a:r>
              <a:rPr lang="en-US" sz="2800" b="1" dirty="0" smtClean="0">
                <a:solidFill>
                  <a:schemeClr val="tx1">
                    <a:lumMod val="95000"/>
                    <a:lumOff val="5000"/>
                  </a:schemeClr>
                </a:solidFill>
                <a:latin typeface="Calisto MT" panose="02040603050505030304" pitchFamily="18" charset="0"/>
              </a:rPr>
              <a:t>What is a Variable in Programming?</a:t>
            </a:r>
            <a:endParaRPr lang="en-US" sz="2800" b="1" dirty="0">
              <a:solidFill>
                <a:schemeClr val="tx1">
                  <a:lumMod val="95000"/>
                  <a:lumOff val="5000"/>
                </a:schemeClr>
              </a:solidFill>
              <a:latin typeface="Calisto MT" panose="02040603050505030304" pitchFamily="18" charset="0"/>
            </a:endParaRPr>
          </a:p>
        </p:txBody>
      </p:sp>
      <p:sp>
        <p:nvSpPr>
          <p:cNvPr id="3" name="Content Placeholder 2"/>
          <p:cNvSpPr>
            <a:spLocks noGrp="1"/>
          </p:cNvSpPr>
          <p:nvPr>
            <p:ph idx="1"/>
          </p:nvPr>
        </p:nvSpPr>
        <p:spPr>
          <a:xfrm>
            <a:off x="270933" y="1055712"/>
            <a:ext cx="8283019" cy="3529834"/>
          </a:xfrm>
          <a:noFill/>
        </p:spPr>
        <p:txBody>
          <a:bodyPr>
            <a:normAutofit fontScale="92500" lnSpcReduction="10000"/>
          </a:bodyPr>
          <a:lstStyle/>
          <a:p>
            <a:r>
              <a:rPr lang="en-US" dirty="0">
                <a:latin typeface="Calisto MT" panose="02040603050505030304" pitchFamily="18" charset="0"/>
              </a:rPr>
              <a:t>In programming, </a:t>
            </a:r>
            <a:r>
              <a:rPr lang="en-US" b="1" dirty="0">
                <a:latin typeface="Calisto MT" panose="02040603050505030304" pitchFamily="18" charset="0"/>
              </a:rPr>
              <a:t>a variable is </a:t>
            </a:r>
            <a:r>
              <a:rPr lang="en-US" b="1" dirty="0" smtClean="0">
                <a:latin typeface="Calisto MT" panose="02040603050505030304" pitchFamily="18" charset="0"/>
              </a:rPr>
              <a:t>defined as a </a:t>
            </a:r>
            <a:r>
              <a:rPr lang="en-US" b="1" dirty="0">
                <a:latin typeface="Calisto MT" panose="02040603050505030304" pitchFamily="18" charset="0"/>
              </a:rPr>
              <a:t>value that can change</a:t>
            </a:r>
            <a:r>
              <a:rPr lang="en-US" b="1" dirty="0" smtClean="0">
                <a:latin typeface="Calisto MT" panose="02040603050505030304" pitchFamily="18" charset="0"/>
              </a:rPr>
              <a:t>, or is able to change </a:t>
            </a:r>
            <a:r>
              <a:rPr lang="en-US" b="1" dirty="0">
                <a:latin typeface="Calisto MT" panose="02040603050505030304" pitchFamily="18" charset="0"/>
              </a:rPr>
              <a:t>depending on conditions or on information passed to the </a:t>
            </a:r>
            <a:r>
              <a:rPr lang="en-US" b="1" dirty="0" smtClean="0">
                <a:latin typeface="Calisto MT" panose="02040603050505030304" pitchFamily="18" charset="0"/>
              </a:rPr>
              <a:t>program</a:t>
            </a:r>
            <a:r>
              <a:rPr lang="en-US" dirty="0" smtClean="0">
                <a:latin typeface="Calisto MT" panose="02040603050505030304" pitchFamily="18" charset="0"/>
              </a:rPr>
              <a:t>.</a:t>
            </a:r>
          </a:p>
          <a:p>
            <a:r>
              <a:rPr lang="en-US" dirty="0" smtClean="0">
                <a:latin typeface="Calisto MT" panose="02040603050505030304" pitchFamily="18" charset="0"/>
              </a:rPr>
              <a:t>Typically</a:t>
            </a:r>
            <a:r>
              <a:rPr lang="en-US" dirty="0">
                <a:latin typeface="Calisto MT" panose="02040603050505030304" pitchFamily="18" charset="0"/>
              </a:rPr>
              <a:t>, a program consists of </a:t>
            </a:r>
            <a:r>
              <a:rPr lang="en-US" dirty="0" smtClean="0">
                <a:latin typeface="Calisto MT" panose="02040603050505030304" pitchFamily="18" charset="0"/>
              </a:rPr>
              <a:t>instructions </a:t>
            </a:r>
            <a:r>
              <a:rPr lang="en-US" dirty="0">
                <a:latin typeface="Calisto MT" panose="02040603050505030304" pitchFamily="18" charset="0"/>
              </a:rPr>
              <a:t>that tell the computer what to do and data that the program uses when it is </a:t>
            </a:r>
            <a:r>
              <a:rPr lang="en-US" dirty="0" smtClean="0">
                <a:latin typeface="Calisto MT" panose="02040603050505030304" pitchFamily="18" charset="0"/>
              </a:rPr>
              <a:t>running or executing.</a:t>
            </a:r>
          </a:p>
          <a:p>
            <a:r>
              <a:rPr lang="en-US" dirty="0" smtClean="0">
                <a:latin typeface="Calisto MT" panose="02040603050505030304" pitchFamily="18" charset="0"/>
              </a:rPr>
              <a:t>For </a:t>
            </a:r>
            <a:r>
              <a:rPr lang="en-US" dirty="0">
                <a:latin typeface="Calisto MT" panose="02040603050505030304" pitchFamily="18" charset="0"/>
              </a:rPr>
              <a:t>example, in a game a variable could be the current score of the player; we would add 1 to the variable whenever the player gained a point (the variable changes</a:t>
            </a:r>
            <a:r>
              <a:rPr lang="en-US" dirty="0" smtClean="0">
                <a:latin typeface="Calisto MT" panose="02040603050505030304" pitchFamily="18" charset="0"/>
              </a:rPr>
              <a:t>).</a:t>
            </a:r>
          </a:p>
          <a:p>
            <a:r>
              <a:rPr lang="en-US" dirty="0">
                <a:latin typeface="Calisto MT" panose="02040603050505030304" pitchFamily="18" charset="0"/>
              </a:rPr>
              <a:t>Variables are used to store information to be referenced and manipulated in a computer program. They also provide a way of labeling data with a descriptive name, so our programs can be understood more clearly by the reader and ourselves. It is helpful to think of variables as containers that hold information.</a:t>
            </a:r>
          </a:p>
          <a:p>
            <a:endParaRPr lang="en-US" dirty="0">
              <a:latin typeface="Calisto MT" panose="02040603050505030304" pitchFamily="18" charset="0"/>
            </a:endParaRPr>
          </a:p>
          <a:p>
            <a:endParaRPr lang="en-US" dirty="0" smtClean="0">
              <a:latin typeface="Calisto MT" panose="02040603050505030304" pitchFamily="18" charset="0"/>
            </a:endParaRPr>
          </a:p>
          <a:p>
            <a:endParaRPr lang="en-US" dirty="0" smtClean="0">
              <a:latin typeface="Calisto MT" panose="02040603050505030304" pitchFamily="18" charset="0"/>
            </a:endParaRPr>
          </a:p>
          <a:p>
            <a:endParaRPr lang="en-US" dirty="0">
              <a:latin typeface="Calisto MT" panose="02040603050505030304" pitchFamily="18" charset="0"/>
            </a:endParaRPr>
          </a:p>
        </p:txBody>
      </p:sp>
    </p:spTree>
    <p:extLst>
      <p:ext uri="{BB962C8B-B14F-4D97-AF65-F5344CB8AC3E}">
        <p14:creationId xmlns:p14="http://schemas.microsoft.com/office/powerpoint/2010/main" val="26330205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993" y="318046"/>
            <a:ext cx="2671034" cy="528115"/>
          </a:xfrm>
          <a:solidFill>
            <a:schemeClr val="bg1"/>
          </a:solidFill>
        </p:spPr>
        <p:txBody>
          <a:bodyPr>
            <a:normAutofit/>
          </a:bodyPr>
          <a:lstStyle/>
          <a:p>
            <a:r>
              <a:rPr lang="en-US" sz="2400" b="1" dirty="0" smtClean="0">
                <a:solidFill>
                  <a:schemeClr val="tx1"/>
                </a:solidFill>
                <a:latin typeface="Calisto MT" panose="02040603050505030304" pitchFamily="18" charset="0"/>
              </a:rPr>
              <a:t>Parts of a Variable</a:t>
            </a:r>
            <a:endParaRPr lang="en-US" sz="2400" b="1" dirty="0">
              <a:solidFill>
                <a:schemeClr val="tx1"/>
              </a:solidFill>
              <a:latin typeface="Calisto MT" panose="02040603050505030304" pitchFamily="18" charset="0"/>
            </a:endParaRPr>
          </a:p>
        </p:txBody>
      </p:sp>
      <p:sp>
        <p:nvSpPr>
          <p:cNvPr id="3" name="Content Placeholder 2"/>
          <p:cNvSpPr>
            <a:spLocks noGrp="1"/>
          </p:cNvSpPr>
          <p:nvPr>
            <p:ph idx="1"/>
          </p:nvPr>
        </p:nvSpPr>
        <p:spPr>
          <a:xfrm>
            <a:off x="411545" y="1008298"/>
            <a:ext cx="3539482" cy="3160664"/>
          </a:xfrm>
          <a:solidFill>
            <a:schemeClr val="bg1"/>
          </a:solidFill>
        </p:spPr>
        <p:txBody>
          <a:bodyPr>
            <a:noAutofit/>
          </a:bodyPr>
          <a:lstStyle/>
          <a:p>
            <a:r>
              <a:rPr lang="en-US" sz="1800" dirty="0" smtClean="0">
                <a:latin typeface="Calisto MT" panose="02040603050505030304" pitchFamily="18" charset="0"/>
              </a:rPr>
              <a:t>A variable </a:t>
            </a:r>
            <a:r>
              <a:rPr lang="en-US" sz="1800" dirty="0">
                <a:latin typeface="Calisto MT" panose="02040603050505030304" pitchFamily="18" charset="0"/>
              </a:rPr>
              <a:t>has basically 4</a:t>
            </a:r>
            <a:r>
              <a:rPr lang="en-US" sz="1800" dirty="0" smtClean="0">
                <a:latin typeface="Calisto MT" panose="02040603050505030304" pitchFamily="18" charset="0"/>
              </a:rPr>
              <a:t> parts:</a:t>
            </a:r>
          </a:p>
          <a:p>
            <a:endParaRPr lang="en-US" sz="1800" dirty="0" smtClean="0">
              <a:latin typeface="Calisto MT" panose="02040603050505030304" pitchFamily="18" charset="0"/>
            </a:endParaRPr>
          </a:p>
          <a:p>
            <a:pPr marL="0" indent="0">
              <a:buNone/>
            </a:pPr>
            <a:r>
              <a:rPr lang="en-US" sz="1800" b="1" dirty="0" smtClean="0">
                <a:latin typeface="Calisto MT" panose="02040603050505030304" pitchFamily="18" charset="0"/>
              </a:rPr>
              <a:t>1. </a:t>
            </a:r>
            <a:r>
              <a:rPr lang="en-US" sz="1800" b="1" dirty="0" err="1" smtClean="0">
                <a:latin typeface="Calisto MT" panose="02040603050505030304" pitchFamily="18" charset="0"/>
              </a:rPr>
              <a:t>data_type</a:t>
            </a:r>
            <a:r>
              <a:rPr lang="en-US" sz="1800" dirty="0" smtClean="0">
                <a:latin typeface="Calisto MT" panose="02040603050505030304" pitchFamily="18" charset="0"/>
              </a:rPr>
              <a:t> - Type </a:t>
            </a:r>
            <a:r>
              <a:rPr lang="en-US" sz="1800" dirty="0">
                <a:latin typeface="Calisto MT" panose="02040603050505030304" pitchFamily="18" charset="0"/>
              </a:rPr>
              <a:t>of data we wish to store in the </a:t>
            </a:r>
            <a:r>
              <a:rPr lang="en-US" sz="1800" dirty="0" smtClean="0">
                <a:latin typeface="Calisto MT" panose="02040603050505030304" pitchFamily="18" charset="0"/>
              </a:rPr>
              <a:t>variable</a:t>
            </a:r>
          </a:p>
          <a:p>
            <a:pPr marL="0" indent="0">
              <a:buNone/>
            </a:pPr>
            <a:endParaRPr lang="en-US" sz="1800" dirty="0" smtClean="0">
              <a:latin typeface="Calisto MT" panose="02040603050505030304" pitchFamily="18" charset="0"/>
            </a:endParaRPr>
          </a:p>
          <a:p>
            <a:pPr marL="0" indent="0">
              <a:buNone/>
            </a:pPr>
            <a:r>
              <a:rPr lang="en-US" sz="1800" b="1" dirty="0" smtClean="0">
                <a:latin typeface="Calisto MT" panose="02040603050505030304" pitchFamily="18" charset="0"/>
              </a:rPr>
              <a:t>2. </a:t>
            </a:r>
            <a:r>
              <a:rPr lang="en-US" sz="1800" b="1" dirty="0" err="1" smtClean="0">
                <a:latin typeface="Calisto MT" panose="02040603050505030304" pitchFamily="18" charset="0"/>
              </a:rPr>
              <a:t>variable_name</a:t>
            </a:r>
            <a:r>
              <a:rPr lang="en-US" sz="1800" dirty="0" smtClean="0">
                <a:latin typeface="Calisto MT" panose="02040603050505030304" pitchFamily="18" charset="0"/>
              </a:rPr>
              <a:t> - The </a:t>
            </a:r>
            <a:r>
              <a:rPr lang="en-US" sz="1800" dirty="0">
                <a:latin typeface="Calisto MT" panose="02040603050505030304" pitchFamily="18" charset="0"/>
              </a:rPr>
              <a:t>name we wish to give to the </a:t>
            </a:r>
            <a:r>
              <a:rPr lang="en-US" sz="1800" dirty="0" smtClean="0">
                <a:latin typeface="Calisto MT" panose="02040603050505030304" pitchFamily="18" charset="0"/>
              </a:rPr>
              <a:t>variable</a:t>
            </a:r>
          </a:p>
          <a:p>
            <a:pPr marL="0" indent="0">
              <a:buNone/>
            </a:pPr>
            <a:endParaRPr lang="en-US" sz="1800" dirty="0" smtClean="0">
              <a:latin typeface="Calisto MT" panose="02040603050505030304" pitchFamily="18" charset="0"/>
            </a:endParaRPr>
          </a:p>
          <a:p>
            <a:pPr marL="0" indent="0">
              <a:buNone/>
            </a:pPr>
            <a:r>
              <a:rPr lang="en-US" sz="1800" b="1" dirty="0" smtClean="0">
                <a:latin typeface="Calisto MT" panose="02040603050505030304" pitchFamily="18" charset="0"/>
              </a:rPr>
              <a:t>3. =</a:t>
            </a:r>
            <a:r>
              <a:rPr lang="en-US" sz="1800" dirty="0" smtClean="0">
                <a:latin typeface="Calisto MT" panose="02040603050505030304" pitchFamily="18" charset="0"/>
              </a:rPr>
              <a:t> - Equal </a:t>
            </a:r>
            <a:r>
              <a:rPr lang="en-US" sz="1800" dirty="0">
                <a:latin typeface="Calisto MT" panose="02040603050505030304" pitchFamily="18" charset="0"/>
              </a:rPr>
              <a:t>To sign is used to assign value to a </a:t>
            </a:r>
            <a:r>
              <a:rPr lang="en-US" sz="1800" dirty="0" smtClean="0">
                <a:latin typeface="Calisto MT" panose="02040603050505030304" pitchFamily="18" charset="0"/>
              </a:rPr>
              <a:t>variable</a:t>
            </a:r>
          </a:p>
          <a:p>
            <a:pPr marL="0" indent="0">
              <a:buNone/>
            </a:pPr>
            <a:endParaRPr lang="en-US" sz="1800" dirty="0" smtClean="0">
              <a:latin typeface="Calisto MT" panose="02040603050505030304" pitchFamily="18" charset="0"/>
            </a:endParaRPr>
          </a:p>
          <a:p>
            <a:pPr marL="0" indent="0">
              <a:buNone/>
            </a:pPr>
            <a:r>
              <a:rPr lang="en-US" sz="1800" b="1" dirty="0" smtClean="0">
                <a:latin typeface="Calisto MT" panose="02040603050505030304" pitchFamily="18" charset="0"/>
              </a:rPr>
              <a:t>4. value</a:t>
            </a:r>
            <a:r>
              <a:rPr lang="en-US" sz="1800" dirty="0" smtClean="0">
                <a:solidFill>
                  <a:srgbClr val="00B0F0"/>
                </a:solidFill>
                <a:latin typeface="Calisto MT" panose="02040603050505030304" pitchFamily="18" charset="0"/>
              </a:rPr>
              <a:t> </a:t>
            </a:r>
            <a:r>
              <a:rPr lang="en-US" sz="1800" dirty="0" smtClean="0">
                <a:latin typeface="Calisto MT" panose="02040603050505030304" pitchFamily="18" charset="0"/>
              </a:rPr>
              <a:t>- The </a:t>
            </a:r>
            <a:r>
              <a:rPr lang="en-US" sz="1800" dirty="0">
                <a:latin typeface="Calisto MT" panose="02040603050505030304" pitchFamily="18" charset="0"/>
              </a:rPr>
              <a:t>value that we need to store.</a:t>
            </a:r>
          </a:p>
          <a:p>
            <a:endParaRPr lang="en-US" sz="1800" dirty="0">
              <a:latin typeface="Calisto MT" panose="02040603050505030304" pitchFamily="18" charset="0"/>
            </a:endParaRPr>
          </a:p>
        </p:txBody>
      </p:sp>
      <p:sp>
        <p:nvSpPr>
          <p:cNvPr id="4" name="Title 1"/>
          <p:cNvSpPr txBox="1">
            <a:spLocks/>
          </p:cNvSpPr>
          <p:nvPr/>
        </p:nvSpPr>
        <p:spPr>
          <a:xfrm>
            <a:off x="4111413" y="318046"/>
            <a:ext cx="4606818" cy="528115"/>
          </a:xfrm>
          <a:prstGeom prst="rect">
            <a:avLst/>
          </a:prstGeom>
        </p:spPr>
        <p:txBody>
          <a:bodyPr vert="horz" lIns="91440" tIns="45720" rIns="91440" bIns="45720" rtlCol="0" anchor="ctr">
            <a:noAutofit/>
          </a:bodyPr>
          <a:lstStyle>
            <a:lvl1pPr algn="l" defTabSz="914400" rtl="0" eaLnBrk="1" latinLnBrk="0" hangingPunct="1">
              <a:spcBef>
                <a:spcPct val="0"/>
              </a:spcBef>
              <a:buNone/>
              <a:defRPr sz="3600" kern="1200">
                <a:solidFill>
                  <a:srgbClr val="FF0D97"/>
                </a:solidFill>
                <a:effectLst>
                  <a:outerShdw blurRad="50800" dist="38100" dir="2700000" algn="tl" rotWithShape="0">
                    <a:prstClr val="black">
                      <a:alpha val="40000"/>
                    </a:prstClr>
                  </a:outerShdw>
                </a:effectLst>
                <a:latin typeface="+mj-lt"/>
                <a:ea typeface="+mj-ea"/>
                <a:cs typeface="+mj-cs"/>
              </a:defRPr>
            </a:lvl1pPr>
          </a:lstStyle>
          <a:p>
            <a:r>
              <a:rPr lang="en-US" sz="2400" b="1" dirty="0" smtClean="0">
                <a:solidFill>
                  <a:schemeClr val="tx1"/>
                </a:solidFill>
                <a:latin typeface="Calisto MT" panose="02040603050505030304" pitchFamily="18" charset="0"/>
              </a:rPr>
              <a:t>A Simple Example of Declaring a Variable</a:t>
            </a:r>
            <a:endParaRPr lang="en-US" sz="2400" b="1" dirty="0">
              <a:solidFill>
                <a:schemeClr val="tx1"/>
              </a:solidFill>
              <a:latin typeface="Calisto MT" panose="02040603050505030304" pitchFamily="18" charset="0"/>
            </a:endParaRPr>
          </a:p>
        </p:txBody>
      </p:sp>
      <p:sp>
        <p:nvSpPr>
          <p:cNvPr id="5" name="Content Placeholder 2"/>
          <p:cNvSpPr txBox="1">
            <a:spLocks/>
          </p:cNvSpPr>
          <p:nvPr/>
        </p:nvSpPr>
        <p:spPr>
          <a:xfrm>
            <a:off x="3951027" y="1069258"/>
            <a:ext cx="4713650" cy="3619239"/>
          </a:xfrm>
          <a:prstGeom prst="rect">
            <a:avLst/>
          </a:prstGeom>
        </p:spPr>
        <p:txBody>
          <a:bodyPr vert="horz" lIns="91440" tIns="45720" rIns="91440" bIns="45720" rtlCol="0">
            <a:normAutofit fontScale="62500" lnSpcReduction="20000"/>
          </a:bodyPr>
          <a:lstStyle>
            <a:lvl1pPr marL="342900" indent="-342900" algn="l" defTabSz="914400" rtl="0" eaLnBrk="1" latinLnBrk="0" hangingPunct="1">
              <a:spcBef>
                <a:spcPct val="20000"/>
              </a:spcBef>
              <a:buFont typeface="Arial" pitchFamily="34" charset="0"/>
              <a:buChar char="•"/>
              <a:defRPr sz="2800" kern="1200">
                <a:solidFill>
                  <a:srgbClr val="0000CC"/>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rgbClr val="0000CC"/>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rgbClr val="0000CC"/>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rgbClr val="0000CC"/>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rgbClr val="0000CC"/>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solidFill>
                  <a:schemeClr val="tx1"/>
                </a:solidFill>
                <a:latin typeface="Calisto MT" panose="02040603050505030304" pitchFamily="18" charset="0"/>
              </a:rPr>
              <a:t>Let us define a variable to store the age of the user.</a:t>
            </a:r>
          </a:p>
          <a:p>
            <a:pPr marL="0" indent="0">
              <a:buFont typeface="Arial" pitchFamily="34" charset="0"/>
              <a:buNone/>
            </a:pPr>
            <a:r>
              <a:rPr lang="en-US" dirty="0" smtClean="0">
                <a:solidFill>
                  <a:schemeClr val="tx1"/>
                </a:solidFill>
                <a:latin typeface="Calisto MT" panose="02040603050505030304" pitchFamily="18" charset="0"/>
              </a:rPr>
              <a:t>	</a:t>
            </a:r>
            <a:r>
              <a:rPr lang="en-US" b="1" dirty="0" err="1" smtClean="0">
                <a:solidFill>
                  <a:schemeClr val="tx1"/>
                </a:solidFill>
                <a:latin typeface="Calisto MT" panose="02040603050505030304" pitchFamily="18" charset="0"/>
              </a:rPr>
              <a:t>int</a:t>
            </a:r>
            <a:r>
              <a:rPr lang="en-US" b="1" dirty="0" smtClean="0">
                <a:solidFill>
                  <a:schemeClr val="tx1"/>
                </a:solidFill>
                <a:latin typeface="Calisto MT" panose="02040603050505030304" pitchFamily="18" charset="0"/>
              </a:rPr>
              <a:t> age = 18</a:t>
            </a:r>
          </a:p>
          <a:p>
            <a:pPr marL="0" indent="0">
              <a:buFont typeface="Arial" pitchFamily="34" charset="0"/>
              <a:buNone/>
            </a:pPr>
            <a:r>
              <a:rPr lang="en-US" dirty="0" smtClean="0">
                <a:solidFill>
                  <a:schemeClr val="tx1"/>
                </a:solidFill>
                <a:latin typeface="Calisto MT" panose="02040603050505030304" pitchFamily="18" charset="0"/>
              </a:rPr>
              <a:t>    Here,</a:t>
            </a:r>
          </a:p>
          <a:p>
            <a:pPr marL="971550" lvl="1" indent="-514350">
              <a:buFont typeface="+mj-lt"/>
              <a:buAutoNum type="romanLcPeriod"/>
            </a:pPr>
            <a:r>
              <a:rPr lang="en-US" b="1" i="1" dirty="0" err="1" smtClean="0">
                <a:solidFill>
                  <a:schemeClr val="tx1"/>
                </a:solidFill>
                <a:latin typeface="Calisto MT" panose="02040603050505030304" pitchFamily="18" charset="0"/>
              </a:rPr>
              <a:t>int</a:t>
            </a:r>
            <a:r>
              <a:rPr lang="en-US" i="1" dirty="0" smtClean="0">
                <a:solidFill>
                  <a:schemeClr val="tx1"/>
                </a:solidFill>
                <a:latin typeface="Calisto MT" panose="02040603050505030304" pitchFamily="18" charset="0"/>
              </a:rPr>
              <a:t> is the </a:t>
            </a:r>
            <a:r>
              <a:rPr lang="en-US" b="1" i="1" dirty="0" smtClean="0">
                <a:solidFill>
                  <a:schemeClr val="tx1"/>
                </a:solidFill>
                <a:latin typeface="Calisto MT" panose="02040603050505030304" pitchFamily="18" charset="0"/>
              </a:rPr>
              <a:t>type of data</a:t>
            </a:r>
            <a:r>
              <a:rPr lang="en-US" dirty="0" smtClean="0">
                <a:solidFill>
                  <a:schemeClr val="tx1"/>
                </a:solidFill>
                <a:latin typeface="Calisto MT" panose="02040603050505030304" pitchFamily="18" charset="0"/>
              </a:rPr>
              <a:t>. </a:t>
            </a:r>
            <a:r>
              <a:rPr lang="en-US" dirty="0" err="1" smtClean="0">
                <a:solidFill>
                  <a:schemeClr val="tx1"/>
                </a:solidFill>
                <a:latin typeface="Calisto MT" panose="02040603050505030304" pitchFamily="18" charset="0"/>
              </a:rPr>
              <a:t>int</a:t>
            </a:r>
            <a:r>
              <a:rPr lang="en-US" dirty="0" smtClean="0">
                <a:solidFill>
                  <a:schemeClr val="tx1"/>
                </a:solidFill>
                <a:latin typeface="Calisto MT" panose="02040603050505030304" pitchFamily="18" charset="0"/>
              </a:rPr>
              <a:t> stands for Integer and is used to store numeric values. </a:t>
            </a:r>
          </a:p>
          <a:p>
            <a:pPr marL="971550" lvl="1" indent="-514350">
              <a:buFont typeface="+mj-lt"/>
              <a:buAutoNum type="romanLcPeriod"/>
            </a:pPr>
            <a:r>
              <a:rPr lang="en-US" b="1" i="1" dirty="0">
                <a:solidFill>
                  <a:schemeClr val="tx1"/>
                </a:solidFill>
                <a:latin typeface="Calisto MT" panose="02040603050505030304" pitchFamily="18" charset="0"/>
              </a:rPr>
              <a:t>a</a:t>
            </a:r>
            <a:r>
              <a:rPr lang="en-US" b="1" i="1" dirty="0" smtClean="0">
                <a:solidFill>
                  <a:schemeClr val="tx1"/>
                </a:solidFill>
                <a:latin typeface="Calisto MT" panose="02040603050505030304" pitchFamily="18" charset="0"/>
              </a:rPr>
              <a:t>ge</a:t>
            </a:r>
            <a:r>
              <a:rPr lang="en-US" i="1" dirty="0" smtClean="0">
                <a:solidFill>
                  <a:schemeClr val="tx1"/>
                </a:solidFill>
                <a:latin typeface="Calisto MT" panose="02040603050505030304" pitchFamily="18" charset="0"/>
              </a:rPr>
              <a:t> is the </a:t>
            </a:r>
            <a:r>
              <a:rPr lang="en-US" b="1" i="1" dirty="0" smtClean="0">
                <a:solidFill>
                  <a:schemeClr val="tx1"/>
                </a:solidFill>
                <a:latin typeface="Calisto MT" panose="02040603050505030304" pitchFamily="18" charset="0"/>
              </a:rPr>
              <a:t>name of the variable</a:t>
            </a:r>
            <a:r>
              <a:rPr lang="en-US" dirty="0" smtClean="0">
                <a:solidFill>
                  <a:schemeClr val="tx1"/>
                </a:solidFill>
                <a:latin typeface="Calisto MT" panose="02040603050505030304" pitchFamily="18" charset="0"/>
              </a:rPr>
              <a:t>. The memory where we will store the value will be referred to as the age.</a:t>
            </a:r>
          </a:p>
          <a:p>
            <a:pPr marL="971550" lvl="1" indent="-514350">
              <a:buFont typeface="+mj-lt"/>
              <a:buAutoNum type="romanLcPeriod"/>
            </a:pPr>
            <a:r>
              <a:rPr lang="en-US" b="1" i="1" dirty="0" smtClean="0">
                <a:solidFill>
                  <a:schemeClr val="tx1"/>
                </a:solidFill>
                <a:latin typeface="Calisto MT" panose="02040603050505030304" pitchFamily="18" charset="0"/>
              </a:rPr>
              <a:t>=</a:t>
            </a:r>
            <a:r>
              <a:rPr lang="en-US" i="1" dirty="0" smtClean="0">
                <a:solidFill>
                  <a:schemeClr val="tx1"/>
                </a:solidFill>
                <a:latin typeface="Calisto MT" panose="02040603050505030304" pitchFamily="18" charset="0"/>
              </a:rPr>
              <a:t> is the </a:t>
            </a:r>
            <a:r>
              <a:rPr lang="en-US" b="1" i="1" dirty="0" smtClean="0">
                <a:solidFill>
                  <a:schemeClr val="tx1"/>
                </a:solidFill>
                <a:latin typeface="Calisto MT" panose="02040603050505030304" pitchFamily="18" charset="0"/>
              </a:rPr>
              <a:t>assignment sign</a:t>
            </a:r>
            <a:r>
              <a:rPr lang="en-US" dirty="0" smtClean="0">
                <a:solidFill>
                  <a:schemeClr val="tx1"/>
                </a:solidFill>
                <a:latin typeface="Calisto MT" panose="02040603050505030304" pitchFamily="18" charset="0"/>
              </a:rPr>
              <a:t>. It is used to assign value to a variable.</a:t>
            </a:r>
          </a:p>
          <a:p>
            <a:pPr marL="971550" lvl="1" indent="-514350">
              <a:buFont typeface="+mj-lt"/>
              <a:buAutoNum type="romanLcPeriod"/>
            </a:pPr>
            <a:r>
              <a:rPr lang="en-US" b="1" i="1" dirty="0" smtClean="0">
                <a:solidFill>
                  <a:schemeClr val="tx1"/>
                </a:solidFill>
                <a:latin typeface="Calisto MT" panose="02040603050505030304" pitchFamily="18" charset="0"/>
              </a:rPr>
              <a:t>18</a:t>
            </a:r>
            <a:r>
              <a:rPr lang="en-US" i="1" dirty="0" smtClean="0">
                <a:solidFill>
                  <a:schemeClr val="tx1"/>
                </a:solidFill>
                <a:latin typeface="Calisto MT" panose="02040603050505030304" pitchFamily="18" charset="0"/>
              </a:rPr>
              <a:t> is the </a:t>
            </a:r>
            <a:r>
              <a:rPr lang="en-US" b="1" i="1" dirty="0" smtClean="0">
                <a:solidFill>
                  <a:schemeClr val="tx1"/>
                </a:solidFill>
                <a:latin typeface="Calisto MT" panose="02040603050505030304" pitchFamily="18" charset="0"/>
              </a:rPr>
              <a:t>value</a:t>
            </a:r>
            <a:r>
              <a:rPr lang="en-US" i="1" dirty="0" smtClean="0">
                <a:solidFill>
                  <a:schemeClr val="tx1"/>
                </a:solidFill>
                <a:latin typeface="Calisto MT" panose="02040603050505030304" pitchFamily="18" charset="0"/>
              </a:rPr>
              <a:t> stored in the variable named age. </a:t>
            </a:r>
          </a:p>
          <a:p>
            <a:endParaRPr lang="en-US" dirty="0">
              <a:latin typeface="Calisto MT" panose="02040603050505030304" pitchFamily="18" charset="0"/>
            </a:endParaRPr>
          </a:p>
        </p:txBody>
      </p:sp>
    </p:spTree>
    <p:extLst>
      <p:ext uri="{BB962C8B-B14F-4D97-AF65-F5344CB8AC3E}">
        <p14:creationId xmlns:p14="http://schemas.microsoft.com/office/powerpoint/2010/main" val="31159705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79583"/>
            <a:ext cx="6305973" cy="559167"/>
          </a:xfrm>
        </p:spPr>
        <p:txBody>
          <a:bodyPr>
            <a:normAutofit/>
          </a:bodyPr>
          <a:lstStyle/>
          <a:p>
            <a:pPr algn="ctr"/>
            <a:r>
              <a:rPr lang="en-US" sz="2400" b="1" dirty="0">
                <a:solidFill>
                  <a:schemeClr val="tx1">
                    <a:lumMod val="95000"/>
                    <a:lumOff val="5000"/>
                  </a:schemeClr>
                </a:solidFill>
                <a:latin typeface="Calisto MT" panose="02040603050505030304" pitchFamily="18" charset="0"/>
              </a:rPr>
              <a:t>What </a:t>
            </a:r>
            <a:r>
              <a:rPr lang="en-US" sz="2400" b="1" dirty="0" smtClean="0">
                <a:solidFill>
                  <a:schemeClr val="tx1">
                    <a:lumMod val="95000"/>
                    <a:lumOff val="5000"/>
                  </a:schemeClr>
                </a:solidFill>
                <a:latin typeface="Calisto MT" panose="02040603050505030304" pitchFamily="18" charset="0"/>
              </a:rPr>
              <a:t>is a Constant </a:t>
            </a:r>
            <a:r>
              <a:rPr lang="en-US" sz="2400" b="1" dirty="0">
                <a:solidFill>
                  <a:schemeClr val="tx1">
                    <a:lumMod val="95000"/>
                    <a:lumOff val="5000"/>
                  </a:schemeClr>
                </a:solidFill>
                <a:latin typeface="Calisto MT" panose="02040603050505030304" pitchFamily="18" charset="0"/>
              </a:rPr>
              <a:t>in Programming?</a:t>
            </a:r>
            <a:endParaRPr lang="en-US" sz="2400" dirty="0">
              <a:solidFill>
                <a:srgbClr val="00B050"/>
              </a:solidFill>
              <a:latin typeface="Calisto MT" panose="02040603050505030304" pitchFamily="18" charset="0"/>
            </a:endParaRPr>
          </a:p>
        </p:txBody>
      </p:sp>
      <p:sp>
        <p:nvSpPr>
          <p:cNvPr id="3" name="Content Placeholder 2"/>
          <p:cNvSpPr>
            <a:spLocks noGrp="1"/>
          </p:cNvSpPr>
          <p:nvPr>
            <p:ph idx="1"/>
          </p:nvPr>
        </p:nvSpPr>
        <p:spPr>
          <a:xfrm>
            <a:off x="318347" y="927557"/>
            <a:ext cx="8195733" cy="3773136"/>
          </a:xfrm>
        </p:spPr>
        <p:txBody>
          <a:bodyPr>
            <a:normAutofit lnSpcReduction="10000"/>
          </a:bodyPr>
          <a:lstStyle/>
          <a:p>
            <a:r>
              <a:rPr lang="en-US" dirty="0" smtClean="0">
                <a:latin typeface="Calisto MT" panose="02040603050505030304" pitchFamily="18" charset="0"/>
              </a:rPr>
              <a:t>While, a variable </a:t>
            </a:r>
            <a:r>
              <a:rPr lang="en-US" dirty="0">
                <a:latin typeface="Calisto MT" panose="02040603050505030304" pitchFamily="18" charset="0"/>
              </a:rPr>
              <a:t>is a name given to the </a:t>
            </a:r>
            <a:r>
              <a:rPr lang="en-US" b="1" dirty="0">
                <a:latin typeface="Calisto MT" panose="02040603050505030304" pitchFamily="18" charset="0"/>
              </a:rPr>
              <a:t>memory location that holds data that can be changed during program </a:t>
            </a:r>
            <a:r>
              <a:rPr lang="en-US" b="1" dirty="0" smtClean="0">
                <a:latin typeface="Calisto MT" panose="02040603050505030304" pitchFamily="18" charset="0"/>
              </a:rPr>
              <a:t>execution</a:t>
            </a:r>
            <a:r>
              <a:rPr lang="en-US" dirty="0" smtClean="0">
                <a:latin typeface="Calisto MT" panose="02040603050505030304" pitchFamily="18" charset="0"/>
              </a:rPr>
              <a:t>, a constant </a:t>
            </a:r>
            <a:r>
              <a:rPr lang="en-US" dirty="0">
                <a:latin typeface="Calisto MT" panose="02040603050505030304" pitchFamily="18" charset="0"/>
              </a:rPr>
              <a:t>is </a:t>
            </a:r>
            <a:r>
              <a:rPr lang="en-US" b="1" dirty="0" smtClean="0">
                <a:latin typeface="Calisto MT" panose="02040603050505030304" pitchFamily="18" charset="0"/>
              </a:rPr>
              <a:t>a memory location that holds data that  </a:t>
            </a:r>
            <a:r>
              <a:rPr lang="en-US" b="1" dirty="0">
                <a:latin typeface="Calisto MT" panose="02040603050505030304" pitchFamily="18" charset="0"/>
              </a:rPr>
              <a:t>cannot be </a:t>
            </a:r>
            <a:r>
              <a:rPr lang="en-US" b="1" dirty="0" smtClean="0">
                <a:latin typeface="Calisto MT" panose="02040603050505030304" pitchFamily="18" charset="0"/>
              </a:rPr>
              <a:t>changed during program execution</a:t>
            </a:r>
            <a:r>
              <a:rPr lang="en-US" dirty="0" smtClean="0">
                <a:latin typeface="Calisto MT" panose="02040603050505030304" pitchFamily="18" charset="0"/>
              </a:rPr>
              <a:t>.</a:t>
            </a:r>
          </a:p>
          <a:p>
            <a:r>
              <a:rPr lang="en-US" dirty="0" smtClean="0">
                <a:latin typeface="Calisto MT" panose="02040603050505030304" pitchFamily="18" charset="0"/>
              </a:rPr>
              <a:t>Constants </a:t>
            </a:r>
            <a:r>
              <a:rPr lang="en-US" dirty="0">
                <a:latin typeface="Calisto MT" panose="02040603050505030304" pitchFamily="18" charset="0"/>
              </a:rPr>
              <a:t>are useful because they are declared and assigned once, but can be referred to over and over again throughout the program</a:t>
            </a:r>
            <a:r>
              <a:rPr lang="en-US" dirty="0" smtClean="0">
                <a:latin typeface="Calisto MT" panose="02040603050505030304" pitchFamily="18" charset="0"/>
              </a:rPr>
              <a:t>.</a:t>
            </a:r>
          </a:p>
          <a:p>
            <a:r>
              <a:rPr lang="en-US" dirty="0" smtClean="0">
                <a:latin typeface="Calisto MT" panose="02040603050505030304" pitchFamily="18" charset="0"/>
              </a:rPr>
              <a:t>For example, PI </a:t>
            </a:r>
            <a:r>
              <a:rPr lang="en-US" dirty="0">
                <a:latin typeface="Calisto MT" panose="02040603050505030304" pitchFamily="18" charset="0"/>
              </a:rPr>
              <a:t>= 3.1415927 whose value is universal and does not change</a:t>
            </a:r>
            <a:r>
              <a:rPr lang="en-US" dirty="0" smtClean="0">
                <a:latin typeface="Calisto MT" panose="02040603050505030304" pitchFamily="18" charset="0"/>
              </a:rPr>
              <a:t>.</a:t>
            </a:r>
          </a:p>
          <a:p>
            <a:r>
              <a:rPr lang="en-US" dirty="0">
                <a:latin typeface="Calisto MT" panose="02040603050505030304" pitchFamily="18" charset="0"/>
              </a:rPr>
              <a:t>Constants provide a way to use words to describe that value that does not change. In the previous chapters, we have use Visual Basic Constants such as </a:t>
            </a:r>
            <a:r>
              <a:rPr lang="en-US" dirty="0" err="1">
                <a:latin typeface="Calisto MT" panose="02040603050505030304" pitchFamily="18" charset="0"/>
              </a:rPr>
              <a:t>vbBlue</a:t>
            </a:r>
            <a:r>
              <a:rPr lang="en-US" dirty="0">
                <a:latin typeface="Calisto MT" panose="02040603050505030304" pitchFamily="18" charset="0"/>
              </a:rPr>
              <a:t>, </a:t>
            </a:r>
            <a:r>
              <a:rPr lang="en-US" dirty="0" err="1">
                <a:latin typeface="Calisto MT" panose="02040603050505030304" pitchFamily="18" charset="0"/>
              </a:rPr>
              <a:t>vbRed</a:t>
            </a:r>
            <a:r>
              <a:rPr lang="en-US" dirty="0">
                <a:latin typeface="Calisto MT" panose="02040603050505030304" pitchFamily="18" charset="0"/>
              </a:rPr>
              <a:t>, and so on. Those constants are built into Visual Basic – you don’t need to define them anywhere. </a:t>
            </a:r>
            <a:endParaRPr lang="en-US" dirty="0" smtClean="0">
              <a:latin typeface="Calisto MT" panose="02040603050505030304" pitchFamily="18" charset="0"/>
            </a:endParaRPr>
          </a:p>
        </p:txBody>
      </p:sp>
    </p:spTree>
    <p:extLst>
      <p:ext uri="{BB962C8B-B14F-4D97-AF65-F5344CB8AC3E}">
        <p14:creationId xmlns:p14="http://schemas.microsoft.com/office/powerpoint/2010/main" val="17285918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614" y="589279"/>
            <a:ext cx="8277014" cy="3820160"/>
          </a:xfrm>
        </p:spPr>
        <p:txBody>
          <a:bodyPr>
            <a:normAutofit fontScale="92500"/>
          </a:bodyPr>
          <a:lstStyle/>
          <a:p>
            <a:r>
              <a:rPr lang="en-US" dirty="0">
                <a:latin typeface="Calisto MT" panose="02040603050505030304" pitchFamily="18" charset="0"/>
              </a:rPr>
              <a:t>There are two types of constants:</a:t>
            </a:r>
          </a:p>
          <a:p>
            <a:pPr marL="914400" lvl="1" indent="-514350">
              <a:buFont typeface="+mj-lt"/>
              <a:buAutoNum type="arabicPeriod"/>
            </a:pPr>
            <a:r>
              <a:rPr lang="en-US" b="1" dirty="0">
                <a:latin typeface="Calisto MT" panose="02040603050505030304" pitchFamily="18" charset="0"/>
              </a:rPr>
              <a:t>Named Constants </a:t>
            </a:r>
          </a:p>
          <a:p>
            <a:pPr marL="914400" lvl="1" indent="-514350">
              <a:buFont typeface="+mj-lt"/>
              <a:buAutoNum type="arabicPeriod"/>
            </a:pPr>
            <a:r>
              <a:rPr lang="en-US" b="1" dirty="0">
                <a:latin typeface="Calisto MT" panose="02040603050505030304" pitchFamily="18" charset="0"/>
              </a:rPr>
              <a:t>Intrinsic Constants </a:t>
            </a:r>
          </a:p>
          <a:p>
            <a:r>
              <a:rPr lang="en-US" dirty="0" smtClean="0">
                <a:latin typeface="Calisto MT" panose="02040603050505030304" pitchFamily="18" charset="0"/>
              </a:rPr>
              <a:t>The constants that you define for yourself are called </a:t>
            </a:r>
            <a:r>
              <a:rPr lang="en-US" b="1" dirty="0" smtClean="0">
                <a:latin typeface="Calisto MT" panose="02040603050505030304" pitchFamily="18" charset="0"/>
              </a:rPr>
              <a:t>named constants </a:t>
            </a:r>
            <a:r>
              <a:rPr lang="en-US" dirty="0" smtClean="0">
                <a:latin typeface="Calisto MT" panose="02040603050505030304" pitchFamily="18" charset="0"/>
              </a:rPr>
              <a:t>and those that are built into VB are called </a:t>
            </a:r>
            <a:r>
              <a:rPr lang="en-US" b="1" dirty="0" smtClean="0">
                <a:latin typeface="Calisto MT" panose="02040603050505030304" pitchFamily="18" charset="0"/>
              </a:rPr>
              <a:t>intrinsic constants</a:t>
            </a:r>
            <a:r>
              <a:rPr lang="en-US" dirty="0" smtClean="0">
                <a:latin typeface="Calisto MT" panose="02040603050505030304" pitchFamily="18" charset="0"/>
              </a:rPr>
              <a:t>.</a:t>
            </a:r>
          </a:p>
          <a:p>
            <a:r>
              <a:rPr lang="en-US" dirty="0">
                <a:latin typeface="Calisto MT" panose="02040603050505030304" pitchFamily="18" charset="0"/>
              </a:rPr>
              <a:t>You declare named constant using the keyword ‘</a:t>
            </a:r>
            <a:r>
              <a:rPr lang="en-US" b="1" dirty="0" err="1">
                <a:latin typeface="Calisto MT" panose="02040603050505030304" pitchFamily="18" charset="0"/>
              </a:rPr>
              <a:t>const</a:t>
            </a:r>
            <a:r>
              <a:rPr lang="en-US" b="1" dirty="0">
                <a:latin typeface="Calisto MT" panose="02040603050505030304" pitchFamily="18" charset="0"/>
              </a:rPr>
              <a:t>’</a:t>
            </a:r>
            <a:r>
              <a:rPr lang="en-US" dirty="0">
                <a:latin typeface="Calisto MT" panose="02040603050505030304" pitchFamily="18" charset="0"/>
              </a:rPr>
              <a:t>. You give the constant a </a:t>
            </a:r>
            <a:r>
              <a:rPr lang="en-US" b="1" dirty="0">
                <a:latin typeface="Calisto MT" panose="02040603050505030304" pitchFamily="18" charset="0"/>
              </a:rPr>
              <a:t>name</a:t>
            </a:r>
            <a:r>
              <a:rPr lang="en-US" dirty="0">
                <a:latin typeface="Calisto MT" panose="02040603050505030304" pitchFamily="18" charset="0"/>
              </a:rPr>
              <a:t>, a </a:t>
            </a:r>
            <a:r>
              <a:rPr lang="en-US" b="1" dirty="0">
                <a:latin typeface="Calisto MT" panose="02040603050505030304" pitchFamily="18" charset="0"/>
              </a:rPr>
              <a:t>data type </a:t>
            </a:r>
            <a:r>
              <a:rPr lang="en-US" dirty="0">
                <a:latin typeface="Calisto MT" panose="02040603050505030304" pitchFamily="18" charset="0"/>
              </a:rPr>
              <a:t>and a </a:t>
            </a:r>
            <a:r>
              <a:rPr lang="en-US" b="1" dirty="0">
                <a:latin typeface="Calisto MT" panose="02040603050505030304" pitchFamily="18" charset="0"/>
              </a:rPr>
              <a:t>value</a:t>
            </a:r>
            <a:r>
              <a:rPr lang="en-US" dirty="0">
                <a:latin typeface="Calisto MT" panose="02040603050505030304" pitchFamily="18" charset="0"/>
              </a:rPr>
              <a:t>. Once a value is declared as a constant, it cannot be changed during the execution of a program. The data type that you declare and the data type of the value must be matched. For example, if you declare an integer constant, you must give it an integer value</a:t>
            </a:r>
            <a:r>
              <a:rPr lang="en-US" dirty="0" smtClean="0">
                <a:latin typeface="Calisto MT" panose="02040603050505030304" pitchFamily="18" charset="0"/>
              </a:rPr>
              <a:t>.</a:t>
            </a:r>
          </a:p>
          <a:p>
            <a:r>
              <a:rPr lang="en-US" dirty="0">
                <a:latin typeface="Calisto MT" panose="02040603050505030304" pitchFamily="18" charset="0"/>
              </a:rPr>
              <a:t>The general Form of a Constant Statement  is:</a:t>
            </a:r>
          </a:p>
          <a:p>
            <a:pPr marL="0" indent="0">
              <a:buNone/>
            </a:pPr>
            <a:r>
              <a:rPr lang="en-US" b="1" dirty="0">
                <a:latin typeface="Calisto MT" panose="02040603050505030304" pitchFamily="18" charset="0"/>
              </a:rPr>
              <a:t>	</a:t>
            </a:r>
            <a:r>
              <a:rPr lang="en-US" b="1" dirty="0" err="1">
                <a:latin typeface="Calisto MT" panose="02040603050505030304" pitchFamily="18" charset="0"/>
              </a:rPr>
              <a:t>Const</a:t>
            </a:r>
            <a:r>
              <a:rPr lang="en-US" b="1" dirty="0">
                <a:latin typeface="Calisto MT" panose="02040603050505030304" pitchFamily="18" charset="0"/>
              </a:rPr>
              <a:t> Identifier [As </a:t>
            </a:r>
            <a:r>
              <a:rPr lang="en-US" b="1" dirty="0" err="1">
                <a:latin typeface="Calisto MT" panose="02040603050505030304" pitchFamily="18" charset="0"/>
              </a:rPr>
              <a:t>Datatype</a:t>
            </a:r>
            <a:r>
              <a:rPr lang="en-US" b="1" dirty="0">
                <a:latin typeface="Calisto MT" panose="02040603050505030304" pitchFamily="18" charset="0"/>
              </a:rPr>
              <a:t>] = </a:t>
            </a:r>
            <a:r>
              <a:rPr lang="en-US" b="1" dirty="0" smtClean="0">
                <a:latin typeface="Calisto MT" panose="02040603050505030304" pitchFamily="18" charset="0"/>
              </a:rPr>
              <a:t>Value</a:t>
            </a:r>
            <a:endParaRPr lang="en-US" b="1" dirty="0">
              <a:latin typeface="Calisto MT" panose="02040603050505030304" pitchFamily="18" charset="0"/>
            </a:endParaRPr>
          </a:p>
        </p:txBody>
      </p:sp>
    </p:spTree>
    <p:extLst>
      <p:ext uri="{BB962C8B-B14F-4D97-AF65-F5344CB8AC3E}">
        <p14:creationId xmlns:p14="http://schemas.microsoft.com/office/powerpoint/2010/main" val="20046979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6428" y="717974"/>
            <a:ext cx="8222826" cy="3393439"/>
          </a:xfrm>
        </p:spPr>
        <p:txBody>
          <a:bodyPr>
            <a:noAutofit/>
          </a:bodyPr>
          <a:lstStyle/>
          <a:p>
            <a:r>
              <a:rPr lang="en-US" sz="2000" dirty="0" smtClean="0">
                <a:latin typeface="Calisto MT" panose="02040603050505030304" pitchFamily="18" charset="0"/>
              </a:rPr>
              <a:t>Naming</a:t>
            </a:r>
            <a:r>
              <a:rPr lang="en-US" sz="2000" b="1" dirty="0" smtClean="0">
                <a:latin typeface="Calisto MT" panose="02040603050505030304" pitchFamily="18" charset="0"/>
              </a:rPr>
              <a:t> </a:t>
            </a:r>
            <a:r>
              <a:rPr lang="en-US" sz="2000" dirty="0" smtClean="0">
                <a:latin typeface="Calisto MT" panose="02040603050505030304" pitchFamily="18" charset="0"/>
              </a:rPr>
              <a:t>convention</a:t>
            </a:r>
            <a:r>
              <a:rPr lang="en-US" sz="2000" b="1" dirty="0" smtClean="0">
                <a:latin typeface="Calisto MT" panose="02040603050505030304" pitchFamily="18" charset="0"/>
              </a:rPr>
              <a:t> </a:t>
            </a:r>
            <a:r>
              <a:rPr lang="en-US" sz="2000" dirty="0" smtClean="0">
                <a:latin typeface="Calisto MT" panose="02040603050505030304" pitchFamily="18" charset="0"/>
              </a:rPr>
              <a:t>for constants require a prefix that identify the data type as well as the “As” clause that actually declares the data type.</a:t>
            </a:r>
            <a:r>
              <a:rPr lang="en-US" sz="2000" b="1" dirty="0" smtClean="0">
                <a:latin typeface="Calisto MT" panose="02040603050505030304" pitchFamily="18" charset="0"/>
              </a:rPr>
              <a:t> </a:t>
            </a:r>
          </a:p>
          <a:p>
            <a:r>
              <a:rPr lang="en-US" sz="2000" dirty="0" smtClean="0">
                <a:latin typeface="Calisto MT" panose="02040603050505030304" pitchFamily="18" charset="0"/>
              </a:rPr>
              <a:t>The example below sets the company name, address and the sales tax as constants:</a:t>
            </a:r>
          </a:p>
          <a:p>
            <a:pPr marL="800100" lvl="2" indent="0">
              <a:buNone/>
            </a:pPr>
            <a:r>
              <a:rPr lang="en-US" sz="2000" dirty="0" err="1" smtClean="0">
                <a:latin typeface="Calisto MT" panose="02040603050505030304" pitchFamily="18" charset="0"/>
              </a:rPr>
              <a:t>Const</a:t>
            </a:r>
            <a:r>
              <a:rPr lang="en-US" sz="2000" dirty="0" smtClean="0">
                <a:latin typeface="Calisto MT" panose="02040603050505030304" pitchFamily="18" charset="0"/>
              </a:rPr>
              <a:t> </a:t>
            </a:r>
            <a:r>
              <a:rPr lang="en-US" sz="2000" dirty="0" err="1" smtClean="0">
                <a:latin typeface="Calisto MT" panose="02040603050505030304" pitchFamily="18" charset="0"/>
              </a:rPr>
              <a:t>strCompanyName</a:t>
            </a:r>
            <a:r>
              <a:rPr lang="en-US" sz="2000" dirty="0" smtClean="0">
                <a:latin typeface="Calisto MT" panose="02040603050505030304" pitchFamily="18" charset="0"/>
              </a:rPr>
              <a:t> As String = “S n </a:t>
            </a:r>
            <a:r>
              <a:rPr lang="en-US" sz="2000" dirty="0" err="1" smtClean="0">
                <a:latin typeface="Calisto MT" panose="02040603050505030304" pitchFamily="18" charset="0"/>
              </a:rPr>
              <a:t>S_for</a:t>
            </a:r>
            <a:r>
              <a:rPr lang="en-US" sz="2000" dirty="0" smtClean="0">
                <a:latin typeface="Calisto MT" panose="02040603050505030304" pitchFamily="18" charset="0"/>
              </a:rPr>
              <a:t> Stop n Shop”</a:t>
            </a:r>
          </a:p>
          <a:p>
            <a:pPr marL="800100" lvl="2" indent="0">
              <a:buNone/>
            </a:pPr>
            <a:r>
              <a:rPr lang="en-US" sz="2000" dirty="0" err="1" smtClean="0">
                <a:latin typeface="Calisto MT" panose="02040603050505030304" pitchFamily="18" charset="0"/>
              </a:rPr>
              <a:t>Const</a:t>
            </a:r>
            <a:r>
              <a:rPr lang="en-US" sz="2000" dirty="0" smtClean="0">
                <a:latin typeface="Calisto MT" panose="02040603050505030304" pitchFamily="18" charset="0"/>
              </a:rPr>
              <a:t> </a:t>
            </a:r>
            <a:r>
              <a:rPr lang="en-US" sz="2000" dirty="0" err="1" smtClean="0">
                <a:latin typeface="Calisto MT" panose="02040603050505030304" pitchFamily="18" charset="0"/>
              </a:rPr>
              <a:t>strCompanyAddress</a:t>
            </a:r>
            <a:r>
              <a:rPr lang="en-US" sz="2000" dirty="0" smtClean="0">
                <a:latin typeface="Calisto MT" panose="02040603050505030304" pitchFamily="18" charset="0"/>
              </a:rPr>
              <a:t> As String = “101 S. Main Street”</a:t>
            </a:r>
          </a:p>
          <a:p>
            <a:pPr marL="800100" lvl="2" indent="0">
              <a:buNone/>
            </a:pPr>
            <a:r>
              <a:rPr lang="en-US" sz="2000" dirty="0" err="1" smtClean="0">
                <a:latin typeface="Calisto MT" panose="02040603050505030304" pitchFamily="18" charset="0"/>
              </a:rPr>
              <a:t>Const</a:t>
            </a:r>
            <a:r>
              <a:rPr lang="en-US" sz="2000" dirty="0" smtClean="0">
                <a:latin typeface="Calisto MT" panose="02040603050505030304" pitchFamily="18" charset="0"/>
              </a:rPr>
              <a:t> </a:t>
            </a:r>
            <a:r>
              <a:rPr lang="en-US" sz="2000" dirty="0" err="1" smtClean="0">
                <a:latin typeface="Calisto MT" panose="02040603050505030304" pitchFamily="18" charset="0"/>
              </a:rPr>
              <a:t>curSalesTaxRate</a:t>
            </a:r>
            <a:r>
              <a:rPr lang="en-US" sz="2000" dirty="0" smtClean="0">
                <a:latin typeface="Calisto MT" panose="02040603050505030304" pitchFamily="18" charset="0"/>
              </a:rPr>
              <a:t> = .08</a:t>
            </a:r>
          </a:p>
        </p:txBody>
      </p:sp>
    </p:spTree>
    <p:extLst>
      <p:ext uri="{BB962C8B-B14F-4D97-AF65-F5344CB8AC3E}">
        <p14:creationId xmlns:p14="http://schemas.microsoft.com/office/powerpoint/2010/main" val="29078375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99588" y="267498"/>
            <a:ext cx="5289638" cy="546010"/>
          </a:xfrm>
          <a:prstGeom prst="rect">
            <a:avLst/>
          </a:prstGeom>
        </p:spPr>
        <p:txBody>
          <a:bodyPr vert="horz" lIns="91440" tIns="45720" rIns="91440" bIns="45720" rtlCol="0" anchor="ctr">
            <a:normAutofit fontScale="75000" lnSpcReduction="20000"/>
          </a:bodyPr>
          <a:lstStyle>
            <a:lvl1pPr algn="l" defTabSz="914400" rtl="0" eaLnBrk="1" latinLnBrk="0" hangingPunct="1">
              <a:spcBef>
                <a:spcPct val="0"/>
              </a:spcBef>
              <a:buNone/>
              <a:defRPr sz="3600" kern="1200">
                <a:solidFill>
                  <a:srgbClr val="FF0D97"/>
                </a:solidFill>
                <a:effectLst>
                  <a:outerShdw blurRad="50800" dist="38100" dir="2700000" algn="tl" rotWithShape="0">
                    <a:prstClr val="black">
                      <a:alpha val="40000"/>
                    </a:prstClr>
                  </a:outerShdw>
                </a:effectLst>
                <a:latin typeface="+mj-lt"/>
                <a:ea typeface="+mj-ea"/>
                <a:cs typeface="+mj-cs"/>
              </a:defRPr>
            </a:lvl1pPr>
          </a:lstStyle>
          <a:p>
            <a:r>
              <a:rPr lang="en-US" b="1" dirty="0" smtClean="0">
                <a:solidFill>
                  <a:schemeClr val="tx1">
                    <a:lumMod val="95000"/>
                    <a:lumOff val="5000"/>
                  </a:schemeClr>
                </a:solidFill>
                <a:latin typeface="Calisto MT" panose="02040603050505030304" pitchFamily="18" charset="0"/>
              </a:rPr>
              <a:t>5.2 Data Type in Programming?</a:t>
            </a:r>
            <a:endParaRPr lang="en-US" dirty="0">
              <a:latin typeface="Calisto MT" panose="02040603050505030304" pitchFamily="18" charset="0"/>
            </a:endParaRPr>
          </a:p>
        </p:txBody>
      </p:sp>
      <p:sp>
        <p:nvSpPr>
          <p:cNvPr id="5" name="Content Placeholder 2"/>
          <p:cNvSpPr txBox="1">
            <a:spLocks/>
          </p:cNvSpPr>
          <p:nvPr/>
        </p:nvSpPr>
        <p:spPr>
          <a:xfrm>
            <a:off x="257387" y="949534"/>
            <a:ext cx="7919389" cy="1935905"/>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2800" kern="1200">
                <a:solidFill>
                  <a:srgbClr val="0000CC"/>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rgbClr val="0000CC"/>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rgbClr val="0000CC"/>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rgbClr val="0000CC"/>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rgbClr val="0000CC"/>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solidFill>
                  <a:schemeClr val="tx1"/>
                </a:solidFill>
                <a:latin typeface="Calisto MT" panose="02040603050505030304" pitchFamily="18" charset="0"/>
              </a:rPr>
              <a:t>We have already discovered that a program hold the data we work with in memory locations called variables. The amount of memory used for a variable depends on how much it has to hold, and that, in turn, depends on what the data consist of.</a:t>
            </a:r>
          </a:p>
          <a:p>
            <a:r>
              <a:rPr lang="en-US" dirty="0" smtClean="0">
                <a:solidFill>
                  <a:schemeClr val="tx1"/>
                </a:solidFill>
                <a:latin typeface="Calisto MT" panose="02040603050505030304" pitchFamily="18" charset="0"/>
              </a:rPr>
              <a:t>There are many different types of data that programs need to work with. Each programming language supports the range of data types that has rules about what we can do with each data types.</a:t>
            </a:r>
          </a:p>
          <a:p>
            <a:endParaRPr lang="en-US"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13861012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5068" y="144725"/>
            <a:ext cx="7872660" cy="611793"/>
          </a:xfrm>
        </p:spPr>
        <p:txBody>
          <a:bodyPr>
            <a:normAutofit/>
          </a:bodyPr>
          <a:lstStyle/>
          <a:p>
            <a:r>
              <a:rPr lang="en-US" sz="1800" dirty="0" smtClean="0">
                <a:latin typeface="Calisto MT" panose="02040603050505030304" pitchFamily="18" charset="0"/>
              </a:rPr>
              <a:t>Most of the data that programs work with could be classified into the following categories as shown in the table below.</a:t>
            </a:r>
          </a:p>
          <a:p>
            <a:endParaRPr lang="en-US" dirty="0">
              <a:latin typeface="Calisto MT" panose="0204060305050503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802545580"/>
              </p:ext>
            </p:extLst>
          </p:nvPr>
        </p:nvGraphicFramePr>
        <p:xfrm>
          <a:off x="793454" y="829323"/>
          <a:ext cx="7065221" cy="4266760"/>
        </p:xfrm>
        <a:graphic>
          <a:graphicData uri="http://schemas.openxmlformats.org/drawingml/2006/table">
            <a:tbl>
              <a:tblPr firstRow="1" bandRow="1">
                <a:tableStyleId>{F2DE63D5-997A-4646-A377-4702673A728D}</a:tableStyleId>
              </a:tblPr>
              <a:tblGrid>
                <a:gridCol w="826257"/>
                <a:gridCol w="6238964"/>
              </a:tblGrid>
              <a:tr h="428655">
                <a:tc>
                  <a:txBody>
                    <a:bodyPr/>
                    <a:lstStyle/>
                    <a:p>
                      <a:r>
                        <a:rPr lang="en-US" sz="1200" dirty="0" smtClean="0">
                          <a:latin typeface="Calisto MT" panose="02040603050505030304" pitchFamily="18" charset="0"/>
                        </a:rPr>
                        <a:t>Data Types</a:t>
                      </a:r>
                      <a:endParaRPr lang="en-US" sz="1200" b="1" dirty="0">
                        <a:latin typeface="Calisto MT" panose="02040603050505030304" pitchFamily="18" charset="0"/>
                        <a:cs typeface="Times New Roman" panose="02020603050405020304" pitchFamily="18" charset="0"/>
                      </a:endParaRPr>
                    </a:p>
                  </a:txBody>
                  <a:tcPr/>
                </a:tc>
                <a:tc>
                  <a:txBody>
                    <a:bodyPr/>
                    <a:lstStyle/>
                    <a:p>
                      <a:r>
                        <a:rPr lang="en-US" sz="1200" dirty="0" smtClean="0">
                          <a:latin typeface="Calisto MT" panose="02040603050505030304" pitchFamily="18" charset="0"/>
                        </a:rPr>
                        <a:t>Description</a:t>
                      </a:r>
                      <a:endParaRPr lang="en-US" sz="1200" b="1" dirty="0">
                        <a:latin typeface="Calisto MT" panose="02040603050505030304" pitchFamily="18" charset="0"/>
                        <a:cs typeface="Times New Roman" panose="02020603050405020304" pitchFamily="18" charset="0"/>
                      </a:endParaRPr>
                    </a:p>
                  </a:txBody>
                  <a:tcPr/>
                </a:tc>
              </a:tr>
              <a:tr h="319985">
                <a:tc>
                  <a:txBody>
                    <a:bodyPr/>
                    <a:lstStyle/>
                    <a:p>
                      <a:r>
                        <a:rPr lang="en-US" sz="1400" b="1" dirty="0" smtClean="0">
                          <a:latin typeface="Calisto MT" panose="02040603050505030304" pitchFamily="18" charset="0"/>
                        </a:rPr>
                        <a:t>Boolean </a:t>
                      </a:r>
                      <a:endParaRPr lang="en-US" sz="1400" b="1" dirty="0">
                        <a:latin typeface="Calisto MT" panose="02040603050505030304" pitchFamily="18" charset="0"/>
                        <a:cs typeface="Times New Roman" panose="02020603050405020304" pitchFamily="18" charset="0"/>
                      </a:endParaRPr>
                    </a:p>
                  </a:txBody>
                  <a:tcPr/>
                </a:tc>
                <a:tc>
                  <a:txBody>
                    <a:bodyPr/>
                    <a:lstStyle/>
                    <a:p>
                      <a:r>
                        <a:rPr lang="en-US" sz="1400" dirty="0" smtClean="0">
                          <a:latin typeface="Calisto MT" panose="02040603050505030304" pitchFamily="18" charset="0"/>
                        </a:rPr>
                        <a:t>True or False values</a:t>
                      </a:r>
                      <a:endParaRPr lang="en-US" sz="1400" b="0" dirty="0">
                        <a:latin typeface="Calisto MT" panose="02040603050505030304" pitchFamily="18" charset="0"/>
                        <a:cs typeface="Times New Roman" panose="02020603050405020304" pitchFamily="18" charset="0"/>
                      </a:endParaRPr>
                    </a:p>
                  </a:txBody>
                  <a:tcPr/>
                </a:tc>
              </a:tr>
              <a:tr h="485809">
                <a:tc>
                  <a:txBody>
                    <a:bodyPr/>
                    <a:lstStyle/>
                    <a:p>
                      <a:r>
                        <a:rPr lang="en-US" sz="1400" b="1" dirty="0" smtClean="0">
                          <a:latin typeface="Calisto MT" panose="02040603050505030304" pitchFamily="18" charset="0"/>
                        </a:rPr>
                        <a:t>Byte </a:t>
                      </a:r>
                      <a:endParaRPr lang="en-US" sz="1400" b="1" dirty="0">
                        <a:latin typeface="Calisto MT" panose="02040603050505030304" pitchFamily="18" charset="0"/>
                        <a:cs typeface="Times New Roman" panose="02020603050405020304" pitchFamily="18" charset="0"/>
                      </a:endParaRPr>
                    </a:p>
                  </a:txBody>
                  <a:tcPr/>
                </a:tc>
                <a:tc>
                  <a:txBody>
                    <a:bodyPr/>
                    <a:lstStyle/>
                    <a:p>
                      <a:r>
                        <a:rPr lang="en-US" sz="1400" kern="1200" dirty="0" smtClean="0">
                          <a:effectLst/>
                          <a:latin typeface="Calisto MT" panose="02040603050505030304" pitchFamily="18" charset="0"/>
                        </a:rPr>
                        <a:t>Stores</a:t>
                      </a:r>
                      <a:r>
                        <a:rPr lang="en-US" sz="1400" kern="1200" baseline="0" dirty="0" smtClean="0">
                          <a:effectLst/>
                          <a:latin typeface="Calisto MT" panose="02040603050505030304" pitchFamily="18" charset="0"/>
                        </a:rPr>
                        <a:t> a</a:t>
                      </a:r>
                      <a:r>
                        <a:rPr lang="en-US" sz="1400" kern="1200" dirty="0" smtClean="0">
                          <a:effectLst/>
                          <a:latin typeface="Calisto MT" panose="02040603050505030304" pitchFamily="18" charset="0"/>
                        </a:rPr>
                        <a:t>ny kind of binary data in an undifferentiated byte stream. You can think of a byte as one letter. For example, the letter 'h' is one byte, and the word 'hope' is four bytes.</a:t>
                      </a:r>
                      <a:endParaRPr lang="en-US" sz="1100" b="0" dirty="0">
                        <a:latin typeface="Calisto MT" panose="02040603050505030304" pitchFamily="18" charset="0"/>
                        <a:cs typeface="Times New Roman" panose="02020603050405020304" pitchFamily="18" charset="0"/>
                      </a:endParaRPr>
                    </a:p>
                  </a:txBody>
                  <a:tcPr/>
                </a:tc>
              </a:tr>
              <a:tr h="349208">
                <a:tc>
                  <a:txBody>
                    <a:bodyPr/>
                    <a:lstStyle/>
                    <a:p>
                      <a:r>
                        <a:rPr lang="en-US" sz="1400" b="1" dirty="0" smtClean="0">
                          <a:latin typeface="Calisto MT" panose="02040603050505030304" pitchFamily="18" charset="0"/>
                        </a:rPr>
                        <a:t>Currency </a:t>
                      </a:r>
                      <a:endParaRPr lang="en-US" sz="1400" b="1" dirty="0">
                        <a:latin typeface="Calisto MT" panose="02040603050505030304" pitchFamily="18" charset="0"/>
                        <a:cs typeface="Times New Roman" panose="02020603050405020304" pitchFamily="18" charset="0"/>
                      </a:endParaRPr>
                    </a:p>
                  </a:txBody>
                  <a:tcPr/>
                </a:tc>
                <a:tc>
                  <a:txBody>
                    <a:bodyPr/>
                    <a:lstStyle/>
                    <a:p>
                      <a:r>
                        <a:rPr lang="en-US" sz="1400" dirty="0" smtClean="0">
                          <a:latin typeface="Calisto MT" panose="02040603050505030304" pitchFamily="18" charset="0"/>
                        </a:rPr>
                        <a:t>Decimal fractions, such as dollars and cents.</a:t>
                      </a:r>
                    </a:p>
                  </a:txBody>
                  <a:tcPr/>
                </a:tc>
              </a:tr>
              <a:tr h="319985">
                <a:tc>
                  <a:txBody>
                    <a:bodyPr/>
                    <a:lstStyle/>
                    <a:p>
                      <a:r>
                        <a:rPr lang="en-US" sz="1400" b="1" dirty="0" smtClean="0">
                          <a:latin typeface="Calisto MT" panose="02040603050505030304" pitchFamily="18" charset="0"/>
                        </a:rPr>
                        <a:t>Date </a:t>
                      </a:r>
                      <a:endParaRPr lang="en-US" sz="1400" b="1" dirty="0">
                        <a:latin typeface="Calisto MT" panose="02040603050505030304" pitchFamily="18" charset="0"/>
                        <a:cs typeface="Times New Roman" panose="02020603050405020304" pitchFamily="18" charset="0"/>
                      </a:endParaRPr>
                    </a:p>
                  </a:txBody>
                  <a:tcPr/>
                </a:tc>
                <a:tc>
                  <a:txBody>
                    <a:bodyPr/>
                    <a:lstStyle/>
                    <a:p>
                      <a:r>
                        <a:rPr lang="en-US" sz="1400" dirty="0" smtClean="0">
                          <a:latin typeface="Calisto MT" panose="02040603050505030304" pitchFamily="18" charset="0"/>
                        </a:rPr>
                        <a:t>An eight-character</a:t>
                      </a:r>
                      <a:r>
                        <a:rPr lang="en-US" sz="1400" baseline="0" dirty="0" smtClean="0">
                          <a:latin typeface="Calisto MT" panose="02040603050505030304" pitchFamily="18" charset="0"/>
                        </a:rPr>
                        <a:t> date</a:t>
                      </a:r>
                      <a:endParaRPr lang="en-US" sz="1400" b="0" dirty="0">
                        <a:latin typeface="Calisto MT" panose="02040603050505030304" pitchFamily="18" charset="0"/>
                        <a:cs typeface="Times New Roman" panose="02020603050405020304" pitchFamily="18" charset="0"/>
                      </a:endParaRPr>
                    </a:p>
                  </a:txBody>
                  <a:tcPr/>
                </a:tc>
              </a:tr>
              <a:tr h="319985">
                <a:tc>
                  <a:txBody>
                    <a:bodyPr/>
                    <a:lstStyle/>
                    <a:p>
                      <a:r>
                        <a:rPr lang="en-US" sz="1400" b="1" dirty="0" smtClean="0">
                          <a:latin typeface="Calisto MT" panose="02040603050505030304" pitchFamily="18" charset="0"/>
                        </a:rPr>
                        <a:t>Double </a:t>
                      </a:r>
                      <a:endParaRPr lang="en-US" sz="1400" b="1" dirty="0">
                        <a:latin typeface="Calisto MT" panose="02040603050505030304" pitchFamily="18" charset="0"/>
                        <a:cs typeface="Times New Roman" panose="02020603050405020304" pitchFamily="18" charset="0"/>
                      </a:endParaRPr>
                    </a:p>
                  </a:txBody>
                  <a:tcPr/>
                </a:tc>
                <a:tc>
                  <a:txBody>
                    <a:bodyPr/>
                    <a:lstStyle/>
                    <a:p>
                      <a:r>
                        <a:rPr lang="en-US" sz="1400" kern="1200" dirty="0" smtClean="0">
                          <a:effectLst/>
                          <a:latin typeface="Calisto MT" panose="02040603050505030304" pitchFamily="18" charset="0"/>
                        </a:rPr>
                        <a:t>Define numeric variables holding numbers with decimal points</a:t>
                      </a:r>
                      <a:endParaRPr lang="en-US" sz="1100" b="0" dirty="0">
                        <a:latin typeface="Calisto MT" panose="02040603050505030304" pitchFamily="18" charset="0"/>
                        <a:cs typeface="Times New Roman" panose="02020603050405020304" pitchFamily="18" charset="0"/>
                      </a:endParaRPr>
                    </a:p>
                  </a:txBody>
                  <a:tcPr/>
                </a:tc>
              </a:tr>
              <a:tr h="319985">
                <a:tc>
                  <a:txBody>
                    <a:bodyPr/>
                    <a:lstStyle/>
                    <a:p>
                      <a:r>
                        <a:rPr lang="en-US" sz="1400" b="1" dirty="0" smtClean="0">
                          <a:latin typeface="Calisto MT" panose="02040603050505030304" pitchFamily="18" charset="0"/>
                        </a:rPr>
                        <a:t>Integer </a:t>
                      </a:r>
                      <a:endParaRPr lang="en-US" sz="1400" b="1" dirty="0">
                        <a:latin typeface="Calisto MT" panose="02040603050505030304" pitchFamily="18" charset="0"/>
                        <a:cs typeface="Times New Roman" panose="02020603050405020304" pitchFamily="18" charset="0"/>
                      </a:endParaRPr>
                    </a:p>
                  </a:txBody>
                  <a:tcPr/>
                </a:tc>
                <a:tc>
                  <a:txBody>
                    <a:bodyPr/>
                    <a:lstStyle/>
                    <a:p>
                      <a:r>
                        <a:rPr lang="en-US" sz="1400" dirty="0" smtClean="0">
                          <a:latin typeface="Calisto MT" panose="02040603050505030304" pitchFamily="18" charset="0"/>
                        </a:rPr>
                        <a:t>Stores</a:t>
                      </a:r>
                      <a:r>
                        <a:rPr lang="en-US" sz="1400" baseline="0" dirty="0" smtClean="0">
                          <a:latin typeface="Calisto MT" panose="02040603050505030304" pitchFamily="18" charset="0"/>
                        </a:rPr>
                        <a:t> w</a:t>
                      </a:r>
                      <a:r>
                        <a:rPr lang="en-US" sz="1400" dirty="0" smtClean="0">
                          <a:latin typeface="Calisto MT" panose="02040603050505030304" pitchFamily="18" charset="0"/>
                        </a:rPr>
                        <a:t>hole numbers or</a:t>
                      </a:r>
                      <a:r>
                        <a:rPr lang="en-US" sz="1400" baseline="0" dirty="0" smtClean="0">
                          <a:latin typeface="Calisto MT" panose="02040603050505030304" pitchFamily="18" charset="0"/>
                        </a:rPr>
                        <a:t> </a:t>
                      </a:r>
                      <a:r>
                        <a:rPr lang="en-US" sz="1400" kern="1200" dirty="0" smtClean="0">
                          <a:effectLst/>
                          <a:latin typeface="Calisto MT" panose="02040603050505030304" pitchFamily="18" charset="0"/>
                        </a:rPr>
                        <a:t>real numbers that do not have remainders</a:t>
                      </a:r>
                      <a:endParaRPr lang="en-US" sz="1400" b="0" dirty="0">
                        <a:latin typeface="Calisto MT" panose="02040603050505030304" pitchFamily="18" charset="0"/>
                        <a:cs typeface="Times New Roman" panose="02020603050405020304" pitchFamily="18" charset="0"/>
                      </a:endParaRPr>
                    </a:p>
                  </a:txBody>
                  <a:tcPr/>
                </a:tc>
              </a:tr>
              <a:tr h="319985">
                <a:tc>
                  <a:txBody>
                    <a:bodyPr/>
                    <a:lstStyle/>
                    <a:p>
                      <a:r>
                        <a:rPr lang="en-US" sz="1400" b="1" dirty="0" smtClean="0">
                          <a:latin typeface="Calisto MT" panose="02040603050505030304" pitchFamily="18" charset="0"/>
                        </a:rPr>
                        <a:t>Long </a:t>
                      </a:r>
                      <a:endParaRPr lang="en-US" sz="1400" b="1" dirty="0">
                        <a:latin typeface="Calisto MT" panose="02040603050505030304" pitchFamily="18" charset="0"/>
                        <a:cs typeface="Times New Roman" panose="02020603050405020304" pitchFamily="18" charset="0"/>
                      </a:endParaRPr>
                    </a:p>
                  </a:txBody>
                  <a:tcPr/>
                </a:tc>
                <a:tc>
                  <a:txBody>
                    <a:bodyPr/>
                    <a:lstStyle/>
                    <a:p>
                      <a:r>
                        <a:rPr lang="en-US" sz="1400" dirty="0" smtClean="0">
                          <a:latin typeface="Calisto MT" panose="02040603050505030304" pitchFamily="18" charset="0"/>
                        </a:rPr>
                        <a:t>Larger whole number </a:t>
                      </a:r>
                      <a:endParaRPr lang="en-US" sz="1400" b="0" dirty="0">
                        <a:latin typeface="Calisto MT" panose="02040603050505030304" pitchFamily="18" charset="0"/>
                        <a:cs typeface="Times New Roman" panose="02020603050405020304" pitchFamily="18" charset="0"/>
                      </a:endParaRPr>
                    </a:p>
                  </a:txBody>
                  <a:tcPr/>
                </a:tc>
              </a:tr>
              <a:tr h="319985">
                <a:tc>
                  <a:txBody>
                    <a:bodyPr/>
                    <a:lstStyle/>
                    <a:p>
                      <a:r>
                        <a:rPr lang="en-US" sz="1400" b="1" dirty="0" smtClean="0">
                          <a:latin typeface="Calisto MT" panose="02040603050505030304" pitchFamily="18" charset="0"/>
                        </a:rPr>
                        <a:t>Single </a:t>
                      </a:r>
                      <a:endParaRPr lang="en-US" sz="1400" b="1" dirty="0">
                        <a:latin typeface="Calisto MT" panose="02040603050505030304" pitchFamily="18" charset="0"/>
                        <a:cs typeface="Times New Roman" panose="02020603050405020304" pitchFamily="18" charset="0"/>
                      </a:endParaRPr>
                    </a:p>
                  </a:txBody>
                  <a:tcPr/>
                </a:tc>
                <a:tc>
                  <a:txBody>
                    <a:bodyPr/>
                    <a:lstStyle/>
                    <a:p>
                      <a:r>
                        <a:rPr lang="en-US" sz="1400" dirty="0" smtClean="0">
                          <a:latin typeface="Calisto MT" panose="02040603050505030304" pitchFamily="18" charset="0"/>
                        </a:rPr>
                        <a:t>Floating point numbers with six digits</a:t>
                      </a:r>
                      <a:endParaRPr lang="en-US" sz="1400" b="0" dirty="0">
                        <a:latin typeface="Calisto MT" panose="02040603050505030304" pitchFamily="18" charset="0"/>
                        <a:cs typeface="Times New Roman" panose="02020603050405020304" pitchFamily="18" charset="0"/>
                      </a:endParaRPr>
                    </a:p>
                  </a:txBody>
                  <a:tcPr/>
                </a:tc>
              </a:tr>
              <a:tr h="319985">
                <a:tc>
                  <a:txBody>
                    <a:bodyPr/>
                    <a:lstStyle/>
                    <a:p>
                      <a:r>
                        <a:rPr lang="en-US" sz="1400" b="1" dirty="0" smtClean="0">
                          <a:latin typeface="Calisto MT" panose="02040603050505030304" pitchFamily="18" charset="0"/>
                        </a:rPr>
                        <a:t>String </a:t>
                      </a:r>
                      <a:endParaRPr lang="en-US" sz="1400" b="1" dirty="0">
                        <a:latin typeface="Calisto MT" panose="02040603050505030304" pitchFamily="18" charset="0"/>
                        <a:cs typeface="Times New Roman" panose="02020603050405020304" pitchFamily="18" charset="0"/>
                      </a:endParaRPr>
                    </a:p>
                  </a:txBody>
                  <a:tcPr/>
                </a:tc>
                <a:tc>
                  <a:txBody>
                    <a:bodyPr/>
                    <a:lstStyle/>
                    <a:p>
                      <a:r>
                        <a:rPr lang="en-US" sz="1400" dirty="0" smtClean="0">
                          <a:latin typeface="Calisto MT" panose="02040603050505030304" pitchFamily="18" charset="0"/>
                        </a:rPr>
                        <a:t>Alphabetic data: letters, digits and other characters</a:t>
                      </a:r>
                      <a:endParaRPr lang="en-US" sz="1400" b="0" dirty="0">
                        <a:latin typeface="Calisto MT" panose="02040603050505030304" pitchFamily="18" charset="0"/>
                        <a:cs typeface="Times New Roman" panose="02020603050405020304" pitchFamily="18" charset="0"/>
                      </a:endParaRPr>
                    </a:p>
                  </a:txBody>
                  <a:tcPr/>
                </a:tc>
              </a:tr>
              <a:tr h="319985">
                <a:tc>
                  <a:txBody>
                    <a:bodyPr/>
                    <a:lstStyle/>
                    <a:p>
                      <a:r>
                        <a:rPr lang="en-US" sz="1400" b="1" dirty="0" smtClean="0">
                          <a:latin typeface="Calisto MT" panose="02040603050505030304" pitchFamily="18" charset="0"/>
                        </a:rPr>
                        <a:t>Variant </a:t>
                      </a:r>
                      <a:endParaRPr lang="en-US" sz="1400" b="1" dirty="0">
                        <a:latin typeface="Calisto MT" panose="02040603050505030304" pitchFamily="18" charset="0"/>
                        <a:cs typeface="Times New Roman" panose="02020603050405020304" pitchFamily="18" charset="0"/>
                      </a:endParaRPr>
                    </a:p>
                  </a:txBody>
                  <a:tcPr/>
                </a:tc>
                <a:tc>
                  <a:txBody>
                    <a:bodyPr/>
                    <a:lstStyle/>
                    <a:p>
                      <a:r>
                        <a:rPr lang="en-US" sz="1400" dirty="0" smtClean="0">
                          <a:latin typeface="Calisto MT" panose="02040603050505030304" pitchFamily="18" charset="0"/>
                        </a:rPr>
                        <a:t>Convert from one type to another,</a:t>
                      </a:r>
                      <a:r>
                        <a:rPr lang="en-US" sz="1400" baseline="0" dirty="0" smtClean="0">
                          <a:latin typeface="Calisto MT" panose="02040603050505030304" pitchFamily="18" charset="0"/>
                        </a:rPr>
                        <a:t> as needed.</a:t>
                      </a:r>
                      <a:endParaRPr lang="en-US" sz="1400" b="0" dirty="0">
                        <a:latin typeface="Calisto MT" panose="0204060305050503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14564056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8587" y="65783"/>
            <a:ext cx="6261094" cy="593781"/>
          </a:xfrm>
        </p:spPr>
        <p:txBody>
          <a:bodyPr>
            <a:normAutofit/>
          </a:bodyPr>
          <a:lstStyle/>
          <a:p>
            <a:r>
              <a:rPr lang="en-US" b="1" dirty="0" smtClean="0">
                <a:solidFill>
                  <a:schemeClr val="tx1"/>
                </a:solidFill>
                <a:latin typeface="Calisto MT" panose="02040603050505030304" pitchFamily="18" charset="0"/>
              </a:rPr>
              <a:t>Commonly Used Data Types</a:t>
            </a:r>
            <a:endParaRPr lang="en-US" b="1" dirty="0">
              <a:solidFill>
                <a:schemeClr val="tx1"/>
              </a:solidFill>
              <a:latin typeface="Calisto MT" panose="02040603050505030304" pitchFamily="18" charset="0"/>
            </a:endParaRPr>
          </a:p>
        </p:txBody>
      </p:sp>
      <p:sp>
        <p:nvSpPr>
          <p:cNvPr id="3" name="Content Placeholder 2"/>
          <p:cNvSpPr>
            <a:spLocks noGrp="1"/>
          </p:cNvSpPr>
          <p:nvPr>
            <p:ph idx="1"/>
          </p:nvPr>
        </p:nvSpPr>
        <p:spPr>
          <a:xfrm>
            <a:off x="182880" y="659564"/>
            <a:ext cx="8677247" cy="2228361"/>
          </a:xfrm>
        </p:spPr>
        <p:txBody>
          <a:bodyPr>
            <a:noAutofit/>
          </a:bodyPr>
          <a:lstStyle/>
          <a:p>
            <a:r>
              <a:rPr lang="en-US" sz="1400" dirty="0" smtClean="0">
                <a:latin typeface="Calisto MT" panose="02040603050505030304" pitchFamily="18" charset="0"/>
              </a:rPr>
              <a:t>Note that the default data type is </a:t>
            </a:r>
            <a:r>
              <a:rPr lang="en-US" sz="1400" b="1" dirty="0" smtClean="0">
                <a:latin typeface="Calisto MT" panose="02040603050505030304" pitchFamily="18" charset="0"/>
              </a:rPr>
              <a:t>variant</a:t>
            </a:r>
            <a:r>
              <a:rPr lang="en-US" sz="1400" dirty="0" smtClean="0">
                <a:latin typeface="Calisto MT" panose="02040603050505030304" pitchFamily="18" charset="0"/>
              </a:rPr>
              <a:t>. With this data type, if you do not specify a data type in a program, the variables and constants in that program will be variants.</a:t>
            </a:r>
          </a:p>
          <a:p>
            <a:r>
              <a:rPr lang="en-US" sz="1400" dirty="0" smtClean="0">
                <a:latin typeface="Calisto MT" panose="02040603050505030304" pitchFamily="18" charset="0"/>
              </a:rPr>
              <a:t>The most common types of variables and constants used are </a:t>
            </a:r>
            <a:r>
              <a:rPr lang="en-US" sz="1400" b="1" dirty="0" smtClean="0">
                <a:latin typeface="Calisto MT" panose="02040603050505030304" pitchFamily="18" charset="0"/>
              </a:rPr>
              <a:t>strings</a:t>
            </a:r>
            <a:r>
              <a:rPr lang="en-US" sz="1400" dirty="0" smtClean="0">
                <a:latin typeface="Calisto MT" panose="02040603050505030304" pitchFamily="18" charset="0"/>
              </a:rPr>
              <a:t>, </a:t>
            </a:r>
            <a:r>
              <a:rPr lang="en-US" sz="1400" b="1" dirty="0" smtClean="0">
                <a:latin typeface="Calisto MT" panose="02040603050505030304" pitchFamily="18" charset="0"/>
              </a:rPr>
              <a:t>integers</a:t>
            </a:r>
            <a:r>
              <a:rPr lang="en-US" sz="1400" dirty="0" smtClean="0">
                <a:latin typeface="Calisto MT" panose="02040603050505030304" pitchFamily="18" charset="0"/>
              </a:rPr>
              <a:t> and </a:t>
            </a:r>
            <a:r>
              <a:rPr lang="en-US" sz="1400" b="1" dirty="0" smtClean="0">
                <a:latin typeface="Calisto MT" panose="02040603050505030304" pitchFamily="18" charset="0"/>
              </a:rPr>
              <a:t>currency</a:t>
            </a:r>
            <a:r>
              <a:rPr lang="en-US" sz="1400" dirty="0" smtClean="0">
                <a:latin typeface="Calisto MT" panose="02040603050505030304" pitchFamily="18" charset="0"/>
              </a:rPr>
              <a:t>.</a:t>
            </a:r>
          </a:p>
          <a:p>
            <a:r>
              <a:rPr lang="en-US" sz="1400" dirty="0" smtClean="0">
                <a:latin typeface="Calisto MT" panose="02040603050505030304" pitchFamily="18" charset="0"/>
              </a:rPr>
              <a:t>When deciding which data type to use, follow these guidelines:</a:t>
            </a:r>
          </a:p>
          <a:p>
            <a:pPr lvl="1">
              <a:buFont typeface="Courier New" panose="02070309020205020404" pitchFamily="49" charset="0"/>
              <a:buChar char="o"/>
            </a:pPr>
            <a:r>
              <a:rPr lang="en-US" sz="1400" dirty="0" smtClean="0">
                <a:latin typeface="Calisto MT" panose="02040603050505030304" pitchFamily="18" charset="0"/>
              </a:rPr>
              <a:t>If the data </a:t>
            </a:r>
            <a:r>
              <a:rPr lang="en-US" sz="1400" b="1" dirty="0" smtClean="0">
                <a:latin typeface="Calisto MT" panose="02040603050505030304" pitchFamily="18" charset="0"/>
              </a:rPr>
              <a:t>will be used in calculation</a:t>
            </a:r>
            <a:r>
              <a:rPr lang="en-US" sz="1400" dirty="0" smtClean="0">
                <a:latin typeface="Calisto MT" panose="02040603050505030304" pitchFamily="18" charset="0"/>
              </a:rPr>
              <a:t>, then it must be </a:t>
            </a:r>
            <a:r>
              <a:rPr lang="en-US" sz="1400" b="1" dirty="0" smtClean="0">
                <a:latin typeface="Calisto MT" panose="02040603050505030304" pitchFamily="18" charset="0"/>
              </a:rPr>
              <a:t>numeric</a:t>
            </a:r>
            <a:r>
              <a:rPr lang="en-US" sz="1400" dirty="0" smtClean="0">
                <a:latin typeface="Calisto MT" panose="02040603050505030304" pitchFamily="18" charset="0"/>
              </a:rPr>
              <a:t> (</a:t>
            </a:r>
            <a:r>
              <a:rPr lang="en-US" sz="1400" b="1" dirty="0" smtClean="0">
                <a:latin typeface="Calisto MT" panose="02040603050505030304" pitchFamily="18" charset="0"/>
              </a:rPr>
              <a:t>integer or currency</a:t>
            </a:r>
            <a:r>
              <a:rPr lang="en-US" sz="1400" dirty="0" smtClean="0">
                <a:latin typeface="Calisto MT" panose="02040603050505030304" pitchFamily="18" charset="0"/>
              </a:rPr>
              <a:t>)</a:t>
            </a:r>
          </a:p>
          <a:p>
            <a:pPr lvl="1">
              <a:buFont typeface="Courier New" panose="02070309020205020404" pitchFamily="49" charset="0"/>
              <a:buChar char="o"/>
            </a:pPr>
            <a:r>
              <a:rPr lang="en-US" sz="1400" dirty="0" smtClean="0">
                <a:latin typeface="Calisto MT" panose="02040603050505030304" pitchFamily="18" charset="0"/>
              </a:rPr>
              <a:t>If the data </a:t>
            </a:r>
            <a:r>
              <a:rPr lang="en-US" sz="1400" b="1" dirty="0" smtClean="0">
                <a:latin typeface="Calisto MT" panose="02040603050505030304" pitchFamily="18" charset="0"/>
              </a:rPr>
              <a:t>will not be used in calculation</a:t>
            </a:r>
            <a:r>
              <a:rPr lang="en-US" sz="1400" dirty="0" smtClean="0">
                <a:latin typeface="Calisto MT" panose="02040603050505030304" pitchFamily="18" charset="0"/>
              </a:rPr>
              <a:t>, it will be </a:t>
            </a:r>
            <a:r>
              <a:rPr lang="en-US" sz="1400" b="1" dirty="0" smtClean="0">
                <a:latin typeface="Calisto MT" panose="02040603050505030304" pitchFamily="18" charset="0"/>
              </a:rPr>
              <a:t>string</a:t>
            </a:r>
            <a:r>
              <a:rPr lang="en-US" sz="1400" dirty="0" smtClean="0">
                <a:latin typeface="Calisto MT" panose="02040603050505030304" pitchFamily="18" charset="0"/>
              </a:rPr>
              <a:t>.</a:t>
            </a:r>
          </a:p>
          <a:p>
            <a:r>
              <a:rPr lang="en-US" sz="1400" dirty="0" smtClean="0">
                <a:latin typeface="Calisto MT" panose="02040603050505030304" pitchFamily="18" charset="0"/>
              </a:rPr>
              <a:t>Currency data type is used for any decimal fraction in business application; single and double data types are generally used in scientific application.</a:t>
            </a:r>
          </a:p>
          <a:p>
            <a:r>
              <a:rPr lang="en-US" sz="1400" b="1" dirty="0" smtClean="0">
                <a:latin typeface="Calisto MT" panose="02040603050505030304" pitchFamily="18" charset="0"/>
              </a:rPr>
              <a:t>Consider the following examples:</a:t>
            </a:r>
            <a:endParaRPr lang="en-US" sz="1400" b="1" dirty="0">
              <a:latin typeface="Calisto MT" panose="0204060305050503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04659658"/>
              </p:ext>
            </p:extLst>
          </p:nvPr>
        </p:nvGraphicFramePr>
        <p:xfrm>
          <a:off x="410183" y="3015251"/>
          <a:ext cx="5940259" cy="2007505"/>
        </p:xfrm>
        <a:graphic>
          <a:graphicData uri="http://schemas.openxmlformats.org/drawingml/2006/table">
            <a:tbl>
              <a:tblPr firstRow="1" bandRow="1">
                <a:tableStyleId>{5C22544A-7EE6-4342-B048-85BDC9FD1C3A}</a:tableStyleId>
              </a:tblPr>
              <a:tblGrid>
                <a:gridCol w="1542584"/>
                <a:gridCol w="1210428"/>
                <a:gridCol w="3187247"/>
              </a:tblGrid>
              <a:tr h="316157">
                <a:tc>
                  <a:txBody>
                    <a:bodyPr/>
                    <a:lstStyle/>
                    <a:p>
                      <a:r>
                        <a:rPr lang="en-US" sz="1100" dirty="0" smtClean="0">
                          <a:latin typeface="Calisto MT" panose="02040603050505030304" pitchFamily="18" charset="0"/>
                        </a:rPr>
                        <a:t>Content </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Data Type</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Reason</a:t>
                      </a:r>
                      <a:endParaRPr lang="en-US" sz="1100" dirty="0">
                        <a:latin typeface="Calisto MT" panose="02040603050505030304" pitchFamily="18" charset="0"/>
                      </a:endParaRPr>
                    </a:p>
                  </a:txBody>
                  <a:tcPr/>
                </a:tc>
              </a:tr>
              <a:tr h="316157">
                <a:tc>
                  <a:txBody>
                    <a:bodyPr/>
                    <a:lstStyle/>
                    <a:p>
                      <a:r>
                        <a:rPr lang="en-US" sz="1100" dirty="0" smtClean="0">
                          <a:latin typeface="Calisto MT" panose="02040603050505030304" pitchFamily="18" charset="0"/>
                        </a:rPr>
                        <a:t>Social Security Number</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String</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Not used in calculation</a:t>
                      </a:r>
                      <a:endParaRPr lang="en-US" sz="1100" dirty="0">
                        <a:latin typeface="Calisto MT" panose="02040603050505030304" pitchFamily="18" charset="0"/>
                      </a:endParaRPr>
                    </a:p>
                  </a:txBody>
                  <a:tcPr/>
                </a:tc>
              </a:tr>
              <a:tr h="316157">
                <a:tc>
                  <a:txBody>
                    <a:bodyPr/>
                    <a:lstStyle/>
                    <a:p>
                      <a:r>
                        <a:rPr lang="en-US" sz="1100" dirty="0" smtClean="0">
                          <a:latin typeface="Calisto MT" panose="02040603050505030304" pitchFamily="18" charset="0"/>
                        </a:rPr>
                        <a:t>Pay Rate</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Currency</a:t>
                      </a:r>
                      <a:r>
                        <a:rPr lang="en-US" sz="1100" baseline="0" dirty="0" smtClean="0">
                          <a:latin typeface="Calisto MT" panose="02040603050505030304" pitchFamily="18" charset="0"/>
                        </a:rPr>
                        <a:t> </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Used in calculation, contain a decimal point</a:t>
                      </a:r>
                      <a:endParaRPr lang="en-US" sz="1100" dirty="0">
                        <a:latin typeface="Calisto MT" panose="02040603050505030304" pitchFamily="18" charset="0"/>
                      </a:endParaRPr>
                    </a:p>
                  </a:txBody>
                  <a:tcPr/>
                </a:tc>
              </a:tr>
              <a:tr h="316157">
                <a:tc>
                  <a:txBody>
                    <a:bodyPr/>
                    <a:lstStyle/>
                    <a:p>
                      <a:r>
                        <a:rPr lang="en-US" sz="1100" dirty="0" smtClean="0">
                          <a:latin typeface="Calisto MT" panose="02040603050505030304" pitchFamily="18" charset="0"/>
                        </a:rPr>
                        <a:t>Hours worked</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Currency </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Used in calculation,</a:t>
                      </a:r>
                      <a:r>
                        <a:rPr lang="en-US" sz="1100" baseline="0" dirty="0" smtClean="0">
                          <a:latin typeface="Calisto MT" panose="02040603050505030304" pitchFamily="18" charset="0"/>
                        </a:rPr>
                        <a:t> may contain a decimal point.</a:t>
                      </a:r>
                      <a:endParaRPr lang="en-US" sz="1100" dirty="0">
                        <a:latin typeface="Calisto MT" panose="02040603050505030304" pitchFamily="18" charset="0"/>
                      </a:endParaRPr>
                    </a:p>
                  </a:txBody>
                  <a:tcPr/>
                </a:tc>
              </a:tr>
              <a:tr h="316157">
                <a:tc>
                  <a:txBody>
                    <a:bodyPr/>
                    <a:lstStyle/>
                    <a:p>
                      <a:r>
                        <a:rPr lang="en-US" sz="1100" dirty="0" smtClean="0">
                          <a:latin typeface="Calisto MT" panose="02040603050505030304" pitchFamily="18" charset="0"/>
                        </a:rPr>
                        <a:t>Phone number </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String </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Not used in calculation </a:t>
                      </a:r>
                      <a:endParaRPr lang="en-US" sz="1100" dirty="0">
                        <a:latin typeface="Calisto MT" panose="02040603050505030304" pitchFamily="18" charset="0"/>
                      </a:endParaRPr>
                    </a:p>
                  </a:txBody>
                  <a:tcPr/>
                </a:tc>
              </a:tr>
              <a:tr h="316157">
                <a:tc>
                  <a:txBody>
                    <a:bodyPr/>
                    <a:lstStyle/>
                    <a:p>
                      <a:r>
                        <a:rPr lang="en-US" sz="1100" dirty="0" smtClean="0">
                          <a:latin typeface="Calisto MT" panose="02040603050505030304" pitchFamily="18" charset="0"/>
                        </a:rPr>
                        <a:t>Quantity </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Integer </a:t>
                      </a:r>
                      <a:endParaRPr lang="en-US" sz="1100" dirty="0">
                        <a:latin typeface="Calisto MT" panose="02040603050505030304" pitchFamily="18" charset="0"/>
                      </a:endParaRPr>
                    </a:p>
                  </a:txBody>
                  <a:tcPr/>
                </a:tc>
                <a:tc>
                  <a:txBody>
                    <a:bodyPr/>
                    <a:lstStyle/>
                    <a:p>
                      <a:r>
                        <a:rPr lang="en-US" sz="1100" dirty="0" smtClean="0">
                          <a:latin typeface="Calisto MT" panose="02040603050505030304" pitchFamily="18" charset="0"/>
                        </a:rPr>
                        <a:t>Used in calculation, contains a whole number</a:t>
                      </a:r>
                      <a:endParaRPr lang="en-US" sz="1100" dirty="0">
                        <a:latin typeface="Calisto MT" panose="02040603050505030304" pitchFamily="18" charset="0"/>
                      </a:endParaRPr>
                    </a:p>
                  </a:txBody>
                  <a:tcPr/>
                </a:tc>
              </a:tr>
            </a:tbl>
          </a:graphicData>
        </a:graphic>
      </p:graphicFrame>
    </p:spTree>
    <p:extLst>
      <p:ext uri="{BB962C8B-B14F-4D97-AF65-F5344CB8AC3E}">
        <p14:creationId xmlns:p14="http://schemas.microsoft.com/office/powerpoint/2010/main" val="21195505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893" y="250613"/>
            <a:ext cx="7845256" cy="602827"/>
          </a:xfrm>
          <a:solidFill>
            <a:schemeClr val="bg1"/>
          </a:solidFill>
        </p:spPr>
        <p:txBody>
          <a:bodyPr>
            <a:normAutofit/>
          </a:bodyPr>
          <a:lstStyle/>
          <a:p>
            <a:pPr algn="ctr"/>
            <a:r>
              <a:rPr lang="en-US" sz="3200" b="1" dirty="0" smtClean="0">
                <a:solidFill>
                  <a:schemeClr val="tx1">
                    <a:lumMod val="95000"/>
                    <a:lumOff val="5000"/>
                  </a:schemeClr>
                </a:solidFill>
                <a:latin typeface="Calisto MT" panose="02040603050505030304" pitchFamily="18" charset="0"/>
              </a:rPr>
              <a:t>5.3 Naming Conventions in Programming</a:t>
            </a:r>
            <a:endParaRPr lang="en-US" sz="3200" dirty="0">
              <a:latin typeface="Calisto MT" panose="02040603050505030304" pitchFamily="18" charset="0"/>
            </a:endParaRPr>
          </a:p>
        </p:txBody>
      </p:sp>
      <p:sp>
        <p:nvSpPr>
          <p:cNvPr id="3" name="Content Placeholder 2"/>
          <p:cNvSpPr>
            <a:spLocks noGrp="1"/>
          </p:cNvSpPr>
          <p:nvPr>
            <p:ph idx="1"/>
          </p:nvPr>
        </p:nvSpPr>
        <p:spPr>
          <a:xfrm>
            <a:off x="270933" y="994196"/>
            <a:ext cx="8414216" cy="3619239"/>
          </a:xfrm>
          <a:solidFill>
            <a:schemeClr val="bg1"/>
          </a:solidFill>
        </p:spPr>
        <p:txBody>
          <a:bodyPr>
            <a:normAutofit fontScale="92500" lnSpcReduction="10000"/>
          </a:bodyPr>
          <a:lstStyle/>
          <a:p>
            <a:r>
              <a:rPr lang="en-US" sz="2000" dirty="0" smtClean="0">
                <a:latin typeface="Calisto MT" panose="02040603050505030304" pitchFamily="18" charset="0"/>
              </a:rPr>
              <a:t>Since variables store data in a program, each programmer has to name (identify/declare) the variable and name constant that will be used in the project.</a:t>
            </a:r>
          </a:p>
          <a:p>
            <a:r>
              <a:rPr lang="en-US" sz="2000" dirty="0">
                <a:latin typeface="Calisto MT" panose="02040603050505030304" pitchFamily="18" charset="0"/>
              </a:rPr>
              <a:t>"Identifiers" or "symbols" are the names you supply for variables, types, functions, and labels in your program. Identifier names must differ in spelling and case from any keywords. You can't use keywords as identifiers; they're reserved for special use</a:t>
            </a:r>
            <a:r>
              <a:rPr lang="en-US" sz="2000" dirty="0" smtClean="0">
                <a:latin typeface="Calisto MT" panose="02040603050505030304" pitchFamily="18" charset="0"/>
              </a:rPr>
              <a:t>.</a:t>
            </a:r>
          </a:p>
          <a:p>
            <a:r>
              <a:rPr lang="en-US" sz="2000" dirty="0" smtClean="0">
                <a:latin typeface="Calisto MT" panose="02040603050505030304" pitchFamily="18" charset="0"/>
              </a:rPr>
              <a:t>BASIC requires identifiers for variables and named constants to follow this rule:</a:t>
            </a:r>
          </a:p>
          <a:p>
            <a:pPr marL="914400" lvl="1" indent="-514350">
              <a:buFont typeface="+mj-lt"/>
              <a:buAutoNum type="arabicPeriod"/>
            </a:pPr>
            <a:r>
              <a:rPr lang="en-US" sz="2000" dirty="0" smtClean="0">
                <a:latin typeface="Calisto MT" panose="02040603050505030304" pitchFamily="18" charset="0"/>
              </a:rPr>
              <a:t>Name must be 1 to 255 character in length</a:t>
            </a:r>
          </a:p>
          <a:p>
            <a:pPr marL="914400" lvl="1" indent="-514350">
              <a:buFont typeface="+mj-lt"/>
              <a:buAutoNum type="arabicPeriod"/>
            </a:pPr>
            <a:r>
              <a:rPr lang="en-US" sz="2000" dirty="0" smtClean="0">
                <a:latin typeface="Calisto MT" panose="02040603050505030304" pitchFamily="18" charset="0"/>
              </a:rPr>
              <a:t>They may include letters </a:t>
            </a:r>
          </a:p>
          <a:p>
            <a:pPr marL="914400" lvl="1" indent="-514350">
              <a:buFont typeface="+mj-lt"/>
              <a:buAutoNum type="arabicPeriod"/>
            </a:pPr>
            <a:r>
              <a:rPr lang="en-US" sz="2000" dirty="0" smtClean="0">
                <a:latin typeface="Calisto MT" panose="02040603050505030304" pitchFamily="18" charset="0"/>
              </a:rPr>
              <a:t>The first character must be a letter</a:t>
            </a:r>
          </a:p>
          <a:p>
            <a:pPr marL="914400" lvl="1" indent="-514350">
              <a:buFont typeface="+mj-lt"/>
              <a:buAutoNum type="arabicPeriod"/>
            </a:pPr>
            <a:r>
              <a:rPr lang="en-US" sz="2000" dirty="0" smtClean="0">
                <a:latin typeface="Calisto MT" panose="02040603050505030304" pitchFamily="18" charset="0"/>
              </a:rPr>
              <a:t>Not reserved words (keywords) must be used</a:t>
            </a:r>
            <a:endParaRPr lang="en-US" sz="2000" dirty="0">
              <a:latin typeface="Calisto MT" panose="02040603050505030304" pitchFamily="18" charset="0"/>
            </a:endParaRPr>
          </a:p>
        </p:txBody>
      </p:sp>
    </p:spTree>
    <p:extLst>
      <p:ext uri="{BB962C8B-B14F-4D97-AF65-F5344CB8AC3E}">
        <p14:creationId xmlns:p14="http://schemas.microsoft.com/office/powerpoint/2010/main" val="3338854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9628" y="375314"/>
            <a:ext cx="8265050" cy="4313184"/>
          </a:xfrm>
        </p:spPr>
        <p:txBody>
          <a:bodyPr>
            <a:normAutofit lnSpcReduction="10000"/>
          </a:bodyPr>
          <a:lstStyle/>
          <a:p>
            <a:r>
              <a:rPr lang="en-US" dirty="0" smtClean="0">
                <a:latin typeface="Calisto MT" panose="02040603050505030304" pitchFamily="18" charset="0"/>
              </a:rPr>
              <a:t>When naming variables and constants, you must follow the rules of each programming language (for example, BASIC). In addition, you should follow some naming conventions.</a:t>
            </a:r>
          </a:p>
          <a:p>
            <a:r>
              <a:rPr lang="en-US" b="1" dirty="0" smtClean="0">
                <a:latin typeface="Calisto MT" panose="02040603050505030304" pitchFamily="18" charset="0"/>
              </a:rPr>
              <a:t>Conventions are the guidelines that separate good names from bad (not so good) names. </a:t>
            </a:r>
            <a:r>
              <a:rPr lang="en-US" dirty="0" smtClean="0">
                <a:latin typeface="Calisto MT" panose="02040603050505030304" pitchFamily="18" charset="0"/>
              </a:rPr>
              <a:t>This means the meaning and use of all identifiers should always be clear.</a:t>
            </a:r>
          </a:p>
          <a:p>
            <a:r>
              <a:rPr lang="en-US" dirty="0">
                <a:latin typeface="Calisto MT" panose="02040603050505030304" pitchFamily="18" charset="0"/>
              </a:rPr>
              <a:t>The following conventions are widely used in the programming industry.</a:t>
            </a:r>
          </a:p>
          <a:p>
            <a:pPr marL="914400" lvl="1" indent="-514350">
              <a:buFont typeface="+mj-lt"/>
              <a:buAutoNum type="arabicPeriod"/>
            </a:pPr>
            <a:r>
              <a:rPr lang="en-US" dirty="0">
                <a:latin typeface="Calisto MT" panose="02040603050505030304" pitchFamily="18" charset="0"/>
              </a:rPr>
              <a:t>Identifiers must be meaningful. Choose a name that clearly indicates its purpose. Do not use abbreviations unless the meaning is obvious and do not use very short identifiers, such as X or Y.</a:t>
            </a:r>
          </a:p>
          <a:p>
            <a:pPr marL="914400" lvl="1" indent="-514350">
              <a:buFont typeface="+mj-lt"/>
              <a:buAutoNum type="arabicPeriod"/>
            </a:pPr>
            <a:r>
              <a:rPr lang="en-US" dirty="0">
                <a:latin typeface="Calisto MT" panose="02040603050505030304" pitchFamily="18" charset="0"/>
              </a:rPr>
              <a:t>Precede each identifier with a lower case prefix that specifies the data type.</a:t>
            </a:r>
          </a:p>
          <a:p>
            <a:pPr marL="914400" lvl="1" indent="-514350">
              <a:buFont typeface="+mj-lt"/>
              <a:buAutoNum type="arabicPeriod"/>
            </a:pPr>
            <a:r>
              <a:rPr lang="en-US" dirty="0">
                <a:latin typeface="Calisto MT" panose="02040603050505030304" pitchFamily="18" charset="0"/>
              </a:rPr>
              <a:t>Capitalize each word of the name (Following the prefix). Always use mix case, never use all uppercase.</a:t>
            </a:r>
          </a:p>
          <a:p>
            <a:endParaRPr lang="en-US" dirty="0">
              <a:latin typeface="Calisto MT" panose="02040603050505030304" pitchFamily="18" charset="0"/>
            </a:endParaRPr>
          </a:p>
        </p:txBody>
      </p:sp>
    </p:spTree>
    <p:extLst>
      <p:ext uri="{BB962C8B-B14F-4D97-AF65-F5344CB8AC3E}">
        <p14:creationId xmlns:p14="http://schemas.microsoft.com/office/powerpoint/2010/main" val="16756946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220" y="109182"/>
            <a:ext cx="6171457" cy="877581"/>
          </a:xfrm>
        </p:spPr>
        <p:txBody>
          <a:bodyPr>
            <a:normAutofit fontScale="92500" lnSpcReduction="20000"/>
          </a:bodyPr>
          <a:lstStyle/>
          <a:p>
            <a:r>
              <a:rPr lang="en-US" sz="2400" dirty="0" smtClean="0">
                <a:latin typeface="Calisto MT" panose="02040603050505030304" pitchFamily="18" charset="0"/>
              </a:rPr>
              <a:t>Below is a list of the most common data types and their prefixes (to the right) and a Sample Identifier (to the left).</a:t>
            </a:r>
          </a:p>
          <a:p>
            <a:pPr marL="0" indent="0">
              <a:buNone/>
            </a:pPr>
            <a:endParaRPr lang="en-US" dirty="0">
              <a:latin typeface="Calisto MT" panose="0204060305050503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278705446"/>
              </p:ext>
            </p:extLst>
          </p:nvPr>
        </p:nvGraphicFramePr>
        <p:xfrm>
          <a:off x="2238232" y="1102928"/>
          <a:ext cx="2606722" cy="3708400"/>
        </p:xfrm>
        <a:graphic>
          <a:graphicData uri="http://schemas.openxmlformats.org/drawingml/2006/table">
            <a:tbl>
              <a:tblPr firstRow="1" bandRow="1">
                <a:tableStyleId>{5940675A-B579-460E-94D1-54222C63F5DA}</a:tableStyleId>
              </a:tblPr>
              <a:tblGrid>
                <a:gridCol w="1337481"/>
                <a:gridCol w="1269241"/>
              </a:tblGrid>
              <a:tr h="370840">
                <a:tc>
                  <a:txBody>
                    <a:bodyPr/>
                    <a:lstStyle/>
                    <a:p>
                      <a:r>
                        <a:rPr lang="en-US" sz="1600" b="1" dirty="0" smtClean="0">
                          <a:latin typeface="Calisto MT" panose="02040603050505030304" pitchFamily="18" charset="0"/>
                        </a:rPr>
                        <a:t>Data Types</a:t>
                      </a:r>
                      <a:endParaRPr lang="en-US" sz="1600" b="1" dirty="0">
                        <a:latin typeface="Calisto MT" panose="02040603050505030304" pitchFamily="18" charset="0"/>
                        <a:cs typeface="Times New Roman" panose="02020603050405020304" pitchFamily="18" charset="0"/>
                      </a:endParaRPr>
                    </a:p>
                  </a:txBody>
                  <a:tcPr>
                    <a:solidFill>
                      <a:schemeClr val="accent3">
                        <a:lumMod val="40000"/>
                        <a:lumOff val="60000"/>
                      </a:schemeClr>
                    </a:solidFill>
                  </a:tcPr>
                </a:tc>
                <a:tc>
                  <a:txBody>
                    <a:bodyPr/>
                    <a:lstStyle/>
                    <a:p>
                      <a:r>
                        <a:rPr lang="en-US" sz="1600" b="1" dirty="0" smtClean="0">
                          <a:latin typeface="Calisto MT" panose="02040603050505030304" pitchFamily="18" charset="0"/>
                        </a:rPr>
                        <a:t>Prefix</a:t>
                      </a:r>
                      <a:endParaRPr lang="en-US" sz="1600" b="1" dirty="0">
                        <a:latin typeface="Calisto MT" panose="02040603050505030304" pitchFamily="18" charset="0"/>
                        <a:cs typeface="Times New Roman" panose="02020603050405020304" pitchFamily="18" charset="0"/>
                      </a:endParaRPr>
                    </a:p>
                  </a:txBody>
                  <a:tcPr>
                    <a:solidFill>
                      <a:schemeClr val="accent3">
                        <a:lumMod val="40000"/>
                        <a:lumOff val="60000"/>
                      </a:schemeClr>
                    </a:solidFill>
                  </a:tcPr>
                </a:tc>
              </a:tr>
              <a:tr h="370840">
                <a:tc>
                  <a:txBody>
                    <a:bodyPr/>
                    <a:lstStyle/>
                    <a:p>
                      <a:r>
                        <a:rPr lang="en-US" sz="1400" dirty="0" smtClean="0">
                          <a:latin typeface="Calisto MT" panose="02040603050505030304" pitchFamily="18" charset="0"/>
                        </a:rPr>
                        <a:t>Boolean </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c>
                  <a:txBody>
                    <a:bodyPr/>
                    <a:lstStyle/>
                    <a:p>
                      <a:r>
                        <a:rPr lang="en-US" sz="1400" dirty="0" err="1" smtClean="0">
                          <a:latin typeface="Calisto MT" panose="02040603050505030304" pitchFamily="18" charset="0"/>
                        </a:rPr>
                        <a:t>bln</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r>
              <a:tr h="370840">
                <a:tc>
                  <a:txBody>
                    <a:bodyPr/>
                    <a:lstStyle/>
                    <a:p>
                      <a:r>
                        <a:rPr lang="en-US" sz="1400" dirty="0" smtClean="0">
                          <a:latin typeface="Calisto MT" panose="02040603050505030304" pitchFamily="18" charset="0"/>
                        </a:rPr>
                        <a:t>Currency </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c>
                  <a:txBody>
                    <a:bodyPr/>
                    <a:lstStyle/>
                    <a:p>
                      <a:r>
                        <a:rPr lang="en-US" sz="1400" dirty="0" smtClean="0">
                          <a:latin typeface="Calisto MT" panose="02040603050505030304" pitchFamily="18" charset="0"/>
                        </a:rPr>
                        <a:t>cur</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r>
              <a:tr h="370840">
                <a:tc>
                  <a:txBody>
                    <a:bodyPr/>
                    <a:lstStyle/>
                    <a:p>
                      <a:r>
                        <a:rPr lang="en-US" sz="1400" dirty="0" smtClean="0">
                          <a:latin typeface="Calisto MT" panose="02040603050505030304" pitchFamily="18" charset="0"/>
                        </a:rPr>
                        <a:t>Date/Time</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c>
                  <a:txBody>
                    <a:bodyPr/>
                    <a:lstStyle/>
                    <a:p>
                      <a:r>
                        <a:rPr lang="en-US" sz="1400" dirty="0" err="1" smtClean="0">
                          <a:latin typeface="Calisto MT" panose="02040603050505030304" pitchFamily="18" charset="0"/>
                        </a:rPr>
                        <a:t>dtm</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r>
              <a:tr h="370840">
                <a:tc>
                  <a:txBody>
                    <a:bodyPr/>
                    <a:lstStyle/>
                    <a:p>
                      <a:r>
                        <a:rPr lang="en-US" sz="1400" dirty="0" smtClean="0">
                          <a:latin typeface="Calisto MT" panose="02040603050505030304" pitchFamily="18" charset="0"/>
                        </a:rPr>
                        <a:t>Double </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c>
                  <a:txBody>
                    <a:bodyPr/>
                    <a:lstStyle/>
                    <a:p>
                      <a:r>
                        <a:rPr lang="en-US" sz="1400" dirty="0" err="1" smtClean="0">
                          <a:latin typeface="Calisto MT" panose="02040603050505030304" pitchFamily="18" charset="0"/>
                        </a:rPr>
                        <a:t>dbl</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r>
              <a:tr h="370840">
                <a:tc>
                  <a:txBody>
                    <a:bodyPr/>
                    <a:lstStyle/>
                    <a:p>
                      <a:r>
                        <a:rPr lang="en-US" sz="1400" dirty="0" smtClean="0">
                          <a:latin typeface="Calisto MT" panose="02040603050505030304" pitchFamily="18" charset="0"/>
                        </a:rPr>
                        <a:t>Integer </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c>
                  <a:txBody>
                    <a:bodyPr/>
                    <a:lstStyle/>
                    <a:p>
                      <a:r>
                        <a:rPr lang="en-US" sz="1400" dirty="0" err="1" smtClean="0">
                          <a:latin typeface="Calisto MT" panose="02040603050505030304" pitchFamily="18" charset="0"/>
                        </a:rPr>
                        <a:t>int</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r>
              <a:tr h="370840">
                <a:tc>
                  <a:txBody>
                    <a:bodyPr/>
                    <a:lstStyle/>
                    <a:p>
                      <a:r>
                        <a:rPr lang="en-US" sz="1400" dirty="0" smtClean="0">
                          <a:latin typeface="Calisto MT" panose="02040603050505030304" pitchFamily="18" charset="0"/>
                        </a:rPr>
                        <a:t>Long Integer</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c>
                  <a:txBody>
                    <a:bodyPr/>
                    <a:lstStyle/>
                    <a:p>
                      <a:r>
                        <a:rPr lang="en-US" sz="1400" dirty="0" err="1" smtClean="0">
                          <a:latin typeface="Calisto MT" panose="02040603050505030304" pitchFamily="18" charset="0"/>
                        </a:rPr>
                        <a:t>lng</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r>
              <a:tr h="370840">
                <a:tc>
                  <a:txBody>
                    <a:bodyPr/>
                    <a:lstStyle/>
                    <a:p>
                      <a:r>
                        <a:rPr lang="en-US" sz="1400" dirty="0" smtClean="0">
                          <a:latin typeface="Calisto MT" panose="02040603050505030304" pitchFamily="18" charset="0"/>
                        </a:rPr>
                        <a:t>Single </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c>
                  <a:txBody>
                    <a:bodyPr/>
                    <a:lstStyle/>
                    <a:p>
                      <a:r>
                        <a:rPr lang="en-US" sz="1400" dirty="0" err="1" smtClean="0">
                          <a:latin typeface="Calisto MT" panose="02040603050505030304" pitchFamily="18" charset="0"/>
                        </a:rPr>
                        <a:t>sng</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r>
              <a:tr h="370840">
                <a:tc>
                  <a:txBody>
                    <a:bodyPr/>
                    <a:lstStyle/>
                    <a:p>
                      <a:r>
                        <a:rPr lang="en-US" sz="1400" dirty="0" smtClean="0">
                          <a:latin typeface="Calisto MT" panose="02040603050505030304" pitchFamily="18" charset="0"/>
                        </a:rPr>
                        <a:t>String </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c>
                  <a:txBody>
                    <a:bodyPr/>
                    <a:lstStyle/>
                    <a:p>
                      <a:r>
                        <a:rPr lang="en-US" sz="1400" dirty="0" err="1" smtClean="0">
                          <a:latin typeface="Calisto MT" panose="02040603050505030304" pitchFamily="18" charset="0"/>
                        </a:rPr>
                        <a:t>str</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r>
              <a:tr h="370840">
                <a:tc>
                  <a:txBody>
                    <a:bodyPr/>
                    <a:lstStyle/>
                    <a:p>
                      <a:r>
                        <a:rPr lang="en-US" sz="1400" dirty="0" smtClean="0">
                          <a:latin typeface="Calisto MT" panose="02040603050505030304" pitchFamily="18" charset="0"/>
                        </a:rPr>
                        <a:t>Variant </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c>
                  <a:txBody>
                    <a:bodyPr/>
                    <a:lstStyle/>
                    <a:p>
                      <a:r>
                        <a:rPr lang="en-US" sz="1400" dirty="0" err="1" smtClean="0">
                          <a:latin typeface="Calisto MT" panose="02040603050505030304" pitchFamily="18" charset="0"/>
                        </a:rPr>
                        <a:t>vnt</a:t>
                      </a:r>
                      <a:endParaRPr lang="en-US" sz="1400" b="1" dirty="0">
                        <a:latin typeface="Calisto MT" panose="02040603050505030304" pitchFamily="18" charset="0"/>
                        <a:cs typeface="Times New Roman" panose="02020603050405020304" pitchFamily="18" charset="0"/>
                      </a:endParaRPr>
                    </a:p>
                  </a:txBody>
                  <a:tcPr>
                    <a:solidFill>
                      <a:srgbClr val="9EFF29"/>
                    </a:solidFill>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214643651"/>
              </p:ext>
            </p:extLst>
          </p:nvPr>
        </p:nvGraphicFramePr>
        <p:xfrm>
          <a:off x="5124734" y="1423650"/>
          <a:ext cx="3684896" cy="3693160"/>
        </p:xfrm>
        <a:graphic>
          <a:graphicData uri="http://schemas.openxmlformats.org/drawingml/2006/table">
            <a:tbl>
              <a:tblPr firstRow="1" bandRow="1">
                <a:tableStyleId>{5940675A-B579-460E-94D1-54222C63F5DA}</a:tableStyleId>
              </a:tblPr>
              <a:tblGrid>
                <a:gridCol w="1890681"/>
                <a:gridCol w="1794215"/>
              </a:tblGrid>
              <a:tr h="370840">
                <a:tc>
                  <a:txBody>
                    <a:bodyPr/>
                    <a:lstStyle/>
                    <a:p>
                      <a:r>
                        <a:rPr lang="en-US" sz="1600" b="1" dirty="0" smtClean="0">
                          <a:latin typeface="Calisto MT" panose="02040603050505030304" pitchFamily="18" charset="0"/>
                          <a:cs typeface="+mn-cs"/>
                        </a:rPr>
                        <a:t>Field</a:t>
                      </a:r>
                      <a:r>
                        <a:rPr lang="en-US" sz="1600" b="1" baseline="0" dirty="0" smtClean="0">
                          <a:latin typeface="Calisto MT" panose="02040603050505030304" pitchFamily="18" charset="0"/>
                          <a:cs typeface="+mn-cs"/>
                        </a:rPr>
                        <a:t> of Data</a:t>
                      </a:r>
                      <a:endParaRPr lang="en-US" sz="1600" b="1" dirty="0">
                        <a:latin typeface="Calisto MT" panose="02040603050505030304" pitchFamily="18" charset="0"/>
                        <a:cs typeface="Times New Roman" panose="02020603050405020304" pitchFamily="18" charset="0"/>
                      </a:endParaRPr>
                    </a:p>
                  </a:txBody>
                  <a:tcPr>
                    <a:solidFill>
                      <a:schemeClr val="accent2">
                        <a:lumMod val="40000"/>
                        <a:lumOff val="60000"/>
                      </a:schemeClr>
                    </a:solidFill>
                  </a:tcPr>
                </a:tc>
                <a:tc>
                  <a:txBody>
                    <a:bodyPr/>
                    <a:lstStyle/>
                    <a:p>
                      <a:r>
                        <a:rPr lang="en-US" sz="1600" b="1" dirty="0" smtClean="0">
                          <a:latin typeface="Calisto MT" panose="02040603050505030304" pitchFamily="18" charset="0"/>
                          <a:cs typeface="+mn-cs"/>
                        </a:rPr>
                        <a:t>Possible</a:t>
                      </a:r>
                      <a:r>
                        <a:rPr lang="en-US" sz="1600" b="1" baseline="0" dirty="0" smtClean="0">
                          <a:latin typeface="Calisto MT" panose="02040603050505030304" pitchFamily="18" charset="0"/>
                          <a:cs typeface="+mn-cs"/>
                        </a:rPr>
                        <a:t> Identifier</a:t>
                      </a:r>
                      <a:endParaRPr lang="en-US" sz="1600" b="1" dirty="0">
                        <a:latin typeface="Calisto MT" panose="02040603050505030304" pitchFamily="18" charset="0"/>
                        <a:cs typeface="Times New Roman" panose="02020603050405020304" pitchFamily="18" charset="0"/>
                      </a:endParaRPr>
                    </a:p>
                  </a:txBody>
                  <a:tcPr>
                    <a:solidFill>
                      <a:schemeClr val="accent2">
                        <a:lumMod val="40000"/>
                        <a:lumOff val="60000"/>
                      </a:schemeClr>
                    </a:solidFill>
                  </a:tcPr>
                </a:tc>
              </a:tr>
              <a:tr h="370840">
                <a:tc>
                  <a:txBody>
                    <a:bodyPr/>
                    <a:lstStyle/>
                    <a:p>
                      <a:r>
                        <a:rPr lang="en-US" sz="1400" b="0" dirty="0" smtClean="0">
                          <a:latin typeface="Calisto MT" panose="02040603050505030304" pitchFamily="18" charset="0"/>
                          <a:cs typeface="+mn-cs"/>
                        </a:rPr>
                        <a:t>Social</a:t>
                      </a:r>
                      <a:r>
                        <a:rPr lang="en-US" sz="1400" b="0" baseline="0" dirty="0" smtClean="0">
                          <a:latin typeface="Calisto MT" panose="02040603050505030304" pitchFamily="18" charset="0"/>
                          <a:cs typeface="+mn-cs"/>
                        </a:rPr>
                        <a:t> Security Number</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sz="1400" dirty="0" err="1" smtClean="0">
                          <a:latin typeface="Calisto MT" panose="02040603050505030304" pitchFamily="18" charset="0"/>
                        </a:rPr>
                        <a:t>strSocialSecurityNumber</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r>
              <a:tr h="370840">
                <a:tc>
                  <a:txBody>
                    <a:bodyPr/>
                    <a:lstStyle/>
                    <a:p>
                      <a:r>
                        <a:rPr lang="en-US" sz="1400" dirty="0" smtClean="0">
                          <a:latin typeface="Calisto MT" panose="02040603050505030304" pitchFamily="18" charset="0"/>
                        </a:rPr>
                        <a:t>Pay Rate</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sz="1400" dirty="0" err="1" smtClean="0">
                          <a:latin typeface="Calisto MT" panose="02040603050505030304" pitchFamily="18" charset="0"/>
                        </a:rPr>
                        <a:t>curPayRate</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r>
              <a:tr h="370840">
                <a:tc>
                  <a:txBody>
                    <a:bodyPr/>
                    <a:lstStyle/>
                    <a:p>
                      <a:r>
                        <a:rPr lang="en-US" sz="1400" dirty="0" smtClean="0">
                          <a:latin typeface="Calisto MT" panose="02040603050505030304" pitchFamily="18" charset="0"/>
                        </a:rPr>
                        <a:t>Hours Worked</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sz="1400" b="0" dirty="0" err="1" smtClean="0">
                          <a:latin typeface="Calisto MT" panose="02040603050505030304" pitchFamily="18" charset="0"/>
                          <a:cs typeface="Times New Roman" panose="02020603050405020304" pitchFamily="18" charset="0"/>
                        </a:rPr>
                        <a:t>curHoursWorked</a:t>
                      </a:r>
                      <a:endParaRPr lang="en-US" sz="1400" b="0"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r>
              <a:tr h="370840">
                <a:tc>
                  <a:txBody>
                    <a:bodyPr/>
                    <a:lstStyle/>
                    <a:p>
                      <a:r>
                        <a:rPr lang="en-US" sz="1400" dirty="0" smtClean="0">
                          <a:latin typeface="Calisto MT" panose="02040603050505030304" pitchFamily="18" charset="0"/>
                        </a:rPr>
                        <a:t>Phone Number</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sz="1400" dirty="0" err="1" smtClean="0">
                          <a:latin typeface="Calisto MT" panose="02040603050505030304" pitchFamily="18" charset="0"/>
                        </a:rPr>
                        <a:t>strPhoneNumber</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r>
              <a:tr h="370840">
                <a:tc>
                  <a:txBody>
                    <a:bodyPr/>
                    <a:lstStyle/>
                    <a:p>
                      <a:r>
                        <a:rPr lang="en-US" sz="1400" b="0" dirty="0" err="1" smtClean="0">
                          <a:latin typeface="Calisto MT" panose="02040603050505030304" pitchFamily="18" charset="0"/>
                          <a:cs typeface="+mn-cs"/>
                        </a:rPr>
                        <a:t>Ouantity</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sz="1400" dirty="0" err="1" smtClean="0">
                          <a:latin typeface="Calisto MT" panose="02040603050505030304" pitchFamily="18" charset="0"/>
                        </a:rPr>
                        <a:t>intQuantity</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r>
              <a:tr h="370840">
                <a:tc>
                  <a:txBody>
                    <a:bodyPr/>
                    <a:lstStyle/>
                    <a:p>
                      <a:r>
                        <a:rPr lang="en-US" sz="1400" dirty="0" smtClean="0">
                          <a:latin typeface="Calisto MT" panose="02040603050505030304" pitchFamily="18" charset="0"/>
                        </a:rPr>
                        <a:t>Tax Rate (constant)</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sz="1400" dirty="0" err="1" smtClean="0">
                          <a:latin typeface="Calisto MT" panose="02040603050505030304" pitchFamily="18" charset="0"/>
                        </a:rPr>
                        <a:t>curTaxRate</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r>
              <a:tr h="370840">
                <a:tc>
                  <a:txBody>
                    <a:bodyPr/>
                    <a:lstStyle/>
                    <a:p>
                      <a:r>
                        <a:rPr lang="en-US" sz="1400" dirty="0" smtClean="0">
                          <a:latin typeface="Calisto MT" panose="02040603050505030304" pitchFamily="18" charset="0"/>
                        </a:rPr>
                        <a:t>Quota (constant)</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sz="1400" dirty="0" err="1" smtClean="0">
                          <a:latin typeface="Calisto MT" panose="02040603050505030304" pitchFamily="18" charset="0"/>
                        </a:rPr>
                        <a:t>intQuota</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r>
              <a:tr h="370840">
                <a:tc>
                  <a:txBody>
                    <a:bodyPr/>
                    <a:lstStyle/>
                    <a:p>
                      <a:r>
                        <a:rPr lang="en-US" sz="1400" dirty="0" smtClean="0">
                          <a:latin typeface="Calisto MT" panose="02040603050505030304" pitchFamily="18" charset="0"/>
                        </a:rPr>
                        <a:t>Population</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c>
                  <a:txBody>
                    <a:bodyPr/>
                    <a:lstStyle/>
                    <a:p>
                      <a:r>
                        <a:rPr lang="en-US" sz="1400" dirty="0" err="1" smtClean="0">
                          <a:latin typeface="Calisto MT" panose="02040603050505030304" pitchFamily="18" charset="0"/>
                        </a:rPr>
                        <a:t>lngPopulation</a:t>
                      </a:r>
                      <a:endParaRPr lang="en-US" sz="1400" b="1" dirty="0">
                        <a:latin typeface="Calisto MT" panose="02040603050505030304" pitchFamily="18" charset="0"/>
                        <a:cs typeface="Times New Roman" panose="02020603050405020304" pitchFamily="18" charset="0"/>
                      </a:endParaRPr>
                    </a:p>
                  </a:txBody>
                  <a:tcPr>
                    <a:solidFill>
                      <a:schemeClr val="accent5">
                        <a:lumMod val="40000"/>
                        <a:lumOff val="60000"/>
                      </a:schemeClr>
                    </a:solidFill>
                  </a:tcPr>
                </a:tc>
              </a:tr>
            </a:tbl>
          </a:graphicData>
        </a:graphic>
      </p:graphicFrame>
    </p:spTree>
    <p:extLst>
      <p:ext uri="{BB962C8B-B14F-4D97-AF65-F5344CB8AC3E}">
        <p14:creationId xmlns:p14="http://schemas.microsoft.com/office/powerpoint/2010/main" val="12323481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11508" y="256401"/>
            <a:ext cx="4124278" cy="500117"/>
          </a:xfrm>
        </p:spPr>
        <p:txBody>
          <a:bodyPr>
            <a:normAutofit fontScale="90000"/>
          </a:bodyPr>
          <a:lstStyle/>
          <a:p>
            <a:pPr algn="ctr"/>
            <a:r>
              <a:rPr lang="en-US" b="1" dirty="0" smtClean="0">
                <a:solidFill>
                  <a:schemeClr val="tx1">
                    <a:lumMod val="95000"/>
                    <a:lumOff val="5000"/>
                  </a:schemeClr>
                </a:solidFill>
                <a:latin typeface="Calisto MT" panose="02040603050505030304" pitchFamily="18" charset="0"/>
              </a:rPr>
              <a:t>5.4 Scope of Variables</a:t>
            </a:r>
            <a:endParaRPr lang="en-US" b="1" dirty="0">
              <a:solidFill>
                <a:schemeClr val="tx1">
                  <a:lumMod val="95000"/>
                  <a:lumOff val="5000"/>
                </a:schemeClr>
              </a:solidFill>
              <a:latin typeface="Calisto MT" panose="02040603050505030304" pitchFamily="18" charset="0"/>
            </a:endParaRPr>
          </a:p>
        </p:txBody>
      </p:sp>
      <p:sp>
        <p:nvSpPr>
          <p:cNvPr id="3" name="Content Placeholder 2"/>
          <p:cNvSpPr>
            <a:spLocks noGrp="1"/>
          </p:cNvSpPr>
          <p:nvPr>
            <p:ph idx="1"/>
          </p:nvPr>
        </p:nvSpPr>
        <p:spPr>
          <a:xfrm>
            <a:off x="135468" y="900752"/>
            <a:ext cx="8633220" cy="3793168"/>
          </a:xfrm>
          <a:noFill/>
        </p:spPr>
        <p:txBody>
          <a:bodyPr>
            <a:normAutofit fontScale="85000" lnSpcReduction="20000"/>
          </a:bodyPr>
          <a:lstStyle/>
          <a:p>
            <a:r>
              <a:rPr lang="en-US" dirty="0" smtClean="0">
                <a:latin typeface="Calisto MT" panose="02040603050505030304" pitchFamily="18" charset="0"/>
              </a:rPr>
              <a:t>A variable may exist and may visible for the entire project, for only one form or for only one procedure. </a:t>
            </a:r>
          </a:p>
          <a:p>
            <a:r>
              <a:rPr lang="en-US" dirty="0" smtClean="0">
                <a:latin typeface="Calisto MT" panose="02040603050505030304" pitchFamily="18" charset="0"/>
              </a:rPr>
              <a:t>The visibility of a variable is referred to as </a:t>
            </a:r>
            <a:r>
              <a:rPr lang="en-US" b="1" dirty="0" smtClean="0">
                <a:latin typeface="Calisto MT" panose="02040603050505030304" pitchFamily="18" charset="0"/>
              </a:rPr>
              <a:t>Scope</a:t>
            </a:r>
            <a:r>
              <a:rPr lang="en-US" dirty="0" smtClean="0">
                <a:latin typeface="Calisto MT" panose="02040603050505030304" pitchFamily="18" charset="0"/>
              </a:rPr>
              <a:t>. </a:t>
            </a:r>
            <a:r>
              <a:rPr lang="en-US" b="1" u="sng" dirty="0" smtClean="0">
                <a:latin typeface="Calisto MT" panose="02040603050505030304" pitchFamily="18" charset="0"/>
              </a:rPr>
              <a:t>Visibility</a:t>
            </a:r>
            <a:r>
              <a:rPr lang="en-US" dirty="0" smtClean="0">
                <a:latin typeface="Calisto MT" panose="02040603050505030304" pitchFamily="18" charset="0"/>
              </a:rPr>
              <a:t> really means </a:t>
            </a:r>
            <a:r>
              <a:rPr lang="en-US" b="1" dirty="0" smtClean="0">
                <a:latin typeface="Calisto MT" panose="02040603050505030304" pitchFamily="18" charset="0"/>
              </a:rPr>
              <a:t>‘this variable can be used or seen in this location’. </a:t>
            </a:r>
          </a:p>
          <a:p>
            <a:pPr marL="0" indent="0">
              <a:buNone/>
            </a:pPr>
            <a:endParaRPr lang="en-US" b="1" dirty="0" smtClean="0">
              <a:latin typeface="Calisto MT" panose="02040603050505030304" pitchFamily="18" charset="0"/>
            </a:endParaRPr>
          </a:p>
          <a:p>
            <a:r>
              <a:rPr lang="en-US" b="1" dirty="0" smtClean="0">
                <a:latin typeface="Calisto MT" panose="02040603050505030304" pitchFamily="18" charset="0"/>
              </a:rPr>
              <a:t>There are three types of variable scopes. </a:t>
            </a:r>
          </a:p>
          <a:p>
            <a:pPr marL="914400" lvl="1" indent="-514350">
              <a:buAutoNum type="arabicPeriod"/>
            </a:pPr>
            <a:r>
              <a:rPr lang="en-US" b="1" dirty="0" smtClean="0">
                <a:latin typeface="Calisto MT" panose="02040603050505030304" pitchFamily="18" charset="0"/>
              </a:rPr>
              <a:t>Global</a:t>
            </a:r>
            <a:r>
              <a:rPr lang="en-US" dirty="0" smtClean="0">
                <a:latin typeface="Calisto MT" panose="02040603050505030304" pitchFamily="18" charset="0"/>
              </a:rPr>
              <a:t> – global variables may be used in all procedure of a project.</a:t>
            </a:r>
          </a:p>
          <a:p>
            <a:pPr marL="914400" lvl="1" indent="-514350">
              <a:buAutoNum type="arabicPeriod"/>
            </a:pPr>
            <a:r>
              <a:rPr lang="en-US" b="1" dirty="0" smtClean="0">
                <a:latin typeface="Calisto MT" panose="02040603050505030304" pitchFamily="18" charset="0"/>
              </a:rPr>
              <a:t>Module Level </a:t>
            </a:r>
            <a:r>
              <a:rPr lang="en-US" dirty="0" smtClean="0">
                <a:latin typeface="Calisto MT" panose="02040603050505030304" pitchFamily="18" charset="0"/>
              </a:rPr>
              <a:t>– module level variables are accessible in all procedure of a form.</a:t>
            </a:r>
          </a:p>
          <a:p>
            <a:pPr marL="914400" lvl="1" indent="-514350">
              <a:buAutoNum type="arabicPeriod"/>
            </a:pPr>
            <a:r>
              <a:rPr lang="en-US" b="1" dirty="0" smtClean="0">
                <a:latin typeface="Calisto MT" panose="02040603050505030304" pitchFamily="18" charset="0"/>
              </a:rPr>
              <a:t>Local</a:t>
            </a:r>
            <a:r>
              <a:rPr lang="en-US" dirty="0" smtClean="0">
                <a:latin typeface="Calisto MT" panose="02040603050505030304" pitchFamily="18" charset="0"/>
              </a:rPr>
              <a:t> – local variable may be used only within the procedure in which it is declared.</a:t>
            </a:r>
          </a:p>
          <a:p>
            <a:r>
              <a:rPr lang="en-US" dirty="0" smtClean="0">
                <a:latin typeface="Calisto MT" panose="02040603050505030304" pitchFamily="18" charset="0"/>
              </a:rPr>
              <a:t>You declare the scope of a variable by choosing where to place the </a:t>
            </a:r>
            <a:r>
              <a:rPr lang="en-US" b="1" dirty="0" smtClean="0">
                <a:latin typeface="Calisto MT" panose="02040603050505030304" pitchFamily="18" charset="0"/>
              </a:rPr>
              <a:t>Dim</a:t>
            </a:r>
            <a:r>
              <a:rPr lang="en-US" dirty="0" smtClean="0">
                <a:latin typeface="Calisto MT" panose="02040603050505030304" pitchFamily="18" charset="0"/>
              </a:rPr>
              <a:t> statement. </a:t>
            </a:r>
          </a:p>
          <a:p>
            <a:r>
              <a:rPr lang="en-US" dirty="0">
                <a:latin typeface="Calisto MT" panose="02040603050505030304" pitchFamily="18" charset="0"/>
              </a:rPr>
              <a:t>In Visual Basic (VB), the </a:t>
            </a:r>
            <a:r>
              <a:rPr lang="en-US" b="1" dirty="0">
                <a:latin typeface="Calisto MT" panose="02040603050505030304" pitchFamily="18" charset="0"/>
              </a:rPr>
              <a:t>Dim</a:t>
            </a:r>
            <a:r>
              <a:rPr lang="en-US" dirty="0">
                <a:latin typeface="Calisto MT" panose="02040603050505030304" pitchFamily="18" charset="0"/>
              </a:rPr>
              <a:t> statement is used to declare a variable.</a:t>
            </a:r>
          </a:p>
          <a:p>
            <a:r>
              <a:rPr lang="en-US" dirty="0" smtClean="0">
                <a:latin typeface="Calisto MT" panose="02040603050505030304" pitchFamily="18" charset="0"/>
              </a:rPr>
              <a:t>The </a:t>
            </a:r>
            <a:r>
              <a:rPr lang="en-US" dirty="0">
                <a:latin typeface="Calisto MT" panose="02040603050505030304" pitchFamily="18" charset="0"/>
              </a:rPr>
              <a:t>term “Dim” means “Dimension” and it is a keyword that denotes the creation of a </a:t>
            </a:r>
            <a:r>
              <a:rPr lang="en-US" dirty="0" smtClean="0">
                <a:latin typeface="Calisto MT" panose="02040603050505030304" pitchFamily="18" charset="0"/>
              </a:rPr>
              <a:t>variable. The </a:t>
            </a:r>
            <a:r>
              <a:rPr lang="en-US" dirty="0">
                <a:latin typeface="Calisto MT" panose="02040603050505030304" pitchFamily="18" charset="0"/>
              </a:rPr>
              <a:t>basic syntax to declare variables using the </a:t>
            </a:r>
            <a:r>
              <a:rPr lang="en-US" dirty="0" smtClean="0">
                <a:latin typeface="Calisto MT" panose="02040603050505030304" pitchFamily="18" charset="0"/>
              </a:rPr>
              <a:t>Dim statement is:</a:t>
            </a:r>
          </a:p>
          <a:p>
            <a:pPr marL="800100" lvl="2" indent="0">
              <a:buNone/>
            </a:pPr>
            <a:r>
              <a:rPr lang="en-US" b="1" dirty="0" smtClean="0">
                <a:latin typeface="Calisto MT" panose="02040603050505030304" pitchFamily="18" charset="0"/>
              </a:rPr>
              <a:t>Dim </a:t>
            </a:r>
            <a:r>
              <a:rPr lang="en-US" b="1" dirty="0" err="1" smtClean="0">
                <a:latin typeface="Calisto MT" panose="02040603050505030304" pitchFamily="18" charset="0"/>
              </a:rPr>
              <a:t>variableName</a:t>
            </a:r>
            <a:r>
              <a:rPr lang="en-US" b="1" dirty="0" smtClean="0">
                <a:latin typeface="Calisto MT" panose="02040603050505030304" pitchFamily="18" charset="0"/>
              </a:rPr>
              <a:t> As </a:t>
            </a:r>
            <a:r>
              <a:rPr lang="en-US" b="1" dirty="0" err="1" smtClean="0">
                <a:latin typeface="Calisto MT" panose="02040603050505030304" pitchFamily="18" charset="0"/>
              </a:rPr>
              <a:t>DataType</a:t>
            </a:r>
            <a:endParaRPr lang="en-US" b="1" dirty="0">
              <a:latin typeface="Calisto MT" panose="02040603050505030304" pitchFamily="18" charset="0"/>
            </a:endParaRPr>
          </a:p>
          <a:p>
            <a:endParaRPr lang="en-US" dirty="0">
              <a:latin typeface="Calisto MT" panose="02040603050505030304" pitchFamily="18" charset="0"/>
            </a:endParaRPr>
          </a:p>
        </p:txBody>
      </p:sp>
    </p:spTree>
    <p:extLst>
      <p:ext uri="{BB962C8B-B14F-4D97-AF65-F5344CB8AC3E}">
        <p14:creationId xmlns:p14="http://schemas.microsoft.com/office/powerpoint/2010/main" val="22522022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13173" y="256401"/>
            <a:ext cx="8288376" cy="500117"/>
          </a:xfrm>
        </p:spPr>
        <p:txBody>
          <a:bodyPr>
            <a:normAutofit fontScale="90000"/>
          </a:bodyPr>
          <a:lstStyle/>
          <a:p>
            <a:pPr algn="ctr"/>
            <a:r>
              <a:rPr lang="en-US" b="1" dirty="0" smtClean="0">
                <a:solidFill>
                  <a:schemeClr val="tx1">
                    <a:lumMod val="95000"/>
                    <a:lumOff val="5000"/>
                  </a:schemeClr>
                </a:solidFill>
                <a:latin typeface="Calisto MT" panose="02040603050505030304" pitchFamily="18" charset="0"/>
              </a:rPr>
              <a:t>Calculations: Arithmetic Operation</a:t>
            </a:r>
            <a:endParaRPr lang="en-US" b="1" dirty="0">
              <a:solidFill>
                <a:schemeClr val="tx1">
                  <a:lumMod val="95000"/>
                  <a:lumOff val="5000"/>
                </a:schemeClr>
              </a:solidFill>
              <a:latin typeface="Calisto MT" panose="02040603050505030304" pitchFamily="18" charset="0"/>
            </a:endParaRPr>
          </a:p>
        </p:txBody>
      </p:sp>
      <p:sp>
        <p:nvSpPr>
          <p:cNvPr id="3" name="Content Placeholder 2"/>
          <p:cNvSpPr>
            <a:spLocks noGrp="1"/>
          </p:cNvSpPr>
          <p:nvPr>
            <p:ph idx="1"/>
          </p:nvPr>
        </p:nvSpPr>
        <p:spPr>
          <a:xfrm>
            <a:off x="243840" y="903175"/>
            <a:ext cx="8183653" cy="1178110"/>
          </a:xfrm>
        </p:spPr>
        <p:txBody>
          <a:bodyPr>
            <a:normAutofit fontScale="92500" lnSpcReduction="10000"/>
          </a:bodyPr>
          <a:lstStyle/>
          <a:p>
            <a:r>
              <a:rPr lang="en-US" dirty="0" smtClean="0">
                <a:latin typeface="Calisto MT" panose="02040603050505030304" pitchFamily="18" charset="0"/>
              </a:rPr>
              <a:t>In programming, you can perform calculation with variables, constants and with the properties of certain objects.</a:t>
            </a:r>
          </a:p>
          <a:p>
            <a:r>
              <a:rPr lang="en-US" dirty="0" smtClean="0">
                <a:latin typeface="Calisto MT" panose="02040603050505030304" pitchFamily="18" charset="0"/>
              </a:rPr>
              <a:t>You can perform the basic Arithmetic Operation in Visual Basic. The basic arithmetic operations you can perform in VB includes the following:</a:t>
            </a:r>
            <a:endParaRPr lang="en-US" dirty="0">
              <a:latin typeface="Calisto MT" panose="0204060305050503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998994351"/>
              </p:ext>
            </p:extLst>
          </p:nvPr>
        </p:nvGraphicFramePr>
        <p:xfrm>
          <a:off x="544394" y="2081285"/>
          <a:ext cx="5211169" cy="2828895"/>
        </p:xfrm>
        <a:graphic>
          <a:graphicData uri="http://schemas.openxmlformats.org/drawingml/2006/table">
            <a:tbl>
              <a:tblPr firstRow="1" bandRow="1">
                <a:tableStyleId>{7DF18680-E054-41AD-8BC1-D1AEF772440D}</a:tableStyleId>
              </a:tblPr>
              <a:tblGrid>
                <a:gridCol w="905302"/>
                <a:gridCol w="4305867"/>
              </a:tblGrid>
              <a:tr h="330105">
                <a:tc>
                  <a:txBody>
                    <a:bodyPr/>
                    <a:lstStyle/>
                    <a:p>
                      <a:r>
                        <a:rPr lang="en-US" sz="1400" dirty="0" smtClean="0">
                          <a:latin typeface="Calisto MT" panose="02040603050505030304" pitchFamily="18" charset="0"/>
                        </a:rPr>
                        <a:t>Operator </a:t>
                      </a:r>
                      <a:endParaRPr lang="en-US" sz="1400" dirty="0">
                        <a:latin typeface="Calisto MT" panose="02040603050505030304" pitchFamily="18" charset="0"/>
                      </a:endParaRPr>
                    </a:p>
                  </a:txBody>
                  <a:tcPr/>
                </a:tc>
                <a:tc>
                  <a:txBody>
                    <a:bodyPr/>
                    <a:lstStyle/>
                    <a:p>
                      <a:r>
                        <a:rPr lang="en-US" sz="1400" dirty="0" smtClean="0">
                          <a:latin typeface="Calisto MT" panose="02040603050505030304" pitchFamily="18" charset="0"/>
                        </a:rPr>
                        <a:t>Operation </a:t>
                      </a:r>
                      <a:endParaRPr lang="en-US" sz="1400" dirty="0">
                        <a:latin typeface="Calisto MT" panose="02040603050505030304" pitchFamily="18" charset="0"/>
                      </a:endParaRPr>
                    </a:p>
                  </a:txBody>
                  <a:tcPr/>
                </a:tc>
              </a:tr>
              <a:tr h="330105">
                <a:tc>
                  <a:txBody>
                    <a:bodyPr/>
                    <a:lstStyle/>
                    <a:p>
                      <a:pPr algn="ctr"/>
                      <a:r>
                        <a:rPr lang="en-US" sz="1400" b="1" dirty="0" smtClean="0">
                          <a:latin typeface="Calisto MT" panose="02040603050505030304" pitchFamily="18" charset="0"/>
                        </a:rPr>
                        <a:t>+</a:t>
                      </a:r>
                      <a:endParaRPr lang="en-US" sz="1400" b="1" dirty="0">
                        <a:latin typeface="Calisto MT" panose="02040603050505030304" pitchFamily="18" charset="0"/>
                      </a:endParaRPr>
                    </a:p>
                  </a:txBody>
                  <a:tcPr/>
                </a:tc>
                <a:tc>
                  <a:txBody>
                    <a:bodyPr/>
                    <a:lstStyle/>
                    <a:p>
                      <a:r>
                        <a:rPr lang="en-US" sz="1400" dirty="0" smtClean="0">
                          <a:latin typeface="Calisto MT" panose="02040603050505030304" pitchFamily="18" charset="0"/>
                        </a:rPr>
                        <a:t>Addition </a:t>
                      </a:r>
                      <a:endParaRPr lang="en-US" sz="1400" dirty="0">
                        <a:latin typeface="Calisto MT" panose="02040603050505030304" pitchFamily="18" charset="0"/>
                      </a:endParaRPr>
                    </a:p>
                  </a:txBody>
                  <a:tcPr/>
                </a:tc>
              </a:tr>
              <a:tr h="330105">
                <a:tc>
                  <a:txBody>
                    <a:bodyPr/>
                    <a:lstStyle/>
                    <a:p>
                      <a:pPr algn="ctr"/>
                      <a:r>
                        <a:rPr lang="en-US" sz="1400" b="1" dirty="0" smtClean="0">
                          <a:latin typeface="Calisto MT" panose="02040603050505030304" pitchFamily="18" charset="0"/>
                        </a:rPr>
                        <a:t>- </a:t>
                      </a:r>
                      <a:endParaRPr lang="en-US" sz="1400" b="1" dirty="0">
                        <a:latin typeface="Calisto MT" panose="02040603050505030304" pitchFamily="18" charset="0"/>
                      </a:endParaRPr>
                    </a:p>
                  </a:txBody>
                  <a:tcPr/>
                </a:tc>
                <a:tc>
                  <a:txBody>
                    <a:bodyPr/>
                    <a:lstStyle/>
                    <a:p>
                      <a:r>
                        <a:rPr lang="en-US" sz="1400" dirty="0" smtClean="0">
                          <a:latin typeface="Calisto MT" panose="02040603050505030304" pitchFamily="18" charset="0"/>
                        </a:rPr>
                        <a:t>Subtraction </a:t>
                      </a:r>
                      <a:endParaRPr lang="en-US" sz="1400" dirty="0">
                        <a:latin typeface="Calisto MT" panose="02040603050505030304" pitchFamily="18" charset="0"/>
                      </a:endParaRPr>
                    </a:p>
                  </a:txBody>
                  <a:tcPr/>
                </a:tc>
              </a:tr>
              <a:tr h="330105">
                <a:tc>
                  <a:txBody>
                    <a:bodyPr/>
                    <a:lstStyle/>
                    <a:p>
                      <a:pPr algn="ctr"/>
                      <a:r>
                        <a:rPr lang="en-US" sz="1400" b="1" dirty="0" smtClean="0">
                          <a:latin typeface="Calisto MT" panose="02040603050505030304" pitchFamily="18" charset="0"/>
                        </a:rPr>
                        <a:t>* </a:t>
                      </a:r>
                      <a:endParaRPr lang="en-US" sz="1400" b="1" dirty="0">
                        <a:latin typeface="Calisto MT" panose="02040603050505030304" pitchFamily="18" charset="0"/>
                      </a:endParaRPr>
                    </a:p>
                  </a:txBody>
                  <a:tcPr/>
                </a:tc>
                <a:tc>
                  <a:txBody>
                    <a:bodyPr/>
                    <a:lstStyle/>
                    <a:p>
                      <a:r>
                        <a:rPr lang="en-US" sz="1400" dirty="0" smtClean="0">
                          <a:latin typeface="Calisto MT" panose="02040603050505030304" pitchFamily="18" charset="0"/>
                        </a:rPr>
                        <a:t>Multiplication </a:t>
                      </a:r>
                      <a:endParaRPr lang="en-US" sz="1400" dirty="0">
                        <a:latin typeface="Calisto MT" panose="02040603050505030304" pitchFamily="18" charset="0"/>
                      </a:endParaRPr>
                    </a:p>
                  </a:txBody>
                  <a:tcPr/>
                </a:tc>
              </a:tr>
              <a:tr h="330105">
                <a:tc>
                  <a:txBody>
                    <a:bodyPr/>
                    <a:lstStyle/>
                    <a:p>
                      <a:pPr algn="ctr"/>
                      <a:r>
                        <a:rPr lang="en-US" sz="1400" b="1" dirty="0" smtClean="0">
                          <a:latin typeface="Calisto MT" panose="02040603050505030304" pitchFamily="18" charset="0"/>
                        </a:rPr>
                        <a:t>/</a:t>
                      </a:r>
                      <a:endParaRPr lang="en-US" sz="1400" b="1" dirty="0">
                        <a:latin typeface="Calisto MT" panose="02040603050505030304" pitchFamily="18" charset="0"/>
                      </a:endParaRPr>
                    </a:p>
                  </a:txBody>
                  <a:tcPr/>
                </a:tc>
                <a:tc>
                  <a:txBody>
                    <a:bodyPr/>
                    <a:lstStyle/>
                    <a:p>
                      <a:r>
                        <a:rPr lang="en-US" sz="1400" dirty="0" smtClean="0">
                          <a:latin typeface="Calisto MT" panose="02040603050505030304" pitchFamily="18" charset="0"/>
                        </a:rPr>
                        <a:t>Division (take normal quotient)</a:t>
                      </a:r>
                      <a:endParaRPr lang="en-US" sz="1400" dirty="0">
                        <a:latin typeface="Calisto MT" panose="02040603050505030304" pitchFamily="18" charset="0"/>
                      </a:endParaRPr>
                    </a:p>
                  </a:txBody>
                  <a:tcPr/>
                </a:tc>
              </a:tr>
              <a:tr h="330105">
                <a:tc>
                  <a:txBody>
                    <a:bodyPr/>
                    <a:lstStyle/>
                    <a:p>
                      <a:pPr algn="ctr"/>
                      <a:r>
                        <a:rPr lang="en-US" sz="1400" b="1" dirty="0" smtClean="0">
                          <a:latin typeface="Calisto MT" panose="02040603050505030304" pitchFamily="18" charset="0"/>
                        </a:rPr>
                        <a:t>\</a:t>
                      </a:r>
                      <a:endParaRPr lang="en-US" sz="1400" b="1" dirty="0">
                        <a:latin typeface="Calisto MT" panose="02040603050505030304" pitchFamily="18" charset="0"/>
                      </a:endParaRPr>
                    </a:p>
                  </a:txBody>
                  <a:tcPr/>
                </a:tc>
                <a:tc>
                  <a:txBody>
                    <a:bodyPr/>
                    <a:lstStyle/>
                    <a:p>
                      <a:r>
                        <a:rPr lang="en-US" sz="1400" dirty="0" smtClean="0">
                          <a:latin typeface="Calisto MT" panose="02040603050505030304" pitchFamily="18" charset="0"/>
                        </a:rPr>
                        <a:t>Integer Division (take only the whole, discard remainder)</a:t>
                      </a:r>
                      <a:endParaRPr lang="en-US" sz="1400" dirty="0">
                        <a:latin typeface="Calisto MT" panose="02040603050505030304" pitchFamily="18" charset="0"/>
                      </a:endParaRPr>
                    </a:p>
                  </a:txBody>
                  <a:tcPr/>
                </a:tc>
              </a:tr>
              <a:tr h="330105">
                <a:tc>
                  <a:txBody>
                    <a:bodyPr/>
                    <a:lstStyle/>
                    <a:p>
                      <a:pPr algn="ctr"/>
                      <a:r>
                        <a:rPr lang="en-US" sz="1400" b="1" dirty="0" smtClean="0">
                          <a:latin typeface="Calisto MT" panose="02040603050505030304" pitchFamily="18" charset="0"/>
                        </a:rPr>
                        <a:t>Mod </a:t>
                      </a:r>
                      <a:endParaRPr lang="en-US" sz="1400" b="1" dirty="0">
                        <a:latin typeface="Calisto MT" panose="02040603050505030304" pitchFamily="18" charset="0"/>
                      </a:endParaRPr>
                    </a:p>
                  </a:txBody>
                  <a:tcPr/>
                </a:tc>
                <a:tc>
                  <a:txBody>
                    <a:bodyPr/>
                    <a:lstStyle/>
                    <a:p>
                      <a:r>
                        <a:rPr lang="en-US" sz="1400" dirty="0" smtClean="0">
                          <a:latin typeface="Calisto MT" panose="02040603050505030304" pitchFamily="18" charset="0"/>
                        </a:rPr>
                        <a:t>Modulus</a:t>
                      </a:r>
                      <a:r>
                        <a:rPr lang="en-US" sz="1400" baseline="0" dirty="0" smtClean="0">
                          <a:latin typeface="Calisto MT" panose="02040603050505030304" pitchFamily="18" charset="0"/>
                        </a:rPr>
                        <a:t> Division (take remainder, discard whole)</a:t>
                      </a:r>
                      <a:endParaRPr lang="en-US" sz="1400" dirty="0">
                        <a:latin typeface="Calisto MT" panose="02040603050505030304" pitchFamily="18" charset="0"/>
                      </a:endParaRPr>
                    </a:p>
                  </a:txBody>
                  <a:tcPr/>
                </a:tc>
              </a:tr>
              <a:tr h="330105">
                <a:tc>
                  <a:txBody>
                    <a:bodyPr/>
                    <a:lstStyle/>
                    <a:p>
                      <a:pPr algn="ctr"/>
                      <a:r>
                        <a:rPr lang="en-US" sz="1400" b="1" dirty="0" smtClean="0">
                          <a:latin typeface="Calisto MT" panose="02040603050505030304" pitchFamily="18" charset="0"/>
                        </a:rPr>
                        <a:t>^</a:t>
                      </a:r>
                      <a:endParaRPr lang="en-US" sz="1400" b="1" dirty="0">
                        <a:latin typeface="Calisto MT" panose="02040603050505030304" pitchFamily="18" charset="0"/>
                      </a:endParaRPr>
                    </a:p>
                  </a:txBody>
                  <a:tcPr/>
                </a:tc>
                <a:tc>
                  <a:txBody>
                    <a:bodyPr/>
                    <a:lstStyle/>
                    <a:p>
                      <a:r>
                        <a:rPr lang="en-US" sz="1400" dirty="0" smtClean="0">
                          <a:latin typeface="Calisto MT" panose="02040603050505030304" pitchFamily="18" charset="0"/>
                        </a:rPr>
                        <a:t>Exponentiation </a:t>
                      </a:r>
                      <a:endParaRPr lang="en-US" sz="1400" dirty="0">
                        <a:latin typeface="Calisto MT" panose="02040603050505030304" pitchFamily="18" charset="0"/>
                      </a:endParaRPr>
                    </a:p>
                  </a:txBody>
                  <a:tcPr/>
                </a:tc>
              </a:tr>
            </a:tbl>
          </a:graphicData>
        </a:graphic>
      </p:graphicFrame>
    </p:spTree>
    <p:extLst>
      <p:ext uri="{BB962C8B-B14F-4D97-AF65-F5344CB8AC3E}">
        <p14:creationId xmlns:p14="http://schemas.microsoft.com/office/powerpoint/2010/main" val="19465184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78561" y="256401"/>
            <a:ext cx="5788622" cy="500117"/>
          </a:xfrm>
        </p:spPr>
        <p:txBody>
          <a:bodyPr>
            <a:normAutofit fontScale="90000"/>
          </a:bodyPr>
          <a:lstStyle/>
          <a:p>
            <a:pPr algn="ctr"/>
            <a:r>
              <a:rPr lang="en-US" b="1" dirty="0" smtClean="0">
                <a:solidFill>
                  <a:schemeClr val="tx1">
                    <a:lumMod val="95000"/>
                    <a:lumOff val="5000"/>
                  </a:schemeClr>
                </a:solidFill>
                <a:latin typeface="Calisto MT" panose="02040603050505030304" pitchFamily="18" charset="0"/>
              </a:rPr>
              <a:t>Order of Operation</a:t>
            </a:r>
            <a:endParaRPr lang="en-US" b="1" dirty="0">
              <a:solidFill>
                <a:schemeClr val="tx1">
                  <a:lumMod val="95000"/>
                  <a:lumOff val="5000"/>
                </a:schemeClr>
              </a:solidFill>
              <a:latin typeface="Calisto MT" panose="02040603050505030304" pitchFamily="18" charset="0"/>
            </a:endParaRPr>
          </a:p>
        </p:txBody>
      </p:sp>
      <p:sp>
        <p:nvSpPr>
          <p:cNvPr id="3" name="Content Placeholder 2"/>
          <p:cNvSpPr>
            <a:spLocks noGrp="1"/>
          </p:cNvSpPr>
          <p:nvPr>
            <p:ph idx="1"/>
          </p:nvPr>
        </p:nvSpPr>
        <p:spPr>
          <a:xfrm>
            <a:off x="196428" y="837117"/>
            <a:ext cx="8483176" cy="3851925"/>
          </a:xfrm>
        </p:spPr>
        <p:txBody>
          <a:bodyPr>
            <a:normAutofit fontScale="92500" lnSpcReduction="10000"/>
          </a:bodyPr>
          <a:lstStyle/>
          <a:p>
            <a:r>
              <a:rPr lang="en-US" dirty="0" smtClean="0">
                <a:latin typeface="Calisto MT" panose="02040603050505030304" pitchFamily="18" charset="0"/>
              </a:rPr>
              <a:t>The order in which operations are performed determines the result. Consider the expression 3 + 4 * 2. What will be the result? </a:t>
            </a:r>
            <a:r>
              <a:rPr lang="en-US" i="1" dirty="0" smtClean="0">
                <a:latin typeface="Calisto MT" panose="02040603050505030304" pitchFamily="18" charset="0"/>
              </a:rPr>
              <a:t>If the addition is done first, the result is 14, however if the multiplication is done first, the result is 11. </a:t>
            </a:r>
          </a:p>
          <a:p>
            <a:r>
              <a:rPr lang="en-US" dirty="0">
                <a:latin typeface="Calisto MT" panose="02040603050505030304" pitchFamily="18" charset="0"/>
              </a:rPr>
              <a:t>In programming, there is an </a:t>
            </a:r>
            <a:r>
              <a:rPr lang="en-US" b="1" dirty="0">
                <a:latin typeface="Calisto MT" panose="02040603050505030304" pitchFamily="18" charset="0"/>
              </a:rPr>
              <a:t>order</a:t>
            </a:r>
            <a:r>
              <a:rPr lang="en-US" dirty="0">
                <a:latin typeface="Calisto MT" panose="02040603050505030304" pitchFamily="18" charset="0"/>
              </a:rPr>
              <a:t> that is followed when dealing with operations. It is called </a:t>
            </a:r>
            <a:r>
              <a:rPr lang="en-US" b="1" dirty="0">
                <a:latin typeface="Calisto MT" panose="02040603050505030304" pitchFamily="18" charset="0"/>
              </a:rPr>
              <a:t>Operator Precedence </a:t>
            </a:r>
            <a:r>
              <a:rPr lang="en-US" dirty="0">
                <a:latin typeface="Calisto MT" panose="02040603050505030304" pitchFamily="18" charset="0"/>
              </a:rPr>
              <a:t>(Order of Precedence).</a:t>
            </a:r>
          </a:p>
          <a:p>
            <a:r>
              <a:rPr lang="en-US" dirty="0">
                <a:latin typeface="Calisto MT" panose="02040603050505030304" pitchFamily="18" charset="0"/>
              </a:rPr>
              <a:t>Operator Precedence specifies the manner in which operands are grouped with operators. It determines the order which the operators in an expression are evaluated</a:t>
            </a:r>
            <a:r>
              <a:rPr lang="en-US" dirty="0" smtClean="0">
                <a:latin typeface="Calisto MT" panose="02040603050505030304" pitchFamily="18" charset="0"/>
              </a:rPr>
              <a:t>.</a:t>
            </a:r>
          </a:p>
          <a:p>
            <a:r>
              <a:rPr lang="en-US" dirty="0">
                <a:latin typeface="Calisto MT" panose="02040603050505030304" pitchFamily="18" charset="0"/>
              </a:rPr>
              <a:t>The hierarchy of operation or Order of Precedence in arithmetic expression is from the highest to the lowest, which is:</a:t>
            </a:r>
          </a:p>
          <a:p>
            <a:pPr marL="971550" lvl="1" indent="-571500">
              <a:buFont typeface="+mj-lt"/>
              <a:buAutoNum type="romanLcPeriod"/>
            </a:pPr>
            <a:r>
              <a:rPr lang="en-US" b="1" dirty="0">
                <a:latin typeface="Calisto MT" panose="02040603050505030304" pitchFamily="18" charset="0"/>
              </a:rPr>
              <a:t>Exponent</a:t>
            </a:r>
          </a:p>
          <a:p>
            <a:pPr marL="971550" lvl="1" indent="-571500">
              <a:buFont typeface="+mj-lt"/>
              <a:buAutoNum type="romanLcPeriod"/>
            </a:pPr>
            <a:r>
              <a:rPr lang="en-US" b="1" dirty="0">
                <a:latin typeface="Calisto MT" panose="02040603050505030304" pitchFamily="18" charset="0"/>
              </a:rPr>
              <a:t>Multiplication and Division</a:t>
            </a:r>
          </a:p>
          <a:p>
            <a:pPr marL="971550" lvl="1" indent="-571500">
              <a:buFont typeface="+mj-lt"/>
              <a:buAutoNum type="romanLcPeriod"/>
            </a:pPr>
            <a:r>
              <a:rPr lang="en-US" b="1" dirty="0">
                <a:latin typeface="Calisto MT" panose="02040603050505030304" pitchFamily="18" charset="0"/>
              </a:rPr>
              <a:t>Addition and Subtraction </a:t>
            </a:r>
          </a:p>
          <a:p>
            <a:pPr marL="971550" lvl="1" indent="-571500">
              <a:buFont typeface="+mj-lt"/>
              <a:buAutoNum type="romanLcPeriod"/>
            </a:pPr>
            <a:r>
              <a:rPr lang="en-US" b="1" dirty="0">
                <a:latin typeface="Calisto MT" panose="02040603050505030304" pitchFamily="18" charset="0"/>
              </a:rPr>
              <a:t>Parenthesis change the order of evaluation. </a:t>
            </a:r>
          </a:p>
          <a:p>
            <a:endParaRPr lang="en-US" dirty="0">
              <a:latin typeface="Calisto MT" panose="02040603050505030304" pitchFamily="18" charset="0"/>
            </a:endParaRPr>
          </a:p>
          <a:p>
            <a:endParaRPr lang="en-US" dirty="0">
              <a:latin typeface="Calisto MT" panose="02040603050505030304" pitchFamily="18" charset="0"/>
            </a:endParaRPr>
          </a:p>
        </p:txBody>
      </p:sp>
    </p:spTree>
    <p:extLst>
      <p:ext uri="{BB962C8B-B14F-4D97-AF65-F5344CB8AC3E}">
        <p14:creationId xmlns:p14="http://schemas.microsoft.com/office/powerpoint/2010/main" val="32014231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893" y="224719"/>
            <a:ext cx="6980056" cy="543377"/>
          </a:xfrm>
        </p:spPr>
        <p:txBody>
          <a:bodyPr>
            <a:normAutofit fontScale="90000"/>
          </a:bodyPr>
          <a:lstStyle/>
          <a:p>
            <a:r>
              <a:rPr lang="en-US" dirty="0" smtClean="0">
                <a:solidFill>
                  <a:srgbClr val="003635"/>
                </a:solidFill>
                <a:latin typeface="Calisto MT" panose="02040603050505030304" pitchFamily="18" charset="0"/>
              </a:rPr>
              <a:t>Exercise </a:t>
            </a:r>
            <a:r>
              <a:rPr lang="en-US" dirty="0">
                <a:solidFill>
                  <a:srgbClr val="003635"/>
                </a:solidFill>
                <a:latin typeface="Calisto MT" panose="02040603050505030304" pitchFamily="18" charset="0"/>
              </a:rPr>
              <a:t>(Order of Precedence)</a:t>
            </a:r>
            <a:endParaRPr lang="en-US" dirty="0">
              <a:latin typeface="Calisto MT" panose="02040603050505030304" pitchFamily="18" charset="0"/>
            </a:endParaRPr>
          </a:p>
        </p:txBody>
      </p:sp>
      <p:sp>
        <p:nvSpPr>
          <p:cNvPr id="3" name="Content Placeholder 2"/>
          <p:cNvSpPr>
            <a:spLocks noGrp="1"/>
          </p:cNvSpPr>
          <p:nvPr>
            <p:ph idx="1"/>
          </p:nvPr>
        </p:nvSpPr>
        <p:spPr>
          <a:xfrm>
            <a:off x="894081" y="921715"/>
            <a:ext cx="7487514" cy="3899517"/>
          </a:xfrm>
        </p:spPr>
        <p:txBody>
          <a:bodyPr>
            <a:normAutofit fontScale="55000" lnSpcReduction="20000"/>
          </a:bodyPr>
          <a:lstStyle/>
          <a:p>
            <a:r>
              <a:rPr lang="en-US" sz="3300" dirty="0">
                <a:latin typeface="Calisto MT" panose="02040603050505030304" pitchFamily="18" charset="0"/>
              </a:rPr>
              <a:t>What will be the </a:t>
            </a:r>
            <a:r>
              <a:rPr lang="en-US" sz="3300" b="1" dirty="0">
                <a:latin typeface="Calisto MT" panose="02040603050505030304" pitchFamily="18" charset="0"/>
              </a:rPr>
              <a:t>result</a:t>
            </a:r>
            <a:r>
              <a:rPr lang="en-US" sz="3300" dirty="0">
                <a:latin typeface="Calisto MT" panose="02040603050505030304" pitchFamily="18" charset="0"/>
              </a:rPr>
              <a:t> of the following calculation using the Order of Precedence? </a:t>
            </a:r>
            <a:endParaRPr lang="en-US" sz="3300" dirty="0" smtClean="0">
              <a:latin typeface="Calisto MT" panose="02040603050505030304" pitchFamily="18" charset="0"/>
            </a:endParaRPr>
          </a:p>
          <a:p>
            <a:pPr marL="0" indent="0">
              <a:buNone/>
            </a:pPr>
            <a:endParaRPr lang="en-US" sz="3300" dirty="0">
              <a:latin typeface="Calisto MT" panose="02040603050505030304" pitchFamily="18" charset="0"/>
            </a:endParaRPr>
          </a:p>
          <a:p>
            <a:pPr marL="0" indent="0">
              <a:buNone/>
            </a:pPr>
            <a:r>
              <a:rPr lang="en-US" sz="3300" dirty="0" smtClean="0">
                <a:latin typeface="Calisto MT" panose="02040603050505030304" pitchFamily="18" charset="0"/>
              </a:rPr>
              <a:t>Assume </a:t>
            </a:r>
            <a:r>
              <a:rPr lang="en-US" sz="3300" dirty="0">
                <a:latin typeface="Calisto MT" panose="02040603050505030304" pitchFamily="18" charset="0"/>
              </a:rPr>
              <a:t>X = 2, Y = 4, Z = 3</a:t>
            </a:r>
          </a:p>
          <a:p>
            <a:pPr marL="0" indent="0">
              <a:buNone/>
            </a:pPr>
            <a:endParaRPr lang="en-US" sz="3300" dirty="0">
              <a:latin typeface="Calisto MT" panose="02040603050505030304" pitchFamily="18" charset="0"/>
            </a:endParaRPr>
          </a:p>
          <a:p>
            <a:pPr marL="514350" indent="-514350">
              <a:buFont typeface="+mj-lt"/>
              <a:buAutoNum type="alphaLcPeriod"/>
            </a:pPr>
            <a:r>
              <a:rPr lang="en-US" sz="3300" dirty="0">
                <a:latin typeface="Calisto MT" panose="02040603050505030304" pitchFamily="18" charset="0"/>
              </a:rPr>
              <a:t>X + Y ^ 2 = </a:t>
            </a:r>
          </a:p>
          <a:p>
            <a:pPr marL="514350" indent="-514350">
              <a:buFont typeface="+mj-lt"/>
              <a:buAutoNum type="alphaLcPeriod"/>
            </a:pPr>
            <a:r>
              <a:rPr lang="en-US" sz="3300" dirty="0">
                <a:latin typeface="Calisto MT" panose="02040603050505030304" pitchFamily="18" charset="0"/>
              </a:rPr>
              <a:t>8 / Y / Z = </a:t>
            </a:r>
          </a:p>
          <a:p>
            <a:pPr marL="514350" indent="-514350">
              <a:buFont typeface="+mj-lt"/>
              <a:buAutoNum type="alphaLcPeriod"/>
            </a:pPr>
            <a:r>
              <a:rPr lang="en-US" sz="3300" dirty="0">
                <a:latin typeface="Calisto MT" panose="02040603050505030304" pitchFamily="18" charset="0"/>
              </a:rPr>
              <a:t>X * ( X + 1 ) =</a:t>
            </a:r>
          </a:p>
          <a:p>
            <a:pPr marL="514350" indent="-514350">
              <a:buFont typeface="+mj-lt"/>
              <a:buAutoNum type="alphaLcPeriod"/>
            </a:pPr>
            <a:r>
              <a:rPr lang="en-US" sz="3300" dirty="0">
                <a:latin typeface="Calisto MT" panose="02040603050505030304" pitchFamily="18" charset="0"/>
              </a:rPr>
              <a:t>X * X + 1 =</a:t>
            </a:r>
          </a:p>
          <a:p>
            <a:pPr marL="514350" indent="-514350">
              <a:buFont typeface="+mj-lt"/>
              <a:buAutoNum type="alphaLcPeriod"/>
            </a:pPr>
            <a:r>
              <a:rPr lang="en-US" sz="3300" dirty="0">
                <a:latin typeface="Calisto MT" panose="02040603050505030304" pitchFamily="18" charset="0"/>
              </a:rPr>
              <a:t>Y ^ X + Z * 2 =</a:t>
            </a:r>
          </a:p>
          <a:p>
            <a:pPr marL="514350" indent="-514350">
              <a:buFont typeface="+mj-lt"/>
              <a:buAutoNum type="alphaLcPeriod"/>
            </a:pPr>
            <a:r>
              <a:rPr lang="en-US" sz="3300" dirty="0">
                <a:latin typeface="Calisto MT" panose="02040603050505030304" pitchFamily="18" charset="0"/>
              </a:rPr>
              <a:t>Y ^ ( X + Z ) * 2 =</a:t>
            </a:r>
          </a:p>
          <a:p>
            <a:pPr marL="514350" indent="-514350">
              <a:buFont typeface="+mj-lt"/>
              <a:buAutoNum type="alphaLcPeriod"/>
            </a:pPr>
            <a:r>
              <a:rPr lang="en-US" sz="3300" dirty="0">
                <a:latin typeface="Calisto MT" panose="02040603050505030304" pitchFamily="18" charset="0"/>
              </a:rPr>
              <a:t>( Y ^ X ) + Z * 2 =</a:t>
            </a:r>
          </a:p>
          <a:p>
            <a:pPr marL="514350" indent="-514350">
              <a:buFont typeface="+mj-lt"/>
              <a:buAutoNum type="alphaLcPeriod"/>
            </a:pPr>
            <a:r>
              <a:rPr lang="en-US" sz="3300" dirty="0">
                <a:latin typeface="Calisto MT" panose="02040603050505030304" pitchFamily="18" charset="0"/>
              </a:rPr>
              <a:t>((Y ^ X ) + Z ) * 2 =</a:t>
            </a:r>
          </a:p>
          <a:p>
            <a:endParaRPr lang="en-US" dirty="0">
              <a:latin typeface="Calisto MT" panose="02040603050505030304" pitchFamily="18" charset="0"/>
            </a:endParaRPr>
          </a:p>
        </p:txBody>
      </p:sp>
    </p:spTree>
    <p:extLst>
      <p:ext uri="{BB962C8B-B14F-4D97-AF65-F5344CB8AC3E}">
        <p14:creationId xmlns:p14="http://schemas.microsoft.com/office/powerpoint/2010/main" val="3340132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4800" y="247153"/>
            <a:ext cx="1923897" cy="763526"/>
          </a:xfrm>
          <a:solidFill>
            <a:schemeClr val="bg1"/>
          </a:solidFill>
        </p:spPr>
        <p:txBody>
          <a:bodyPr>
            <a:normAutofit fontScale="90000"/>
          </a:bodyPr>
          <a:lstStyle/>
          <a:p>
            <a:r>
              <a:rPr lang="en-US" b="1" dirty="0" smtClean="0">
                <a:solidFill>
                  <a:schemeClr val="tx1"/>
                </a:solidFill>
                <a:latin typeface="Calisto MT" panose="02040603050505030304" pitchFamily="18" charset="0"/>
              </a:rPr>
              <a:t>Summary</a:t>
            </a:r>
            <a:endParaRPr lang="en-US" b="1" dirty="0">
              <a:solidFill>
                <a:schemeClr val="tx1"/>
              </a:solidFill>
              <a:latin typeface="Calisto MT" panose="02040603050505030304" pitchFamily="18" charset="0"/>
            </a:endParaRPr>
          </a:p>
        </p:txBody>
      </p:sp>
      <p:sp>
        <p:nvSpPr>
          <p:cNvPr id="6" name="Content Placeholder 5"/>
          <p:cNvSpPr>
            <a:spLocks noGrp="1"/>
          </p:cNvSpPr>
          <p:nvPr>
            <p:ph idx="1"/>
          </p:nvPr>
        </p:nvSpPr>
        <p:spPr>
          <a:xfrm>
            <a:off x="463714" y="1301547"/>
            <a:ext cx="8246070" cy="805860"/>
          </a:xfrm>
        </p:spPr>
        <p:txBody>
          <a:bodyPr>
            <a:normAutofit/>
          </a:bodyPr>
          <a:lstStyle/>
          <a:p>
            <a:r>
              <a:rPr lang="en-US" dirty="0">
                <a:solidFill>
                  <a:srgbClr val="002060"/>
                </a:solidFill>
                <a:latin typeface="Calisto MT" panose="02040603050505030304" pitchFamily="18" charset="0"/>
              </a:rPr>
              <a:t>Read Chapter Summary Notes on Page </a:t>
            </a:r>
            <a:r>
              <a:rPr lang="en-US" dirty="0" smtClean="0">
                <a:solidFill>
                  <a:srgbClr val="002060"/>
                </a:solidFill>
                <a:latin typeface="Calisto MT" panose="02040603050505030304" pitchFamily="18" charset="0"/>
              </a:rPr>
              <a:t>148 </a:t>
            </a:r>
            <a:r>
              <a:rPr lang="en-US" dirty="0">
                <a:solidFill>
                  <a:srgbClr val="002060"/>
                </a:solidFill>
                <a:latin typeface="Calisto MT" panose="02040603050505030304" pitchFamily="18" charset="0"/>
              </a:rPr>
              <a:t>of Introduction to Programming Book </a:t>
            </a:r>
            <a:r>
              <a:rPr lang="en-US" dirty="0" smtClean="0">
                <a:solidFill>
                  <a:srgbClr val="002060"/>
                </a:solidFill>
                <a:latin typeface="Calisto MT" panose="02040603050505030304" pitchFamily="18" charset="0"/>
              </a:rPr>
              <a:t>2.</a:t>
            </a:r>
            <a:endParaRPr lang="en-US" dirty="0">
              <a:solidFill>
                <a:srgbClr val="002060"/>
              </a:solidFill>
              <a:latin typeface="Calisto MT" panose="02040603050505030304" pitchFamily="18" charset="0"/>
            </a:endParaRPr>
          </a:p>
          <a:p>
            <a:endParaRPr lang="en-US" dirty="0">
              <a:latin typeface="Calisto MT" panose="02040603050505030304" pitchFamily="18" charset="0"/>
            </a:endParaRPr>
          </a:p>
        </p:txBody>
      </p:sp>
      <p:sp>
        <p:nvSpPr>
          <p:cNvPr id="4" name="Title 1"/>
          <p:cNvSpPr txBox="1">
            <a:spLocks/>
          </p:cNvSpPr>
          <p:nvPr/>
        </p:nvSpPr>
        <p:spPr>
          <a:xfrm>
            <a:off x="2477848" y="2309405"/>
            <a:ext cx="4217801" cy="763526"/>
          </a:xfrm>
          <a:prstGeom prst="rect">
            <a:avLst/>
          </a:prstGeom>
        </p:spPr>
        <p:txBody>
          <a:bodyPr vert="horz" lIns="68580" tIns="34290" rIns="68580" bIns="34290" rtlCol="0" anchor="ctr">
            <a:normAutofit/>
          </a:bodyPr>
          <a:lstStyle>
            <a:lvl1pPr algn="r" defTabSz="1219170" rtl="0" eaLnBrk="1" latinLnBrk="0" hangingPunct="1">
              <a:spcBef>
                <a:spcPct val="0"/>
              </a:spcBef>
              <a:buNone/>
              <a:defRPr sz="4800" kern="1200" baseline="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a:r>
              <a:rPr lang="en-US" sz="3600" b="1" dirty="0">
                <a:solidFill>
                  <a:schemeClr val="tx1"/>
                </a:solidFill>
                <a:latin typeface="Calisto MT" panose="02040603050505030304" pitchFamily="18" charset="0"/>
              </a:rPr>
              <a:t>Review Exercises</a:t>
            </a:r>
            <a:endParaRPr lang="en-US" sz="3600" dirty="0">
              <a:solidFill>
                <a:schemeClr val="tx1"/>
              </a:solidFill>
              <a:latin typeface="Calisto MT" panose="02040603050505030304" pitchFamily="18" charset="0"/>
            </a:endParaRPr>
          </a:p>
        </p:txBody>
      </p:sp>
      <p:sp>
        <p:nvSpPr>
          <p:cNvPr id="5" name="Content Placeholder 5"/>
          <p:cNvSpPr txBox="1">
            <a:spLocks/>
          </p:cNvSpPr>
          <p:nvPr/>
        </p:nvSpPr>
        <p:spPr>
          <a:xfrm>
            <a:off x="463714" y="3072932"/>
            <a:ext cx="8246070" cy="1563363"/>
          </a:xfrm>
          <a:prstGeom prst="rect">
            <a:avLst/>
          </a:prstGeom>
        </p:spPr>
        <p:txBody>
          <a:bodyPr vert="horz" lIns="68580" tIns="34290" rIns="68580" bIns="34290" rtlCol="0">
            <a:normAutofit fontScale="92500" lnSpcReduction="20000"/>
          </a:bodyPr>
          <a:lstStyle>
            <a:lvl1pPr marL="457189" indent="-457189"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rgbClr val="0000CC"/>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sz="2800" dirty="0">
                <a:solidFill>
                  <a:srgbClr val="002060"/>
                </a:solidFill>
                <a:latin typeface="Calisto MT" panose="02040603050505030304" pitchFamily="18" charset="0"/>
              </a:rPr>
              <a:t>Complete all 9</a:t>
            </a:r>
            <a:r>
              <a:rPr lang="en-US" sz="2800" dirty="0" smtClean="0">
                <a:solidFill>
                  <a:srgbClr val="002060"/>
                </a:solidFill>
                <a:latin typeface="Calisto MT" panose="02040603050505030304" pitchFamily="18" charset="0"/>
              </a:rPr>
              <a:t> </a:t>
            </a:r>
            <a:r>
              <a:rPr lang="en-US" sz="2800" dirty="0">
                <a:solidFill>
                  <a:srgbClr val="002060"/>
                </a:solidFill>
                <a:latin typeface="Calisto MT" panose="02040603050505030304" pitchFamily="18" charset="0"/>
              </a:rPr>
              <a:t>review questions on Page </a:t>
            </a:r>
            <a:r>
              <a:rPr lang="en-US" sz="2800" dirty="0" smtClean="0">
                <a:solidFill>
                  <a:srgbClr val="002060"/>
                </a:solidFill>
                <a:latin typeface="Calisto MT" panose="02040603050505030304" pitchFamily="18" charset="0"/>
              </a:rPr>
              <a:t>149 </a:t>
            </a:r>
            <a:r>
              <a:rPr lang="en-US" sz="2800" dirty="0">
                <a:solidFill>
                  <a:srgbClr val="002060"/>
                </a:solidFill>
                <a:latin typeface="Calisto MT" panose="02040603050505030304" pitchFamily="18" charset="0"/>
              </a:rPr>
              <a:t>of Introduction to Programming Book </a:t>
            </a:r>
            <a:r>
              <a:rPr lang="en-US" sz="2800" dirty="0" smtClean="0">
                <a:solidFill>
                  <a:srgbClr val="002060"/>
                </a:solidFill>
                <a:latin typeface="Calisto MT" panose="02040603050505030304" pitchFamily="18" charset="0"/>
              </a:rPr>
              <a:t>2.</a:t>
            </a:r>
            <a:endParaRPr lang="en-US" sz="2800" dirty="0">
              <a:solidFill>
                <a:srgbClr val="002060"/>
              </a:solidFill>
              <a:latin typeface="Calisto MT" panose="02040603050505030304" pitchFamily="18" charset="0"/>
            </a:endParaRPr>
          </a:p>
          <a:p>
            <a:r>
              <a:rPr lang="en-US" sz="2800" dirty="0">
                <a:solidFill>
                  <a:srgbClr val="002060"/>
                </a:solidFill>
                <a:latin typeface="Calisto MT" panose="02040603050505030304" pitchFamily="18" charset="0"/>
              </a:rPr>
              <a:t>Try to at least do </a:t>
            </a:r>
            <a:r>
              <a:rPr lang="en-US" sz="2800" b="1" dirty="0">
                <a:solidFill>
                  <a:srgbClr val="002060"/>
                </a:solidFill>
                <a:latin typeface="Calisto MT" panose="02040603050505030304" pitchFamily="18" charset="0"/>
              </a:rPr>
              <a:t>Hands-On Programming Examples and Exercises </a:t>
            </a:r>
          </a:p>
          <a:p>
            <a:endParaRPr lang="en-US" sz="2800" dirty="0">
              <a:latin typeface="Calisto MT" panose="02040603050505030304" pitchFamily="18" charset="0"/>
            </a:endParaRPr>
          </a:p>
        </p:txBody>
      </p:sp>
    </p:spTree>
    <p:extLst>
      <p:ext uri="{BB962C8B-B14F-4D97-AF65-F5344CB8AC3E}">
        <p14:creationId xmlns:p14="http://schemas.microsoft.com/office/powerpoint/2010/main" val="1737649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1849</Words>
  <Application>Microsoft Office PowerPoint</Application>
  <PresentationFormat>On-screen Show (16:9)</PresentationFormat>
  <Paragraphs>236</Paragraphs>
  <Slides>19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Calibri Light</vt:lpstr>
      <vt:lpstr>Calisto MT</vt:lpstr>
      <vt:lpstr>Cambria Math</vt:lpstr>
      <vt:lpstr>Courier New</vt:lpstr>
      <vt:lpstr>Times New Roman</vt:lpstr>
      <vt:lpstr>Wingdings</vt:lpstr>
      <vt:lpstr>Office Theme</vt:lpstr>
      <vt:lpstr>Chapter Five : </vt:lpstr>
      <vt:lpstr>Learning Objectives</vt:lpstr>
      <vt:lpstr>5.1 Variable and Constant</vt:lpstr>
      <vt:lpstr>What is a Variable in Programming?</vt:lpstr>
      <vt:lpstr>Parts of a Variable</vt:lpstr>
      <vt:lpstr>What is a Constant in Programming?</vt:lpstr>
      <vt:lpstr>PowerPoint Presentation</vt:lpstr>
      <vt:lpstr>PowerPoint Presentation</vt:lpstr>
      <vt:lpstr>PowerPoint Presentation</vt:lpstr>
      <vt:lpstr>PowerPoint Presentation</vt:lpstr>
      <vt:lpstr>Commonly Used Data Types</vt:lpstr>
      <vt:lpstr>5.3 Naming Conventions in Programming</vt:lpstr>
      <vt:lpstr>PowerPoint Presentation</vt:lpstr>
      <vt:lpstr>PowerPoint Presentation</vt:lpstr>
      <vt:lpstr>5.4 Scope of Variables</vt:lpstr>
      <vt:lpstr>Calculations: Arithmetic Operation</vt:lpstr>
      <vt:lpstr>Order of Operation</vt:lpstr>
      <vt:lpstr>Exercise (Order of Precedence)</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2026-02-03T22:46:00Z</dcterms:modified>
</cp:coreProperties>
</file>