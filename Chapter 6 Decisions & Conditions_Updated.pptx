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74" r:id="rId1"/>
  </p:sldMasterIdLst>
  <p:notesMasterIdLst>
    <p:notesMasterId r:id="rId15"/>
  </p:notesMasterIdLst>
  <p:handoutMasterIdLst>
    <p:handoutMasterId r:id="rId16"/>
  </p:handoutMasterIdLst>
  <p:sldIdLst>
    <p:sldId id="280" r:id="rId2"/>
    <p:sldId id="273" r:id="rId3"/>
    <p:sldId id="257" r:id="rId4"/>
    <p:sldId id="258" r:id="rId5"/>
    <p:sldId id="259" r:id="rId6"/>
    <p:sldId id="276" r:id="rId7"/>
    <p:sldId id="260" r:id="rId8"/>
    <p:sldId id="261" r:id="rId9"/>
    <p:sldId id="277" r:id="rId10"/>
    <p:sldId id="262" r:id="rId11"/>
    <p:sldId id="270" r:id="rId12"/>
    <p:sldId id="279" r:id="rId13"/>
    <p:sldId id="274" r:id="rId14"/>
  </p:sldIdLst>
  <p:sldSz cx="9144000" cy="5143500" type="screen16x9"/>
  <p:notesSz cx="7102475" cy="93884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3635"/>
    <a:srgbClr val="DBF200"/>
    <a:srgbClr val="6E7A00"/>
    <a:srgbClr val="9EFF29"/>
    <a:srgbClr val="FF2549"/>
    <a:srgbClr val="007033"/>
    <a:srgbClr val="C33A1F"/>
    <a:srgbClr val="D6370C"/>
    <a:srgbClr val="1D3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1" d="100"/>
          <a:sy n="141" d="100"/>
        </p:scale>
        <p:origin x="666" y="-462"/>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r>
              <a:rPr lang="en-US" smtClean="0"/>
              <a:t>Introduction to Programming - 1008</a:t>
            </a:r>
            <a:endParaRPr lang="en-US"/>
          </a:p>
        </p:txBody>
      </p:sp>
      <p:sp>
        <p:nvSpPr>
          <p:cNvPr id="3" name="Date Placeholder 2"/>
          <p:cNvSpPr>
            <a:spLocks noGrp="1"/>
          </p:cNvSpPr>
          <p:nvPr>
            <p:ph type="dt" sz="quarter" idx="1"/>
          </p:nvPr>
        </p:nvSpPr>
        <p:spPr>
          <a:xfrm>
            <a:off x="4023092" y="0"/>
            <a:ext cx="3077739" cy="471054"/>
          </a:xfrm>
          <a:prstGeom prst="rect">
            <a:avLst/>
          </a:prstGeom>
        </p:spPr>
        <p:txBody>
          <a:bodyPr vert="horz" lIns="94229" tIns="47114" rIns="94229" bIns="47114" rtlCol="0"/>
          <a:lstStyle>
            <a:lvl1pPr algn="r">
              <a:defRPr sz="1200"/>
            </a:lvl1pPr>
          </a:lstStyle>
          <a:p>
            <a:fld id="{A8F0463A-56F2-4F15-AB4C-5D1646BD232B}" type="datetime1">
              <a:rPr lang="en-US" smtClean="0"/>
              <a:t>2/4/2026</a:t>
            </a:fld>
            <a:endParaRPr lang="en-US"/>
          </a:p>
        </p:txBody>
      </p:sp>
      <p:sp>
        <p:nvSpPr>
          <p:cNvPr id="4" name="Footer Placeholder 3"/>
          <p:cNvSpPr>
            <a:spLocks noGrp="1"/>
          </p:cNvSpPr>
          <p:nvPr>
            <p:ph type="ftr" sz="quarter" idx="2"/>
          </p:nvPr>
        </p:nvSpPr>
        <p:spPr>
          <a:xfrm>
            <a:off x="0" y="8917422"/>
            <a:ext cx="3077739" cy="471053"/>
          </a:xfrm>
          <a:prstGeom prst="rect">
            <a:avLst/>
          </a:prstGeom>
        </p:spPr>
        <p:txBody>
          <a:bodyPr vert="horz" lIns="94229" tIns="47114" rIns="94229" bIns="47114" rtlCol="0" anchor="b"/>
          <a:lstStyle>
            <a:lvl1pPr algn="l">
              <a:defRPr sz="1200"/>
            </a:lvl1pPr>
          </a:lstStyle>
          <a:p>
            <a:r>
              <a:rPr lang="en-US" smtClean="0"/>
              <a:t>ITI | July Semester 2024 | CIC D1</a:t>
            </a:r>
            <a:endParaRPr lang="en-US"/>
          </a:p>
        </p:txBody>
      </p:sp>
      <p:sp>
        <p:nvSpPr>
          <p:cNvPr id="5" name="Slide Number Placeholder 4"/>
          <p:cNvSpPr>
            <a:spLocks noGrp="1"/>
          </p:cNvSpPr>
          <p:nvPr>
            <p:ph type="sldNum" sz="quarter" idx="3"/>
          </p:nvPr>
        </p:nvSpPr>
        <p:spPr>
          <a:xfrm>
            <a:off x="4023092" y="8917422"/>
            <a:ext cx="3077739" cy="471053"/>
          </a:xfrm>
          <a:prstGeom prst="rect">
            <a:avLst/>
          </a:prstGeom>
        </p:spPr>
        <p:txBody>
          <a:bodyPr vert="horz" lIns="94229" tIns="47114" rIns="94229" bIns="47114" rtlCol="0" anchor="b"/>
          <a:lstStyle>
            <a:lvl1pPr algn="r">
              <a:defRPr sz="1200"/>
            </a:lvl1pPr>
          </a:lstStyle>
          <a:p>
            <a:fld id="{4516E0C9-74F3-47E9-B9B9-72CC4119C1D1}" type="slidenum">
              <a:rPr lang="en-US" smtClean="0"/>
              <a:t>‹#›</a:t>
            </a:fld>
            <a:endParaRPr lang="en-US"/>
          </a:p>
        </p:txBody>
      </p:sp>
    </p:spTree>
    <p:extLst>
      <p:ext uri="{BB962C8B-B14F-4D97-AF65-F5344CB8AC3E}">
        <p14:creationId xmlns:p14="http://schemas.microsoft.com/office/powerpoint/2010/main" val="1069930568"/>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4229" tIns="47114" rIns="94229" bIns="47114" rtlCol="0"/>
          <a:lstStyle>
            <a:lvl1pPr algn="l">
              <a:defRPr sz="1200"/>
            </a:lvl1pPr>
          </a:lstStyle>
          <a:p>
            <a:r>
              <a:rPr lang="en-US" smtClean="0"/>
              <a:t>Introduction to Programming - 1008</a:t>
            </a:r>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4229" bIns="47114" rtlCol="0"/>
          <a:lstStyle>
            <a:lvl1pPr algn="r">
              <a:defRPr sz="1200"/>
            </a:lvl1pPr>
          </a:lstStyle>
          <a:p>
            <a:fld id="{6177834C-FDDA-47A2-BDF1-826CF0A37B5F}" type="datetime1">
              <a:rPr lang="en-US" smtClean="0"/>
              <a:t>2/4/2026</a:t>
            </a:fld>
            <a:endParaRPr lang="en-US"/>
          </a:p>
        </p:txBody>
      </p:sp>
      <p:sp>
        <p:nvSpPr>
          <p:cNvPr id="4" name="Slide Image Placeholder 3"/>
          <p:cNvSpPr>
            <a:spLocks noGrp="1" noRot="1" noChangeAspect="1"/>
          </p:cNvSpPr>
          <p:nvPr>
            <p:ph type="sldImg" idx="2"/>
          </p:nvPr>
        </p:nvSpPr>
        <p:spPr>
          <a:xfrm>
            <a:off x="735013" y="1173163"/>
            <a:ext cx="5632450" cy="3168650"/>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518204"/>
            <a:ext cx="5681980" cy="3696712"/>
          </a:xfrm>
          <a:prstGeom prst="rect">
            <a:avLst/>
          </a:prstGeom>
        </p:spPr>
        <p:txBody>
          <a:bodyPr vert="horz" lIns="94229" tIns="47114" rIns="94229" bIns="47114"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71053"/>
          </a:xfrm>
          <a:prstGeom prst="rect">
            <a:avLst/>
          </a:prstGeom>
        </p:spPr>
        <p:txBody>
          <a:bodyPr vert="horz" lIns="94229" tIns="47114" rIns="94229" bIns="47114" rtlCol="0" anchor="b"/>
          <a:lstStyle>
            <a:lvl1pPr algn="l">
              <a:defRPr sz="1200"/>
            </a:lvl1pPr>
          </a:lstStyle>
          <a:p>
            <a:r>
              <a:rPr lang="en-US" smtClean="0"/>
              <a:t>ITI | July Semester 2024 | CIC D1</a:t>
            </a:r>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4229" bIns="47114"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hf/>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AF533E96-F078-4B3D-A8F4-F1AF21EBC357}" type="slidenum">
              <a:rPr lang="en-US" smtClean="0"/>
              <a:t>13</a:t>
            </a:fld>
            <a:endParaRPr lang="en-US"/>
          </a:p>
        </p:txBody>
      </p:sp>
      <p:sp>
        <p:nvSpPr>
          <p:cNvPr id="5" name="Footer Placeholder 4"/>
          <p:cNvSpPr>
            <a:spLocks noGrp="1"/>
          </p:cNvSpPr>
          <p:nvPr>
            <p:ph type="ftr" sz="quarter" idx="11"/>
          </p:nvPr>
        </p:nvSpPr>
        <p:spPr/>
        <p:txBody>
          <a:bodyPr/>
          <a:lstStyle/>
          <a:p>
            <a:r>
              <a:rPr lang="en-US" smtClean="0"/>
              <a:t>ITI | July Semester 2024 | CIC D1</a:t>
            </a:r>
            <a:endParaRPr lang="en-US"/>
          </a:p>
        </p:txBody>
      </p:sp>
      <p:sp>
        <p:nvSpPr>
          <p:cNvPr id="6" name="Header Placeholder 5"/>
          <p:cNvSpPr>
            <a:spLocks noGrp="1"/>
          </p:cNvSpPr>
          <p:nvPr>
            <p:ph type="hdr" sz="quarter" idx="12"/>
          </p:nvPr>
        </p:nvSpPr>
        <p:spPr/>
        <p:txBody>
          <a:bodyPr/>
          <a:lstStyle/>
          <a:p>
            <a:r>
              <a:rPr lang="it-IT" smtClean="0"/>
              <a:t>Introduction to Programming - 1008</a:t>
            </a:r>
            <a:endParaRPr lang="en-US"/>
          </a:p>
        </p:txBody>
      </p:sp>
      <p:sp>
        <p:nvSpPr>
          <p:cNvPr id="7" name="Date Placeholder 6"/>
          <p:cNvSpPr>
            <a:spLocks noGrp="1"/>
          </p:cNvSpPr>
          <p:nvPr>
            <p:ph type="dt" idx="13"/>
          </p:nvPr>
        </p:nvSpPr>
        <p:spPr/>
        <p:txBody>
          <a:bodyPr/>
          <a:lstStyle/>
          <a:p>
            <a:fld id="{E5A4A178-37CF-4B3B-8073-616CBCD6FBE8}" type="datetime1">
              <a:rPr lang="en-US" smtClean="0"/>
              <a:t>2/4/2026</a:t>
            </a:fld>
            <a:endParaRPr lang="en-US"/>
          </a:p>
        </p:txBody>
      </p:sp>
    </p:spTree>
    <p:extLst>
      <p:ext uri="{BB962C8B-B14F-4D97-AF65-F5344CB8AC3E}">
        <p14:creationId xmlns:p14="http://schemas.microsoft.com/office/powerpoint/2010/main" val="1557349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81827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042132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936352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3074F12-AA26-4AC8-9962-C36BB8F32554}"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9882542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3074F12-AA26-4AC8-9962-C36BB8F32554}" type="datetimeFigureOut">
              <a:rPr lang="en-US" smtClean="0"/>
              <a:pPr/>
              <a:t>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684103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3074F12-AA26-4AC8-9962-C36BB8F32554}" type="datetimeFigureOut">
              <a:rPr lang="en-US" smtClean="0"/>
              <a:pPr/>
              <a:t>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771023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857287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2078329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401531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34359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3074F12-AA26-4AC8-9962-C36BB8F32554}" type="datetimeFigureOut">
              <a:rPr lang="en-US" smtClean="0"/>
              <a:pPr/>
              <a:t>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4462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3074F12-AA26-4AC8-9962-C36BB8F32554}" type="datetimeFigureOut">
              <a:rPr lang="en-US" smtClean="0"/>
              <a:pPr/>
              <a:t>2/4/2026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229949475"/>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03804" y="1111592"/>
            <a:ext cx="4408654" cy="685534"/>
          </a:xfrm>
        </p:spPr>
        <p:txBody>
          <a:bodyPr>
            <a:normAutofit fontScale="90000"/>
          </a:bodyPr>
          <a:lstStyle/>
          <a:p>
            <a:pPr algn="ctr"/>
            <a:r>
              <a:rPr lang="en-US" b="1" dirty="0" smtClean="0">
                <a:latin typeface="Cambria Math" panose="02040503050406030204" pitchFamily="18" charset="0"/>
                <a:ea typeface="Cambria Math" panose="02040503050406030204" pitchFamily="18" charset="0"/>
              </a:rPr>
              <a:t>Chapter Six : </a:t>
            </a:r>
            <a:endParaRPr lang="en-US" b="1" dirty="0">
              <a:latin typeface="Cambria Math" panose="02040503050406030204" pitchFamily="18" charset="0"/>
              <a:ea typeface="Cambria Math" panose="02040503050406030204" pitchFamily="18" charset="0"/>
            </a:endParaRPr>
          </a:p>
        </p:txBody>
      </p:sp>
      <p:sp>
        <p:nvSpPr>
          <p:cNvPr id="3" name="Subtitle 2"/>
          <p:cNvSpPr>
            <a:spLocks noGrp="1"/>
          </p:cNvSpPr>
          <p:nvPr>
            <p:ph type="subTitle" idx="1"/>
          </p:nvPr>
        </p:nvSpPr>
        <p:spPr>
          <a:xfrm>
            <a:off x="4870025" y="1775820"/>
            <a:ext cx="4209647" cy="940714"/>
          </a:xfrm>
          <a:solidFill>
            <a:schemeClr val="bg1"/>
          </a:solidFill>
        </p:spPr>
        <p:txBody>
          <a:bodyPr>
            <a:normAutofit/>
          </a:bodyPr>
          <a:lstStyle/>
          <a:p>
            <a:pPr algn="l"/>
            <a:r>
              <a:rPr lang="en-US" sz="2800" b="1" dirty="0" smtClean="0">
                <a:latin typeface="Cambria Math" panose="02040503050406030204" pitchFamily="18" charset="0"/>
                <a:ea typeface="Cambria Math" panose="02040503050406030204" pitchFamily="18" charset="0"/>
              </a:rPr>
              <a:t>Decisions and Conditions</a:t>
            </a:r>
            <a:endParaRPr lang="en-US" sz="2800" b="1" dirty="0">
              <a:latin typeface="Cambria Math" panose="02040503050406030204" pitchFamily="18" charset="0"/>
              <a:ea typeface="Cambria Math" panose="02040503050406030204" pitchFamily="18" charset="0"/>
            </a:endParaRPr>
          </a:p>
        </p:txBody>
      </p:sp>
      <p:sp>
        <p:nvSpPr>
          <p:cNvPr id="4" name="TextBox 3"/>
          <p:cNvSpPr txBox="1"/>
          <p:nvPr/>
        </p:nvSpPr>
        <p:spPr>
          <a:xfrm>
            <a:off x="0" y="4558725"/>
            <a:ext cx="7696180" cy="461665"/>
          </a:xfrm>
          <a:prstGeom prst="rect">
            <a:avLst/>
          </a:prstGeom>
          <a:solidFill>
            <a:schemeClr val="bg1"/>
          </a:solidFill>
        </p:spPr>
        <p:txBody>
          <a:bodyPr wrap="square" rtlCol="0">
            <a:spAutoFit/>
          </a:bodyPr>
          <a:lstStyle/>
          <a:p>
            <a:r>
              <a:rPr lang="en-US" sz="2400" b="1" dirty="0" smtClean="0">
                <a:latin typeface="Cambria Math" panose="02040503050406030204" pitchFamily="18" charset="0"/>
                <a:ea typeface="Cambria Math" panose="02040503050406030204" pitchFamily="18" charset="0"/>
              </a:rPr>
              <a:t>1008_Introduction to Programming</a:t>
            </a:r>
            <a:endParaRPr lang="en-US" sz="2400" b="1" dirty="0">
              <a:latin typeface="Cambria Math" panose="02040503050406030204" pitchFamily="18" charset="0"/>
              <a:ea typeface="Cambria Math" panose="02040503050406030204" pitchFamily="18" charset="0"/>
            </a:endParaRPr>
          </a:p>
        </p:txBody>
      </p:sp>
      <p:pic>
        <p:nvPicPr>
          <p:cNvPr id="6" name="Picture 2" descr="Transform Text into Professional Diagrams with AI | Visual Communication  Solu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33" y="54187"/>
            <a:ext cx="4802292" cy="4422986"/>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5634409" y="4845397"/>
            <a:ext cx="3394444" cy="256545"/>
          </a:xfrm>
          <a:prstGeom prst="rect">
            <a:avLst/>
          </a:prstGeom>
          <a:solidFill>
            <a:schemeClr val="bg1"/>
          </a:solidFill>
        </p:spPr>
        <p:txBody>
          <a:bodyPr wrap="square" rtlCol="0">
            <a:spAutoFit/>
          </a:bodyPr>
          <a:lstStyle/>
          <a:p>
            <a:pPr algn="ctr"/>
            <a:r>
              <a:rPr lang="en-US" sz="1067" b="1" dirty="0">
                <a:latin typeface="Times New Roman" panose="02020603050405020304" pitchFamily="18" charset="0"/>
                <a:cs typeface="Times New Roman" panose="02020603050405020304" pitchFamily="18" charset="0"/>
              </a:rPr>
              <a:t>Compiled </a:t>
            </a:r>
            <a:r>
              <a:rPr lang="en-US" sz="1067" b="1" dirty="0" smtClean="0">
                <a:latin typeface="Times New Roman" panose="02020603050405020304" pitchFamily="18" charset="0"/>
                <a:cs typeface="Times New Roman" panose="02020603050405020304" pitchFamily="18" charset="0"/>
              </a:rPr>
              <a:t>by Ms. Dianne Sikinapi &amp;  </a:t>
            </a:r>
            <a:r>
              <a:rPr lang="en-US" sz="1067" b="1" dirty="0">
                <a:latin typeface="Times New Roman" panose="02020603050405020304" pitchFamily="18" charset="0"/>
                <a:cs typeface="Times New Roman" panose="02020603050405020304" pitchFamily="18" charset="0"/>
              </a:rPr>
              <a:t>Ms. </a:t>
            </a:r>
            <a:r>
              <a:rPr lang="en-US" sz="1067" b="1" dirty="0" smtClean="0">
                <a:latin typeface="Times New Roman" panose="02020603050405020304" pitchFamily="18" charset="0"/>
                <a:cs typeface="Times New Roman" panose="02020603050405020304" pitchFamily="18" charset="0"/>
              </a:rPr>
              <a:t>Odilia </a:t>
            </a:r>
            <a:r>
              <a:rPr lang="en-US" sz="1067" b="1" dirty="0" smtClean="0">
                <a:latin typeface="Times New Roman" panose="02020603050405020304" pitchFamily="18" charset="0"/>
                <a:cs typeface="Times New Roman" panose="02020603050405020304" pitchFamily="18" charset="0"/>
              </a:rPr>
              <a:t>Tita</a:t>
            </a:r>
            <a:endParaRPr lang="en-US" sz="1067"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0019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06215" y="191442"/>
            <a:ext cx="3976441" cy="763526"/>
          </a:xfrm>
        </p:spPr>
        <p:txBody>
          <a:bodyPr>
            <a:normAutofit/>
          </a:bodyPr>
          <a:lstStyle/>
          <a:p>
            <a:pPr algn="ctr"/>
            <a:r>
              <a:rPr lang="en-US" b="1" dirty="0">
                <a:solidFill>
                  <a:schemeClr val="tx1"/>
                </a:solidFill>
                <a:latin typeface="Cambria Math" panose="02040503050406030204" pitchFamily="18" charset="0"/>
                <a:ea typeface="Cambria Math" panose="02040503050406030204" pitchFamily="18" charset="0"/>
              </a:rPr>
              <a:t>Learning </a:t>
            </a:r>
            <a:r>
              <a:rPr lang="en-US" b="1" dirty="0" smtClean="0">
                <a:solidFill>
                  <a:schemeClr val="tx1"/>
                </a:solidFill>
                <a:latin typeface="Cambria Math" panose="02040503050406030204" pitchFamily="18" charset="0"/>
                <a:ea typeface="Cambria Math" panose="02040503050406030204" pitchFamily="18" charset="0"/>
              </a:rPr>
              <a:t>Objectives</a:t>
            </a:r>
            <a:endParaRPr lang="en-US" dirty="0">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p:txBody>
          <a:bodyPr>
            <a:normAutofit/>
          </a:bodyPr>
          <a:lstStyle/>
          <a:p>
            <a:pPr marL="0" indent="0">
              <a:buNone/>
            </a:pPr>
            <a:r>
              <a:rPr lang="en-US" dirty="0" smtClean="0">
                <a:latin typeface="Cambria Math" panose="02040503050406030204" pitchFamily="18" charset="0"/>
                <a:ea typeface="Cambria Math" panose="02040503050406030204" pitchFamily="18" charset="0"/>
              </a:rPr>
              <a:t>By </a:t>
            </a:r>
            <a:r>
              <a:rPr lang="en-US" dirty="0">
                <a:latin typeface="Cambria Math" panose="02040503050406030204" pitchFamily="18" charset="0"/>
                <a:ea typeface="Cambria Math" panose="02040503050406030204" pitchFamily="18" charset="0"/>
              </a:rPr>
              <a:t>the end of this Unit, students should be able to:</a:t>
            </a:r>
          </a:p>
          <a:p>
            <a:pPr lvl="1">
              <a:buFont typeface="Wingdings" panose="05000000000000000000" pitchFamily="2" charset="2"/>
              <a:buChar char="ü"/>
            </a:pPr>
            <a:r>
              <a:rPr lang="en-US" dirty="0" smtClean="0">
                <a:latin typeface="Cambria Math" panose="02040503050406030204" pitchFamily="18" charset="0"/>
                <a:ea typeface="Cambria Math" panose="02040503050406030204" pitchFamily="18" charset="0"/>
              </a:rPr>
              <a:t>Use blocks ‘If’s’ to control the flow of logic.</a:t>
            </a:r>
          </a:p>
          <a:p>
            <a:pPr lvl="1">
              <a:buFont typeface="Wingdings" panose="05000000000000000000" pitchFamily="2" charset="2"/>
              <a:buChar char="ü"/>
            </a:pPr>
            <a:r>
              <a:rPr lang="en-US" dirty="0" smtClean="0">
                <a:latin typeface="Cambria Math" panose="02040503050406030204" pitchFamily="18" charset="0"/>
                <a:ea typeface="Cambria Math" panose="02040503050406030204" pitchFamily="18" charset="0"/>
              </a:rPr>
              <a:t>Understand and use the nested ‘If’s’.</a:t>
            </a:r>
          </a:p>
          <a:p>
            <a:pPr lvl="1">
              <a:buFont typeface="Wingdings" panose="05000000000000000000" pitchFamily="2" charset="2"/>
              <a:buChar char="ü"/>
            </a:pPr>
            <a:r>
              <a:rPr lang="en-US" dirty="0" smtClean="0">
                <a:latin typeface="Cambria Math" panose="02040503050406030204" pitchFamily="18" charset="0"/>
                <a:ea typeface="Cambria Math" panose="02040503050406030204" pitchFamily="18" charset="0"/>
              </a:rPr>
              <a:t>Create Flowcharts indicating the logic in a selection process.</a:t>
            </a:r>
          </a:p>
          <a:p>
            <a:pPr lvl="1">
              <a:buFont typeface="Wingdings" panose="05000000000000000000" pitchFamily="2" charset="2"/>
              <a:buChar char="ü"/>
            </a:pPr>
            <a:r>
              <a:rPr lang="en-US" dirty="0" smtClean="0">
                <a:latin typeface="Cambria Math" panose="02040503050406030204" pitchFamily="18" charset="0"/>
                <a:ea typeface="Cambria Math" panose="02040503050406030204" pitchFamily="18" charset="0"/>
              </a:rPr>
              <a:t>Evaluate conditions using the Relational Operators. </a:t>
            </a:r>
          </a:p>
          <a:p>
            <a:pPr lvl="1">
              <a:buFont typeface="Wingdings" panose="05000000000000000000" pitchFamily="2" charset="2"/>
              <a:buChar char="ü"/>
            </a:pPr>
            <a:r>
              <a:rPr lang="en-US" dirty="0" smtClean="0">
                <a:latin typeface="Cambria Math" panose="02040503050406030204" pitchFamily="18" charset="0"/>
                <a:ea typeface="Cambria Math" panose="02040503050406030204" pitchFamily="18" charset="0"/>
              </a:rPr>
              <a:t>Combine conditions using AND </a:t>
            </a:r>
            <a:r>
              <a:rPr lang="en-US" dirty="0" err="1" smtClean="0">
                <a:latin typeface="Cambria Math" panose="02040503050406030204" pitchFamily="18" charset="0"/>
                <a:ea typeface="Cambria Math" panose="02040503050406030204" pitchFamily="18" charset="0"/>
              </a:rPr>
              <a:t>and</a:t>
            </a:r>
            <a:r>
              <a:rPr lang="en-US" dirty="0" smtClean="0">
                <a:latin typeface="Cambria Math" panose="02040503050406030204" pitchFamily="18" charset="0"/>
                <a:ea typeface="Cambria Math" panose="02040503050406030204" pitchFamily="18" charset="0"/>
              </a:rPr>
              <a:t> OR.</a:t>
            </a:r>
          </a:p>
          <a:p>
            <a:pPr lvl="1">
              <a:buFont typeface="Wingdings" panose="05000000000000000000" pitchFamily="2" charset="2"/>
              <a:buChar char="ü"/>
            </a:pPr>
            <a:endParaRPr lang="en-US" dirty="0">
              <a:latin typeface="Cambria Math" panose="02040503050406030204" pitchFamily="18" charset="0"/>
              <a:ea typeface="Cambria Math" panose="02040503050406030204" pitchFamily="18" charset="0"/>
            </a:endParaRPr>
          </a:p>
          <a:p>
            <a:pPr lvl="1">
              <a:buFont typeface="Wingdings" panose="05000000000000000000" pitchFamily="2" charset="2"/>
              <a:buChar char="v"/>
            </a:pPr>
            <a:r>
              <a:rPr lang="en-US" b="1" i="1" dirty="0">
                <a:latin typeface="Cambria Math" panose="02040503050406030204" pitchFamily="18" charset="0"/>
                <a:ea typeface="Cambria Math" panose="02040503050406030204" pitchFamily="18" charset="0"/>
              </a:rPr>
              <a:t>See Textbook - Introduction to Programming Book </a:t>
            </a:r>
            <a:r>
              <a:rPr lang="en-US" b="1" i="1" dirty="0" smtClean="0">
                <a:latin typeface="Cambria Math" panose="02040503050406030204" pitchFamily="18" charset="0"/>
                <a:ea typeface="Cambria Math" panose="02040503050406030204" pitchFamily="18" charset="0"/>
              </a:rPr>
              <a:t>2 Pages 152- 183</a:t>
            </a:r>
            <a:endParaRPr lang="en-US" b="1" i="1" dirty="0">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1652174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60587" y="115147"/>
            <a:ext cx="7267786" cy="927946"/>
          </a:xfrm>
          <a:solidFill>
            <a:schemeClr val="bg1"/>
          </a:solidFill>
        </p:spPr>
        <p:txBody>
          <a:bodyPr>
            <a:noAutofit/>
          </a:bodyPr>
          <a:lstStyle/>
          <a:p>
            <a:pPr algn="ctr"/>
            <a:r>
              <a:rPr lang="en-US" sz="3200" b="1" dirty="0" smtClean="0">
                <a:solidFill>
                  <a:schemeClr val="tx1">
                    <a:lumMod val="95000"/>
                    <a:lumOff val="5000"/>
                  </a:schemeClr>
                </a:solidFill>
                <a:latin typeface="Cambria Math" panose="02040503050406030204" pitchFamily="18" charset="0"/>
                <a:ea typeface="Cambria Math" panose="02040503050406030204" pitchFamily="18" charset="0"/>
              </a:rPr>
              <a:t>6.1 Decision Making in Programming</a:t>
            </a:r>
            <a:endParaRPr lang="en-US" sz="3200" dirty="0">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128693" y="989913"/>
            <a:ext cx="8515350" cy="3263504"/>
          </a:xfrm>
        </p:spPr>
        <p:txBody>
          <a:bodyPr>
            <a:noAutofit/>
          </a:bodyPr>
          <a:lstStyle/>
          <a:p>
            <a:r>
              <a:rPr lang="en-US" sz="1800" dirty="0">
                <a:latin typeface="Cambria Math" panose="02040503050406030204" pitchFamily="18" charset="0"/>
                <a:ea typeface="Cambria Math" panose="02040503050406030204" pitchFamily="18" charset="0"/>
              </a:rPr>
              <a:t>There might come a time where we need to instruct the computer to make decisions based on the input</a:t>
            </a:r>
            <a:r>
              <a:rPr lang="en-US" sz="1800" dirty="0" smtClean="0">
                <a:latin typeface="Cambria Math" panose="02040503050406030204" pitchFamily="18" charset="0"/>
                <a:ea typeface="Cambria Math" panose="02040503050406030204" pitchFamily="18" charset="0"/>
              </a:rPr>
              <a:t>. </a:t>
            </a:r>
            <a:r>
              <a:rPr lang="en-US" sz="1800" b="1" dirty="0">
                <a:latin typeface="Cambria Math" panose="02040503050406030204" pitchFamily="18" charset="0"/>
                <a:ea typeface="Cambria Math" panose="02040503050406030204" pitchFamily="18" charset="0"/>
              </a:rPr>
              <a:t>This process of instructing computers to make decisions is known as ‘decision making’ </a:t>
            </a:r>
            <a:r>
              <a:rPr lang="en-US" sz="1800" dirty="0">
                <a:latin typeface="Cambria Math" panose="02040503050406030204" pitchFamily="18" charset="0"/>
                <a:ea typeface="Cambria Math" panose="02040503050406030204" pitchFamily="18" charset="0"/>
              </a:rPr>
              <a:t>in programming</a:t>
            </a:r>
            <a:r>
              <a:rPr lang="en-US" sz="1800" dirty="0" smtClean="0">
                <a:latin typeface="Cambria Math" panose="02040503050406030204" pitchFamily="18" charset="0"/>
                <a:ea typeface="Cambria Math" panose="02040503050406030204" pitchFamily="18" charset="0"/>
              </a:rPr>
              <a:t>.</a:t>
            </a:r>
          </a:p>
          <a:p>
            <a:r>
              <a:rPr lang="en-US" sz="1800" dirty="0" smtClean="0">
                <a:latin typeface="Cambria Math" panose="02040503050406030204" pitchFamily="18" charset="0"/>
                <a:ea typeface="Cambria Math" panose="02040503050406030204" pitchFamily="18" charset="0"/>
              </a:rPr>
              <a:t>A powerful asset of the computer is its ability to make decision and to take alternate course of action based on the outcome.</a:t>
            </a:r>
          </a:p>
          <a:p>
            <a:r>
              <a:rPr lang="en-US" sz="1800" dirty="0" smtClean="0">
                <a:latin typeface="Cambria Math" panose="02040503050406030204" pitchFamily="18" charset="0"/>
                <a:ea typeface="Cambria Math" panose="02040503050406030204" pitchFamily="18" charset="0"/>
              </a:rPr>
              <a:t>A decision made by the computer is formed as a question: Is a given condition true or false? If it is true, do one thing; if it is false, do something else.</a:t>
            </a:r>
            <a:endParaRPr lang="en-US" sz="18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616067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3713" y="819573"/>
            <a:ext cx="8246070" cy="4104639"/>
          </a:xfrm>
          <a:solidFill>
            <a:schemeClr val="bg1"/>
          </a:solidFill>
        </p:spPr>
        <p:txBody>
          <a:bodyPr>
            <a:noAutofit/>
          </a:bodyPr>
          <a:lstStyle/>
          <a:p>
            <a:r>
              <a:rPr lang="en-US" sz="1800" dirty="0" smtClean="0">
                <a:latin typeface="Cambria Math" panose="02040503050406030204" pitchFamily="18" charset="0"/>
                <a:ea typeface="Cambria Math" panose="02040503050406030204" pitchFamily="18" charset="0"/>
              </a:rPr>
              <a:t>In programming, the ‘</a:t>
            </a:r>
            <a:r>
              <a:rPr lang="en-US" sz="1800" b="1" dirty="0" smtClean="0">
                <a:latin typeface="Cambria Math" panose="02040503050406030204" pitchFamily="18" charset="0"/>
                <a:ea typeface="Cambria Math" panose="02040503050406030204" pitchFamily="18" charset="0"/>
              </a:rPr>
              <a:t>if</a:t>
            </a:r>
            <a:r>
              <a:rPr lang="en-US" sz="1800" dirty="0" smtClean="0">
                <a:latin typeface="Cambria Math" panose="02040503050406030204" pitchFamily="18" charset="0"/>
                <a:ea typeface="Cambria Math" panose="02040503050406030204" pitchFamily="18" charset="0"/>
              </a:rPr>
              <a:t>’ </a:t>
            </a:r>
            <a:r>
              <a:rPr lang="en-US" sz="1800" dirty="0">
                <a:latin typeface="Cambria Math" panose="02040503050406030204" pitchFamily="18" charset="0"/>
                <a:ea typeface="Cambria Math" panose="02040503050406030204" pitchFamily="18" charset="0"/>
              </a:rPr>
              <a:t>and </a:t>
            </a:r>
            <a:r>
              <a:rPr lang="en-US" sz="1800" dirty="0" smtClean="0">
                <a:latin typeface="Cambria Math" panose="02040503050406030204" pitchFamily="18" charset="0"/>
                <a:ea typeface="Cambria Math" panose="02040503050406030204" pitchFamily="18" charset="0"/>
              </a:rPr>
              <a:t>‘</a:t>
            </a:r>
            <a:r>
              <a:rPr lang="en-US" sz="1800" b="1" dirty="0" smtClean="0">
                <a:latin typeface="Cambria Math" panose="02040503050406030204" pitchFamily="18" charset="0"/>
                <a:ea typeface="Cambria Math" panose="02040503050406030204" pitchFamily="18" charset="0"/>
              </a:rPr>
              <a:t>else</a:t>
            </a:r>
            <a:r>
              <a:rPr lang="en-US" sz="1800" dirty="0">
                <a:latin typeface="Cambria Math" panose="02040503050406030204" pitchFamily="18" charset="0"/>
                <a:ea typeface="Cambria Math" panose="02040503050406030204" pitchFamily="18" charset="0"/>
              </a:rPr>
              <a:t>’ statements check whether a condition is </a:t>
            </a:r>
            <a:r>
              <a:rPr lang="en-US" sz="1800" b="1" dirty="0">
                <a:latin typeface="Cambria Math" panose="02040503050406030204" pitchFamily="18" charset="0"/>
                <a:ea typeface="Cambria Math" panose="02040503050406030204" pitchFamily="18" charset="0"/>
              </a:rPr>
              <a:t>true</a:t>
            </a:r>
            <a:r>
              <a:rPr lang="en-US" sz="1800" dirty="0">
                <a:latin typeface="Cambria Math" panose="02040503050406030204" pitchFamily="18" charset="0"/>
                <a:ea typeface="Cambria Math" panose="02040503050406030204" pitchFamily="18" charset="0"/>
              </a:rPr>
              <a:t> or </a:t>
            </a:r>
            <a:r>
              <a:rPr lang="en-US" sz="1800" b="1" dirty="0">
                <a:latin typeface="Cambria Math" panose="02040503050406030204" pitchFamily="18" charset="0"/>
                <a:ea typeface="Cambria Math" panose="02040503050406030204" pitchFamily="18" charset="0"/>
              </a:rPr>
              <a:t>false</a:t>
            </a:r>
            <a:r>
              <a:rPr lang="en-US" sz="1800" dirty="0">
                <a:latin typeface="Cambria Math" panose="02040503050406030204" pitchFamily="18" charset="0"/>
                <a:ea typeface="Cambria Math" panose="02040503050406030204" pitchFamily="18" charset="0"/>
              </a:rPr>
              <a:t>. If the condition is true, it executes some particular set of codes and if the condition is false, it executes some other set of codes</a:t>
            </a:r>
            <a:r>
              <a:rPr lang="en-US" sz="1800" dirty="0" smtClean="0">
                <a:latin typeface="Cambria Math" panose="02040503050406030204" pitchFamily="18" charset="0"/>
                <a:ea typeface="Cambria Math" panose="02040503050406030204" pitchFamily="18" charset="0"/>
              </a:rPr>
              <a:t>.</a:t>
            </a:r>
          </a:p>
          <a:p>
            <a:pPr marL="0" indent="0">
              <a:buNone/>
            </a:pPr>
            <a:endParaRPr lang="en-US" sz="1800" dirty="0" smtClean="0">
              <a:latin typeface="Cambria Math" panose="02040503050406030204" pitchFamily="18" charset="0"/>
              <a:ea typeface="Cambria Math" panose="02040503050406030204" pitchFamily="18" charset="0"/>
            </a:endParaRPr>
          </a:p>
          <a:p>
            <a:r>
              <a:rPr lang="en-US" sz="1800" dirty="0">
                <a:latin typeface="Cambria Math" panose="02040503050406030204" pitchFamily="18" charset="0"/>
                <a:ea typeface="Cambria Math" panose="02040503050406030204" pitchFamily="18" charset="0"/>
              </a:rPr>
              <a:t>Example: </a:t>
            </a:r>
          </a:p>
          <a:p>
            <a:pPr marL="400050" lvl="1" indent="0">
              <a:buNone/>
            </a:pPr>
            <a:r>
              <a:rPr lang="en-US" sz="1800" i="1" dirty="0">
                <a:latin typeface="Cambria Math" panose="02040503050406030204" pitchFamily="18" charset="0"/>
                <a:ea typeface="Cambria Math" panose="02040503050406030204" pitchFamily="18" charset="0"/>
              </a:rPr>
              <a:t>If the sun is shinning T</a:t>
            </a:r>
            <a:r>
              <a:rPr lang="en-US" sz="1800" i="1" dirty="0" smtClean="0">
                <a:latin typeface="Cambria Math" panose="02040503050406030204" pitchFamily="18" charset="0"/>
                <a:ea typeface="Cambria Math" panose="02040503050406030204" pitchFamily="18" charset="0"/>
              </a:rPr>
              <a:t>hen </a:t>
            </a:r>
            <a:r>
              <a:rPr lang="en-US" sz="1800" b="1" i="1" dirty="0">
                <a:latin typeface="Cambria Math" panose="02040503050406030204" pitchFamily="18" charset="0"/>
                <a:ea typeface="Cambria Math" panose="02040503050406030204" pitchFamily="18" charset="0"/>
              </a:rPr>
              <a:t>(condition)</a:t>
            </a:r>
          </a:p>
          <a:p>
            <a:pPr marL="400050" lvl="1" indent="0">
              <a:buNone/>
            </a:pPr>
            <a:r>
              <a:rPr lang="en-US" sz="1800" i="1" dirty="0">
                <a:latin typeface="Cambria Math" panose="02040503050406030204" pitchFamily="18" charset="0"/>
                <a:ea typeface="Cambria Math" panose="02040503050406030204" pitchFamily="18" charset="0"/>
              </a:rPr>
              <a:t>	Go to the beach </a:t>
            </a:r>
            <a:r>
              <a:rPr lang="en-US" sz="1800" b="1" i="1" dirty="0">
                <a:latin typeface="Cambria Math" panose="02040503050406030204" pitchFamily="18" charset="0"/>
                <a:ea typeface="Cambria Math" panose="02040503050406030204" pitchFamily="18" charset="0"/>
              </a:rPr>
              <a:t>(Action to take if the condition is true)</a:t>
            </a:r>
          </a:p>
          <a:p>
            <a:pPr marL="400050" lvl="1" indent="0">
              <a:buNone/>
            </a:pPr>
            <a:r>
              <a:rPr lang="en-US" sz="1800" i="1" dirty="0">
                <a:latin typeface="Cambria Math" panose="02040503050406030204" pitchFamily="18" charset="0"/>
                <a:ea typeface="Cambria Math" panose="02040503050406030204" pitchFamily="18" charset="0"/>
              </a:rPr>
              <a:t>Else </a:t>
            </a:r>
          </a:p>
          <a:p>
            <a:pPr marL="400050" lvl="1" indent="0">
              <a:buNone/>
            </a:pPr>
            <a:r>
              <a:rPr lang="en-US" sz="1800" i="1" dirty="0">
                <a:latin typeface="Cambria Math" panose="02040503050406030204" pitchFamily="18" charset="0"/>
                <a:ea typeface="Cambria Math" panose="02040503050406030204" pitchFamily="18" charset="0"/>
              </a:rPr>
              <a:t>	</a:t>
            </a:r>
            <a:r>
              <a:rPr lang="en-US" sz="1800" i="1" dirty="0" smtClean="0">
                <a:latin typeface="Cambria Math" panose="02040503050406030204" pitchFamily="18" charset="0"/>
                <a:ea typeface="Cambria Math" panose="02040503050406030204" pitchFamily="18" charset="0"/>
              </a:rPr>
              <a:t>Stay home </a:t>
            </a:r>
            <a:r>
              <a:rPr lang="en-US" sz="1800" b="1" i="1" dirty="0">
                <a:latin typeface="Cambria Math" panose="02040503050406030204" pitchFamily="18" charset="0"/>
                <a:ea typeface="Cambria Math" panose="02040503050406030204" pitchFamily="18" charset="0"/>
              </a:rPr>
              <a:t>(Action to take is the condition is false)</a:t>
            </a:r>
          </a:p>
          <a:p>
            <a:pPr marL="400050" lvl="1" indent="0">
              <a:buNone/>
            </a:pPr>
            <a:r>
              <a:rPr lang="en-US" sz="1800" i="1" dirty="0">
                <a:latin typeface="Cambria Math" panose="02040503050406030204" pitchFamily="18" charset="0"/>
                <a:ea typeface="Cambria Math" panose="02040503050406030204" pitchFamily="18" charset="0"/>
              </a:rPr>
              <a:t>End if</a:t>
            </a:r>
          </a:p>
          <a:p>
            <a:pPr marL="0" indent="0">
              <a:buNone/>
            </a:pPr>
            <a:endParaRPr lang="en-US" sz="1800" dirty="0" smtClean="0">
              <a:latin typeface="Cambria Math" panose="02040503050406030204" pitchFamily="18" charset="0"/>
              <a:ea typeface="Cambria Math" panose="02040503050406030204" pitchFamily="18" charset="0"/>
            </a:endParaRPr>
          </a:p>
          <a:p>
            <a:r>
              <a:rPr lang="en-US" sz="1800" dirty="0" smtClean="0">
                <a:latin typeface="Cambria Math" panose="02040503050406030204" pitchFamily="18" charset="0"/>
                <a:ea typeface="Cambria Math" panose="02040503050406030204" pitchFamily="18" charset="0"/>
              </a:rPr>
              <a:t>In the example, in ‘if’ statement, when the condition is true, only the Then clause is executed. When the condition is false, only the Else clause is executed.</a:t>
            </a:r>
          </a:p>
        </p:txBody>
      </p:sp>
      <p:sp>
        <p:nvSpPr>
          <p:cNvPr id="4" name="Title 1"/>
          <p:cNvSpPr txBox="1">
            <a:spLocks/>
          </p:cNvSpPr>
          <p:nvPr/>
        </p:nvSpPr>
        <p:spPr>
          <a:xfrm>
            <a:off x="2421112" y="117160"/>
            <a:ext cx="4094835" cy="602827"/>
          </a:xfrm>
          <a:prstGeom prst="rect">
            <a:avLst/>
          </a:prstGeom>
          <a:solidFill>
            <a:schemeClr val="bg1"/>
          </a:solidFill>
        </p:spPr>
        <p:txBody>
          <a:bodyPr vert="horz" lIns="91440" tIns="45720" rIns="91440" bIns="45720" rtlCol="0" anchor="ctr">
            <a:normAutofit fontScale="92500"/>
          </a:bodyPr>
          <a:lstStyle>
            <a:lvl1pPr algn="r" defTabSz="914400" rtl="0" eaLnBrk="1" latinLnBrk="0" hangingPunct="1">
              <a:spcBef>
                <a:spcPct val="0"/>
              </a:spcBef>
              <a:buNone/>
              <a:defRPr sz="3600" kern="1200" baseline="0">
                <a:solidFill>
                  <a:schemeClr val="bg1"/>
                </a:solidFill>
                <a:effectLst>
                  <a:outerShdw blurRad="50800" dist="38100" dir="2700000" algn="tl" rotWithShape="0">
                    <a:prstClr val="black">
                      <a:alpha val="40000"/>
                    </a:prstClr>
                  </a:outerShdw>
                </a:effectLst>
                <a:latin typeface="+mj-lt"/>
                <a:ea typeface="+mj-ea"/>
                <a:cs typeface="+mj-cs"/>
              </a:defRPr>
            </a:lvl1pPr>
          </a:lstStyle>
          <a:p>
            <a:pPr algn="ctr"/>
            <a:r>
              <a:rPr lang="en-US" sz="2800" b="1" dirty="0">
                <a:solidFill>
                  <a:schemeClr val="tx1">
                    <a:lumMod val="95000"/>
                    <a:lumOff val="5000"/>
                  </a:schemeClr>
                </a:solidFill>
                <a:latin typeface="Cambria Math" panose="02040503050406030204" pitchFamily="18" charset="0"/>
                <a:ea typeface="Cambria Math" panose="02040503050406030204" pitchFamily="18" charset="0"/>
              </a:rPr>
              <a:t>a</a:t>
            </a:r>
            <a:r>
              <a:rPr lang="en-US" sz="2800" b="1" dirty="0" smtClean="0">
                <a:solidFill>
                  <a:schemeClr val="tx1">
                    <a:lumMod val="95000"/>
                    <a:lumOff val="5000"/>
                  </a:schemeClr>
                </a:solidFill>
                <a:latin typeface="Cambria Math" panose="02040503050406030204" pitchFamily="18" charset="0"/>
                <a:ea typeface="Cambria Math" panose="02040503050406030204" pitchFamily="18" charset="0"/>
              </a:rPr>
              <a:t>.) ‘if’ and ‘else’ statements</a:t>
            </a:r>
            <a:endParaRPr lang="en-US" sz="28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368207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982133"/>
            <a:ext cx="7886700" cy="3650590"/>
          </a:xfrm>
        </p:spPr>
        <p:txBody>
          <a:bodyPr>
            <a:normAutofit/>
          </a:bodyPr>
          <a:lstStyle/>
          <a:p>
            <a:r>
              <a:rPr lang="en-US" sz="1800" dirty="0">
                <a:latin typeface="Cambria Math" panose="02040503050406030204" pitchFamily="18" charset="0"/>
                <a:ea typeface="Cambria Math" panose="02040503050406030204" pitchFamily="18" charset="0"/>
              </a:rPr>
              <a:t>What if we needed to check for more conditions? We can chain the ‘</a:t>
            </a:r>
            <a:r>
              <a:rPr lang="en-US" sz="1800" b="1" dirty="0" smtClean="0">
                <a:latin typeface="Cambria Math" panose="02040503050406030204" pitchFamily="18" charset="0"/>
                <a:ea typeface="Cambria Math" panose="02040503050406030204" pitchFamily="18" charset="0"/>
              </a:rPr>
              <a:t>if</a:t>
            </a:r>
            <a:r>
              <a:rPr lang="en-US" sz="1800" dirty="0" smtClean="0">
                <a:latin typeface="Cambria Math" panose="02040503050406030204" pitchFamily="18" charset="0"/>
                <a:ea typeface="Cambria Math" panose="02040503050406030204" pitchFamily="18" charset="0"/>
              </a:rPr>
              <a:t>‘ and ‘</a:t>
            </a:r>
            <a:r>
              <a:rPr lang="en-US" sz="1800" b="1" dirty="0" smtClean="0">
                <a:latin typeface="Cambria Math" panose="02040503050406030204" pitchFamily="18" charset="0"/>
                <a:ea typeface="Cambria Math" panose="02040503050406030204" pitchFamily="18" charset="0"/>
              </a:rPr>
              <a:t>else</a:t>
            </a:r>
            <a:r>
              <a:rPr lang="en-US" sz="1800" dirty="0">
                <a:latin typeface="Cambria Math" panose="02040503050406030204" pitchFamily="18" charset="0"/>
                <a:ea typeface="Cambria Math" panose="02040503050406030204" pitchFamily="18" charset="0"/>
              </a:rPr>
              <a:t>’ statements using the extra ‘</a:t>
            </a:r>
            <a:r>
              <a:rPr lang="en-US" sz="1800" b="1" dirty="0">
                <a:latin typeface="Cambria Math" panose="02040503050406030204" pitchFamily="18" charset="0"/>
                <a:ea typeface="Cambria Math" panose="02040503050406030204" pitchFamily="18" charset="0"/>
              </a:rPr>
              <a:t>else if</a:t>
            </a:r>
            <a:r>
              <a:rPr lang="en-US" sz="1800" dirty="0">
                <a:latin typeface="Cambria Math" panose="02040503050406030204" pitchFamily="18" charset="0"/>
                <a:ea typeface="Cambria Math" panose="02040503050406030204" pitchFamily="18" charset="0"/>
              </a:rPr>
              <a:t>’ statement</a:t>
            </a:r>
            <a:r>
              <a:rPr lang="en-US" sz="1800" dirty="0" smtClean="0">
                <a:latin typeface="Cambria Math" panose="02040503050406030204" pitchFamily="18" charset="0"/>
                <a:ea typeface="Cambria Math" panose="02040503050406030204" pitchFamily="18" charset="0"/>
              </a:rPr>
              <a:t>.</a:t>
            </a:r>
          </a:p>
          <a:p>
            <a:pPr marL="0" indent="0">
              <a:buNone/>
            </a:pPr>
            <a:endParaRPr lang="en-US" sz="1800" dirty="0" smtClean="0">
              <a:latin typeface="Cambria Math" panose="02040503050406030204" pitchFamily="18" charset="0"/>
              <a:ea typeface="Cambria Math" panose="02040503050406030204" pitchFamily="18" charset="0"/>
            </a:endParaRPr>
          </a:p>
          <a:p>
            <a:r>
              <a:rPr lang="en-US" sz="1800" dirty="0">
                <a:latin typeface="Cambria Math" panose="02040503050406030204" pitchFamily="18" charset="0"/>
                <a:ea typeface="Cambria Math" panose="02040503050406030204" pitchFamily="18" charset="0"/>
              </a:rPr>
              <a:t>Example: </a:t>
            </a:r>
          </a:p>
          <a:p>
            <a:pPr marL="400050" lvl="1" indent="0">
              <a:buNone/>
            </a:pPr>
            <a:r>
              <a:rPr lang="en-US" sz="1800" dirty="0" smtClean="0">
                <a:latin typeface="Cambria Math" panose="02040503050406030204" pitchFamily="18" charset="0"/>
                <a:ea typeface="Cambria Math" panose="02040503050406030204" pitchFamily="18" charset="0"/>
              </a:rPr>
              <a:t>If Number is &gt; 0 Then (condition)</a:t>
            </a:r>
            <a:r>
              <a:rPr lang="en-US" sz="1800" dirty="0">
                <a:latin typeface="Cambria Math" panose="02040503050406030204" pitchFamily="18" charset="0"/>
                <a:ea typeface="Cambria Math" panose="02040503050406030204" pitchFamily="18" charset="0"/>
              </a:rPr>
              <a:t/>
            </a:r>
            <a:br>
              <a:rPr lang="en-US" sz="1800" dirty="0">
                <a:latin typeface="Cambria Math" panose="02040503050406030204" pitchFamily="18" charset="0"/>
                <a:ea typeface="Cambria Math" panose="02040503050406030204" pitchFamily="18" charset="0"/>
              </a:rPr>
            </a:br>
            <a:r>
              <a:rPr lang="en-US" sz="1800" dirty="0" smtClean="0">
                <a:latin typeface="Cambria Math" panose="02040503050406030204" pitchFamily="18" charset="0"/>
                <a:ea typeface="Cambria Math" panose="02040503050406030204" pitchFamily="18" charset="0"/>
              </a:rPr>
              <a:t>	Print ‘Number is positive’</a:t>
            </a:r>
            <a:r>
              <a:rPr lang="en-US" sz="1800" dirty="0">
                <a:latin typeface="Cambria Math" panose="02040503050406030204" pitchFamily="18" charset="0"/>
                <a:ea typeface="Cambria Math" panose="02040503050406030204" pitchFamily="18" charset="0"/>
              </a:rPr>
              <a:t/>
            </a:r>
            <a:br>
              <a:rPr lang="en-US" sz="1800" dirty="0">
                <a:latin typeface="Cambria Math" panose="02040503050406030204" pitchFamily="18" charset="0"/>
                <a:ea typeface="Cambria Math" panose="02040503050406030204" pitchFamily="18" charset="0"/>
              </a:rPr>
            </a:br>
            <a:r>
              <a:rPr lang="en-US" sz="1800" dirty="0" smtClean="0">
                <a:latin typeface="Cambria Math" panose="02040503050406030204" pitchFamily="18" charset="0"/>
                <a:ea typeface="Cambria Math" panose="02040503050406030204" pitchFamily="18" charset="0"/>
              </a:rPr>
              <a:t>else if Number </a:t>
            </a:r>
            <a:r>
              <a:rPr lang="en-US" sz="1800" dirty="0">
                <a:latin typeface="Cambria Math" panose="02040503050406030204" pitchFamily="18" charset="0"/>
                <a:ea typeface="Cambria Math" panose="02040503050406030204" pitchFamily="18" charset="0"/>
              </a:rPr>
              <a:t>is </a:t>
            </a:r>
            <a:r>
              <a:rPr lang="en-US" sz="1800" dirty="0" smtClean="0">
                <a:latin typeface="Cambria Math" panose="02040503050406030204" pitchFamily="18" charset="0"/>
                <a:ea typeface="Cambria Math" panose="02040503050406030204" pitchFamily="18" charset="0"/>
              </a:rPr>
              <a:t>&lt; 0</a:t>
            </a:r>
            <a:r>
              <a:rPr lang="en-US" sz="1800" dirty="0">
                <a:latin typeface="Cambria Math" panose="02040503050406030204" pitchFamily="18" charset="0"/>
                <a:ea typeface="Cambria Math" panose="02040503050406030204" pitchFamily="18" charset="0"/>
              </a:rPr>
              <a:t/>
            </a:r>
            <a:br>
              <a:rPr lang="en-US" sz="1800" dirty="0">
                <a:latin typeface="Cambria Math" panose="02040503050406030204" pitchFamily="18" charset="0"/>
                <a:ea typeface="Cambria Math" panose="02040503050406030204" pitchFamily="18" charset="0"/>
              </a:rPr>
            </a:br>
            <a:r>
              <a:rPr lang="en-US" sz="1800" dirty="0" smtClean="0">
                <a:latin typeface="Cambria Math" panose="02040503050406030204" pitchFamily="18" charset="0"/>
                <a:ea typeface="Cambria Math" panose="02040503050406030204" pitchFamily="18" charset="0"/>
              </a:rPr>
              <a:t>	Print ‘Number </a:t>
            </a:r>
            <a:r>
              <a:rPr lang="en-US" sz="1800" dirty="0">
                <a:latin typeface="Cambria Math" panose="02040503050406030204" pitchFamily="18" charset="0"/>
                <a:ea typeface="Cambria Math" panose="02040503050406030204" pitchFamily="18" charset="0"/>
              </a:rPr>
              <a:t>is </a:t>
            </a:r>
            <a:r>
              <a:rPr lang="en-US" sz="1800" dirty="0" smtClean="0">
                <a:latin typeface="Cambria Math" panose="02040503050406030204" pitchFamily="18" charset="0"/>
                <a:ea typeface="Cambria Math" panose="02040503050406030204" pitchFamily="18" charset="0"/>
              </a:rPr>
              <a:t>negative’</a:t>
            </a:r>
            <a:r>
              <a:rPr lang="en-US" sz="1800" dirty="0">
                <a:latin typeface="Cambria Math" panose="02040503050406030204" pitchFamily="18" charset="0"/>
                <a:ea typeface="Cambria Math" panose="02040503050406030204" pitchFamily="18" charset="0"/>
              </a:rPr>
              <a:t/>
            </a:r>
            <a:br>
              <a:rPr lang="en-US" sz="1800" dirty="0">
                <a:latin typeface="Cambria Math" panose="02040503050406030204" pitchFamily="18" charset="0"/>
                <a:ea typeface="Cambria Math" panose="02040503050406030204" pitchFamily="18" charset="0"/>
              </a:rPr>
            </a:br>
            <a:r>
              <a:rPr lang="en-US" sz="1800" dirty="0" smtClean="0">
                <a:latin typeface="Cambria Math" panose="02040503050406030204" pitchFamily="18" charset="0"/>
                <a:ea typeface="Cambria Math" panose="02040503050406030204" pitchFamily="18" charset="0"/>
              </a:rPr>
              <a:t>else</a:t>
            </a:r>
            <a:r>
              <a:rPr lang="en-US" sz="1800" dirty="0">
                <a:latin typeface="Cambria Math" panose="02040503050406030204" pitchFamily="18" charset="0"/>
                <a:ea typeface="Cambria Math" panose="02040503050406030204" pitchFamily="18" charset="0"/>
              </a:rPr>
              <a:t/>
            </a:r>
            <a:br>
              <a:rPr lang="en-US" sz="1800" dirty="0">
                <a:latin typeface="Cambria Math" panose="02040503050406030204" pitchFamily="18" charset="0"/>
                <a:ea typeface="Cambria Math" panose="02040503050406030204" pitchFamily="18" charset="0"/>
              </a:rPr>
            </a:br>
            <a:r>
              <a:rPr lang="en-US" sz="1800" dirty="0" smtClean="0">
                <a:latin typeface="Cambria Math" panose="02040503050406030204" pitchFamily="18" charset="0"/>
                <a:ea typeface="Cambria Math" panose="02040503050406030204" pitchFamily="18" charset="0"/>
              </a:rPr>
              <a:t>	Print ‘Number </a:t>
            </a:r>
            <a:r>
              <a:rPr lang="en-US" sz="1800" dirty="0">
                <a:latin typeface="Cambria Math" panose="02040503050406030204" pitchFamily="18" charset="0"/>
                <a:ea typeface="Cambria Math" panose="02040503050406030204" pitchFamily="18" charset="0"/>
              </a:rPr>
              <a:t>is </a:t>
            </a:r>
            <a:r>
              <a:rPr lang="en-US" sz="1800" dirty="0" smtClean="0">
                <a:latin typeface="Cambria Math" panose="02040503050406030204" pitchFamily="18" charset="0"/>
                <a:ea typeface="Cambria Math" panose="02040503050406030204" pitchFamily="18" charset="0"/>
              </a:rPr>
              <a:t>0’</a:t>
            </a:r>
          </a:p>
          <a:p>
            <a:endParaRPr lang="en-US" dirty="0">
              <a:latin typeface="Cambria Math" panose="02040503050406030204" pitchFamily="18" charset="0"/>
              <a:ea typeface="Cambria Math" panose="02040503050406030204" pitchFamily="18" charset="0"/>
            </a:endParaRPr>
          </a:p>
        </p:txBody>
      </p:sp>
      <p:sp>
        <p:nvSpPr>
          <p:cNvPr id="4" name="Title 1"/>
          <p:cNvSpPr txBox="1">
            <a:spLocks/>
          </p:cNvSpPr>
          <p:nvPr/>
        </p:nvSpPr>
        <p:spPr>
          <a:xfrm>
            <a:off x="1783510" y="300041"/>
            <a:ext cx="5281077" cy="602827"/>
          </a:xfrm>
          <a:prstGeom prst="rect">
            <a:avLst/>
          </a:prstGeom>
          <a:solidFill>
            <a:schemeClr val="bg1"/>
          </a:solidFill>
        </p:spPr>
        <p:txBody>
          <a:bodyPr vert="horz" lIns="91440" tIns="45720" rIns="91440" bIns="45720" rtlCol="0" anchor="ctr">
            <a:normAutofit fontScale="92500"/>
          </a:bodyPr>
          <a:lstStyle>
            <a:lvl1pPr algn="r" defTabSz="914400" rtl="0" eaLnBrk="1" latinLnBrk="0" hangingPunct="1">
              <a:spcBef>
                <a:spcPct val="0"/>
              </a:spcBef>
              <a:buNone/>
              <a:defRPr sz="3600" kern="1200" baseline="0">
                <a:solidFill>
                  <a:schemeClr val="bg1"/>
                </a:solidFill>
                <a:effectLst>
                  <a:outerShdw blurRad="50800" dist="38100" dir="2700000" algn="tl" rotWithShape="0">
                    <a:prstClr val="black">
                      <a:alpha val="40000"/>
                    </a:prstClr>
                  </a:outerShdw>
                </a:effectLst>
                <a:latin typeface="+mj-lt"/>
                <a:ea typeface="+mj-ea"/>
                <a:cs typeface="+mj-cs"/>
              </a:defRPr>
            </a:lvl1pPr>
          </a:lstStyle>
          <a:p>
            <a:pPr algn="ctr"/>
            <a:r>
              <a:rPr lang="en-US" sz="2800" b="1" dirty="0" smtClean="0">
                <a:solidFill>
                  <a:schemeClr val="tx1">
                    <a:lumMod val="95000"/>
                    <a:lumOff val="5000"/>
                  </a:schemeClr>
                </a:solidFill>
                <a:latin typeface="Cambria Math" panose="02040503050406030204" pitchFamily="18" charset="0"/>
                <a:ea typeface="Cambria Math" panose="02040503050406030204" pitchFamily="18" charset="0"/>
              </a:rPr>
              <a:t>b.) ‘if’, ‘else-if’ and ‘else’ statements</a:t>
            </a:r>
            <a:endParaRPr lang="en-US" sz="28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8795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3714" y="372533"/>
            <a:ext cx="8246070" cy="4538134"/>
          </a:xfrm>
        </p:spPr>
        <p:txBody>
          <a:bodyPr>
            <a:normAutofit/>
          </a:bodyPr>
          <a:lstStyle/>
          <a:p>
            <a:r>
              <a:rPr lang="en-US" sz="1800" dirty="0" smtClean="0">
                <a:latin typeface="Cambria Math" panose="02040503050406030204" pitchFamily="18" charset="0"/>
                <a:ea typeface="Cambria Math" panose="02040503050406030204" pitchFamily="18" charset="0"/>
              </a:rPr>
              <a:t>The </a:t>
            </a:r>
            <a:r>
              <a:rPr lang="en-US" sz="1800" b="1" dirty="0" smtClean="0">
                <a:latin typeface="Cambria Math" panose="02040503050406030204" pitchFamily="18" charset="0"/>
                <a:ea typeface="Cambria Math" panose="02040503050406030204" pitchFamily="18" charset="0"/>
              </a:rPr>
              <a:t>if</a:t>
            </a:r>
            <a:r>
              <a:rPr lang="en-US" sz="1800" dirty="0" smtClean="0">
                <a:latin typeface="Cambria Math" panose="02040503050406030204" pitchFamily="18" charset="0"/>
                <a:ea typeface="Cambria Math" panose="02040503050406030204" pitchFamily="18" charset="0"/>
              </a:rPr>
              <a:t> and </a:t>
            </a:r>
            <a:r>
              <a:rPr lang="en-US" sz="1800" b="1" dirty="0" smtClean="0">
                <a:latin typeface="Cambria Math" panose="02040503050406030204" pitchFamily="18" charset="0"/>
                <a:ea typeface="Cambria Math" panose="02040503050406030204" pitchFamily="18" charset="0"/>
              </a:rPr>
              <a:t>else</a:t>
            </a:r>
            <a:r>
              <a:rPr lang="en-US" sz="1800" dirty="0" smtClean="0">
                <a:latin typeface="Cambria Math" panose="02040503050406030204" pitchFamily="18" charset="0"/>
                <a:ea typeface="Cambria Math" panose="02040503050406030204" pitchFamily="18" charset="0"/>
              </a:rPr>
              <a:t> statements are used to make decisions in programming.</a:t>
            </a:r>
          </a:p>
          <a:p>
            <a:r>
              <a:rPr lang="en-US" sz="1800" dirty="0" smtClean="0">
                <a:latin typeface="Cambria Math" panose="02040503050406030204" pitchFamily="18" charset="0"/>
                <a:ea typeface="Cambria Math" panose="02040503050406030204" pitchFamily="18" charset="0"/>
              </a:rPr>
              <a:t>The </a:t>
            </a:r>
            <a:r>
              <a:rPr lang="en-US" sz="1800" b="1" dirty="0" smtClean="0">
                <a:latin typeface="Cambria Math" panose="02040503050406030204" pitchFamily="18" charset="0"/>
                <a:ea typeface="Cambria Math" panose="02040503050406030204" pitchFamily="18" charset="0"/>
              </a:rPr>
              <a:t>if</a:t>
            </a:r>
            <a:r>
              <a:rPr lang="en-US" sz="1800" dirty="0" smtClean="0">
                <a:latin typeface="Cambria Math" panose="02040503050406030204" pitchFamily="18" charset="0"/>
                <a:ea typeface="Cambria Math" panose="02040503050406030204" pitchFamily="18" charset="0"/>
              </a:rPr>
              <a:t> statement checks for a </a:t>
            </a:r>
            <a:r>
              <a:rPr lang="en-US" sz="1800" b="1" dirty="0" smtClean="0">
                <a:latin typeface="Cambria Math" panose="02040503050406030204" pitchFamily="18" charset="0"/>
                <a:ea typeface="Cambria Math" panose="02040503050406030204" pitchFamily="18" charset="0"/>
              </a:rPr>
              <a:t>single condition </a:t>
            </a:r>
            <a:r>
              <a:rPr lang="en-US" sz="1800" dirty="0" smtClean="0">
                <a:latin typeface="Cambria Math" panose="02040503050406030204" pitchFamily="18" charset="0"/>
                <a:ea typeface="Cambria Math" panose="02040503050406030204" pitchFamily="18" charset="0"/>
              </a:rPr>
              <a:t>and performs a </a:t>
            </a:r>
            <a:r>
              <a:rPr lang="en-US" sz="1800" b="1" dirty="0" smtClean="0">
                <a:latin typeface="Cambria Math" panose="02040503050406030204" pitchFamily="18" charset="0"/>
                <a:ea typeface="Cambria Math" panose="02040503050406030204" pitchFamily="18" charset="0"/>
              </a:rPr>
              <a:t>single operation</a:t>
            </a:r>
            <a:r>
              <a:rPr lang="en-US" sz="1800" dirty="0" smtClean="0">
                <a:latin typeface="Cambria Math" panose="02040503050406030204" pitchFamily="18" charset="0"/>
                <a:ea typeface="Cambria Math" panose="02040503050406030204" pitchFamily="18" charset="0"/>
              </a:rPr>
              <a:t>, while the </a:t>
            </a:r>
            <a:r>
              <a:rPr lang="en-US" sz="1800" b="1" dirty="0" smtClean="0">
                <a:latin typeface="Cambria Math" panose="02040503050406030204" pitchFamily="18" charset="0"/>
                <a:ea typeface="Cambria Math" panose="02040503050406030204" pitchFamily="18" charset="0"/>
              </a:rPr>
              <a:t>else</a:t>
            </a:r>
            <a:r>
              <a:rPr lang="en-US" sz="1800" dirty="0" smtClean="0">
                <a:latin typeface="Cambria Math" panose="02040503050406030204" pitchFamily="18" charset="0"/>
                <a:ea typeface="Cambria Math" panose="02040503050406030204" pitchFamily="18" charset="0"/>
              </a:rPr>
              <a:t> statement checks for a </a:t>
            </a:r>
            <a:r>
              <a:rPr lang="en-US" sz="1800" b="1" dirty="0" smtClean="0">
                <a:latin typeface="Cambria Math" panose="02040503050406030204" pitchFamily="18" charset="0"/>
                <a:ea typeface="Cambria Math" panose="02040503050406030204" pitchFamily="18" charset="0"/>
              </a:rPr>
              <a:t>single condition </a:t>
            </a:r>
            <a:r>
              <a:rPr lang="en-US" sz="1800" dirty="0" smtClean="0">
                <a:latin typeface="Cambria Math" panose="02040503050406030204" pitchFamily="18" charset="0"/>
                <a:ea typeface="Cambria Math" panose="02040503050406030204" pitchFamily="18" charset="0"/>
              </a:rPr>
              <a:t>and </a:t>
            </a:r>
            <a:r>
              <a:rPr lang="en-US" sz="1800" b="1" dirty="0" smtClean="0">
                <a:latin typeface="Cambria Math" panose="02040503050406030204" pitchFamily="18" charset="0"/>
                <a:ea typeface="Cambria Math" panose="02040503050406030204" pitchFamily="18" charset="0"/>
              </a:rPr>
              <a:t>performs two or multiple operations</a:t>
            </a:r>
            <a:r>
              <a:rPr lang="en-US" sz="1800" dirty="0" smtClean="0">
                <a:latin typeface="Cambria Math" panose="02040503050406030204" pitchFamily="18" charset="0"/>
                <a:ea typeface="Cambria Math" panose="02040503050406030204" pitchFamily="18" charset="0"/>
              </a:rPr>
              <a:t>.</a:t>
            </a:r>
          </a:p>
          <a:p>
            <a:r>
              <a:rPr lang="en-US" sz="1800" dirty="0" smtClean="0">
                <a:latin typeface="Cambria Math" panose="02040503050406030204" pitchFamily="18" charset="0"/>
                <a:ea typeface="Cambria Math" panose="02040503050406030204" pitchFamily="18" charset="0"/>
              </a:rPr>
              <a:t>For the </a:t>
            </a:r>
            <a:r>
              <a:rPr lang="en-US" sz="1800" b="1" dirty="0" smtClean="0">
                <a:latin typeface="Cambria Math" panose="02040503050406030204" pitchFamily="18" charset="0"/>
                <a:ea typeface="Cambria Math" panose="02040503050406030204" pitchFamily="18" charset="0"/>
              </a:rPr>
              <a:t>if</a:t>
            </a:r>
            <a:r>
              <a:rPr lang="en-US" sz="1800" dirty="0" smtClean="0">
                <a:latin typeface="Cambria Math" panose="02040503050406030204" pitchFamily="18" charset="0"/>
                <a:ea typeface="Cambria Math" panose="02040503050406030204" pitchFamily="18" charset="0"/>
              </a:rPr>
              <a:t> statement, if the </a:t>
            </a:r>
            <a:r>
              <a:rPr lang="en-US" sz="1800" b="1" dirty="0" smtClean="0">
                <a:latin typeface="Cambria Math" panose="02040503050406030204" pitchFamily="18" charset="0"/>
                <a:ea typeface="Cambria Math" panose="02040503050406030204" pitchFamily="18" charset="0"/>
              </a:rPr>
              <a:t>condition is true</a:t>
            </a:r>
            <a:r>
              <a:rPr lang="en-US" sz="1800" dirty="0" smtClean="0">
                <a:latin typeface="Cambria Math" panose="02040503050406030204" pitchFamily="18" charset="0"/>
                <a:ea typeface="Cambria Math" panose="02040503050406030204" pitchFamily="18" charset="0"/>
              </a:rPr>
              <a:t>, then the </a:t>
            </a:r>
            <a:r>
              <a:rPr lang="en-US" sz="1800" b="1" dirty="0" smtClean="0">
                <a:latin typeface="Cambria Math" panose="02040503050406030204" pitchFamily="18" charset="0"/>
                <a:ea typeface="Cambria Math" panose="02040503050406030204" pitchFamily="18" charset="0"/>
              </a:rPr>
              <a:t>statements in the if block gets executed</a:t>
            </a:r>
            <a:r>
              <a:rPr lang="en-US" sz="1800" dirty="0" smtClean="0">
                <a:latin typeface="Cambria Math" panose="02040503050406030204" pitchFamily="18" charset="0"/>
                <a:ea typeface="Cambria Math" panose="02040503050406030204" pitchFamily="18" charset="0"/>
              </a:rPr>
              <a:t>. If the </a:t>
            </a:r>
            <a:r>
              <a:rPr lang="en-US" sz="1800" b="1" dirty="0" smtClean="0">
                <a:latin typeface="Cambria Math" panose="02040503050406030204" pitchFamily="18" charset="0"/>
                <a:ea typeface="Cambria Math" panose="02040503050406030204" pitchFamily="18" charset="0"/>
              </a:rPr>
              <a:t>condition is false</a:t>
            </a:r>
            <a:r>
              <a:rPr lang="en-US" sz="1800" dirty="0" smtClean="0">
                <a:latin typeface="Cambria Math" panose="02040503050406030204" pitchFamily="18" charset="0"/>
                <a:ea typeface="Cambria Math" panose="02040503050406030204" pitchFamily="18" charset="0"/>
              </a:rPr>
              <a:t>, then the </a:t>
            </a:r>
            <a:r>
              <a:rPr lang="en-US" sz="1800" b="1" dirty="0" smtClean="0">
                <a:latin typeface="Cambria Math" panose="02040503050406030204" pitchFamily="18" charset="0"/>
                <a:ea typeface="Cambria Math" panose="02040503050406030204" pitchFamily="18" charset="0"/>
              </a:rPr>
              <a:t>statements in the if block are ignored</a:t>
            </a:r>
            <a:r>
              <a:rPr lang="en-US" sz="1800" dirty="0" smtClean="0">
                <a:latin typeface="Cambria Math" panose="02040503050406030204" pitchFamily="18" charset="0"/>
                <a:ea typeface="Cambria Math" panose="02040503050406030204" pitchFamily="18" charset="0"/>
              </a:rPr>
              <a:t>. </a:t>
            </a:r>
          </a:p>
          <a:p>
            <a:r>
              <a:rPr lang="en-US" sz="1800" dirty="0" smtClean="0">
                <a:latin typeface="Cambria Math" panose="02040503050406030204" pitchFamily="18" charset="0"/>
                <a:ea typeface="Cambria Math" panose="02040503050406030204" pitchFamily="18" charset="0"/>
              </a:rPr>
              <a:t>For the </a:t>
            </a:r>
            <a:r>
              <a:rPr lang="en-US" sz="1800" b="1" dirty="0" smtClean="0">
                <a:latin typeface="Cambria Math" panose="02040503050406030204" pitchFamily="18" charset="0"/>
                <a:ea typeface="Cambria Math" panose="02040503050406030204" pitchFamily="18" charset="0"/>
              </a:rPr>
              <a:t>else</a:t>
            </a:r>
            <a:r>
              <a:rPr lang="en-US" sz="1800" dirty="0" smtClean="0">
                <a:latin typeface="Cambria Math" panose="02040503050406030204" pitchFamily="18" charset="0"/>
                <a:ea typeface="Cambria Math" panose="02040503050406030204" pitchFamily="18" charset="0"/>
              </a:rPr>
              <a:t> statement, if the </a:t>
            </a:r>
            <a:r>
              <a:rPr lang="en-US" sz="1800" b="1" dirty="0" smtClean="0">
                <a:latin typeface="Cambria Math" panose="02040503050406030204" pitchFamily="18" charset="0"/>
                <a:ea typeface="Cambria Math" panose="02040503050406030204" pitchFamily="18" charset="0"/>
              </a:rPr>
              <a:t>condition is true</a:t>
            </a:r>
            <a:r>
              <a:rPr lang="en-US" sz="1800" dirty="0" smtClean="0">
                <a:latin typeface="Cambria Math" panose="02040503050406030204" pitchFamily="18" charset="0"/>
                <a:ea typeface="Cambria Math" panose="02040503050406030204" pitchFamily="18" charset="0"/>
              </a:rPr>
              <a:t>, then the </a:t>
            </a:r>
            <a:r>
              <a:rPr lang="en-US" sz="1800" b="1" dirty="0" smtClean="0">
                <a:latin typeface="Cambria Math" panose="02040503050406030204" pitchFamily="18" charset="0"/>
                <a:ea typeface="Cambria Math" panose="02040503050406030204" pitchFamily="18" charset="0"/>
              </a:rPr>
              <a:t>statements inside the else block are ignored</a:t>
            </a:r>
            <a:r>
              <a:rPr lang="en-US" sz="1800" dirty="0" smtClean="0">
                <a:latin typeface="Cambria Math" panose="02040503050406030204" pitchFamily="18" charset="0"/>
                <a:ea typeface="Cambria Math" panose="02040503050406030204" pitchFamily="18" charset="0"/>
              </a:rPr>
              <a:t>. If the </a:t>
            </a:r>
            <a:r>
              <a:rPr lang="en-US" sz="1800" b="1" dirty="0" smtClean="0">
                <a:latin typeface="Cambria Math" panose="02040503050406030204" pitchFamily="18" charset="0"/>
                <a:ea typeface="Cambria Math" panose="02040503050406030204" pitchFamily="18" charset="0"/>
              </a:rPr>
              <a:t>condition is false</a:t>
            </a:r>
            <a:r>
              <a:rPr lang="en-US" sz="1800" dirty="0" smtClean="0">
                <a:latin typeface="Cambria Math" panose="02040503050406030204" pitchFamily="18" charset="0"/>
                <a:ea typeface="Cambria Math" panose="02040503050406030204" pitchFamily="18" charset="0"/>
              </a:rPr>
              <a:t>, then the </a:t>
            </a:r>
            <a:r>
              <a:rPr lang="en-US" sz="1800" b="1" dirty="0" smtClean="0">
                <a:latin typeface="Cambria Math" panose="02040503050406030204" pitchFamily="18" charset="0"/>
                <a:ea typeface="Cambria Math" panose="02040503050406030204" pitchFamily="18" charset="0"/>
              </a:rPr>
              <a:t>statements inside the else block gets executed</a:t>
            </a:r>
            <a:r>
              <a:rPr lang="en-US" sz="1800" dirty="0" smtClean="0">
                <a:latin typeface="Cambria Math" panose="02040503050406030204" pitchFamily="18" charset="0"/>
                <a:ea typeface="Cambria Math" panose="02040503050406030204" pitchFamily="18" charset="0"/>
              </a:rPr>
              <a:t>.</a:t>
            </a:r>
            <a:endParaRPr lang="en-US" sz="18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447023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3174" y="1236759"/>
            <a:ext cx="8216054" cy="1804468"/>
          </a:xfrm>
        </p:spPr>
        <p:txBody>
          <a:bodyPr>
            <a:normAutofit fontScale="85000" lnSpcReduction="10000"/>
          </a:bodyPr>
          <a:lstStyle/>
          <a:p>
            <a:r>
              <a:rPr lang="en-US" sz="1900" dirty="0" smtClean="0">
                <a:latin typeface="Cambria Math" panose="02040503050406030204" pitchFamily="18" charset="0"/>
                <a:ea typeface="Cambria Math" panose="02040503050406030204" pitchFamily="18" charset="0"/>
              </a:rPr>
              <a:t>The test in an ‘</a:t>
            </a:r>
            <a:r>
              <a:rPr lang="en-US" sz="1900" b="1" dirty="0" smtClean="0">
                <a:latin typeface="Cambria Math" panose="02040503050406030204" pitchFamily="18" charset="0"/>
                <a:ea typeface="Cambria Math" panose="02040503050406030204" pitchFamily="18" charset="0"/>
              </a:rPr>
              <a:t>if</a:t>
            </a:r>
            <a:r>
              <a:rPr lang="en-US" sz="1900" dirty="0" smtClean="0">
                <a:latin typeface="Cambria Math" panose="02040503050406030204" pitchFamily="18" charset="0"/>
                <a:ea typeface="Cambria Math" panose="02040503050406030204" pitchFamily="18" charset="0"/>
              </a:rPr>
              <a:t>’ statement is based on condition. To form condition, six relational operators are used to compare values. The result of the comparison is either </a:t>
            </a:r>
            <a:r>
              <a:rPr lang="en-US" sz="1900" b="1" dirty="0" smtClean="0">
                <a:latin typeface="Cambria Math" panose="02040503050406030204" pitchFamily="18" charset="0"/>
                <a:ea typeface="Cambria Math" panose="02040503050406030204" pitchFamily="18" charset="0"/>
              </a:rPr>
              <a:t>True</a:t>
            </a:r>
            <a:r>
              <a:rPr lang="en-US" sz="1900" dirty="0" smtClean="0">
                <a:latin typeface="Cambria Math" panose="02040503050406030204" pitchFamily="18" charset="0"/>
                <a:ea typeface="Cambria Math" panose="02040503050406030204" pitchFamily="18" charset="0"/>
              </a:rPr>
              <a:t> or </a:t>
            </a:r>
            <a:r>
              <a:rPr lang="en-US" sz="1900" b="1" dirty="0" smtClean="0">
                <a:latin typeface="Cambria Math" panose="02040503050406030204" pitchFamily="18" charset="0"/>
                <a:ea typeface="Cambria Math" panose="02040503050406030204" pitchFamily="18" charset="0"/>
              </a:rPr>
              <a:t>False</a:t>
            </a:r>
            <a:r>
              <a:rPr lang="en-US" sz="1900" dirty="0" smtClean="0">
                <a:latin typeface="Cambria Math" panose="02040503050406030204" pitchFamily="18" charset="0"/>
                <a:ea typeface="Cambria Math" panose="02040503050406030204" pitchFamily="18" charset="0"/>
              </a:rPr>
              <a:t>.</a:t>
            </a:r>
          </a:p>
          <a:p>
            <a:r>
              <a:rPr lang="en-US" sz="1900" b="1" dirty="0" smtClean="0">
                <a:latin typeface="Cambria Math" panose="02040503050406030204" pitchFamily="18" charset="0"/>
                <a:ea typeface="Cambria Math" panose="02040503050406030204" pitchFamily="18" charset="0"/>
              </a:rPr>
              <a:t>Relational Operators</a:t>
            </a:r>
            <a:r>
              <a:rPr lang="en-US" sz="1900" dirty="0" smtClean="0">
                <a:latin typeface="Cambria Math" panose="02040503050406030204" pitchFamily="18" charset="0"/>
                <a:ea typeface="Cambria Math" panose="02040503050406030204" pitchFamily="18" charset="0"/>
              </a:rPr>
              <a:t> from Relational Operation are used to compare two values with each other.</a:t>
            </a:r>
          </a:p>
          <a:p>
            <a:r>
              <a:rPr lang="en-US" sz="1900" dirty="0">
                <a:latin typeface="Cambria Math" panose="02040503050406030204" pitchFamily="18" charset="0"/>
                <a:ea typeface="Cambria Math" panose="02040503050406030204" pitchFamily="18" charset="0"/>
              </a:rPr>
              <a:t>Relational operators take two operands, compare their values, and return a Boolean value (true or false). They are typically used in conditional expressions to test whether a condition is true, or not.</a:t>
            </a:r>
            <a:endParaRPr lang="en-US" sz="1900" dirty="0" smtClean="0">
              <a:latin typeface="Cambria Math" panose="02040503050406030204" pitchFamily="18" charset="0"/>
              <a:ea typeface="Cambria Math" panose="02040503050406030204" pitchFamily="18" charset="0"/>
            </a:endParaRPr>
          </a:p>
          <a:p>
            <a:pPr marL="0" indent="0">
              <a:buNone/>
            </a:pPr>
            <a:endParaRPr lang="en-US" dirty="0">
              <a:latin typeface="Cambria Math" panose="02040503050406030204" pitchFamily="18" charset="0"/>
              <a:ea typeface="Cambria Math" panose="02040503050406030204" pitchFamily="18" charset="0"/>
            </a:endParaRPr>
          </a:p>
        </p:txBody>
      </p:sp>
      <p:graphicFrame>
        <p:nvGraphicFramePr>
          <p:cNvPr id="4" name="Content Placeholder 3"/>
          <p:cNvGraphicFramePr>
            <a:graphicFrameLocks/>
          </p:cNvGraphicFramePr>
          <p:nvPr>
            <p:extLst>
              <p:ext uri="{D42A27DB-BD31-4B8C-83A1-F6EECF244321}">
                <p14:modId xmlns:p14="http://schemas.microsoft.com/office/powerpoint/2010/main" val="3427654830"/>
              </p:ext>
            </p:extLst>
          </p:nvPr>
        </p:nvGraphicFramePr>
        <p:xfrm>
          <a:off x="584753" y="3602788"/>
          <a:ext cx="7915045" cy="1038860"/>
        </p:xfrm>
        <a:graphic>
          <a:graphicData uri="http://schemas.openxmlformats.org/drawingml/2006/table">
            <a:tbl>
              <a:tblPr firstRow="1" bandRow="1">
                <a:tableStyleId>{5940675A-B579-460E-94D1-54222C63F5DA}</a:tableStyleId>
              </a:tblPr>
              <a:tblGrid>
                <a:gridCol w="885138"/>
                <a:gridCol w="1514247"/>
                <a:gridCol w="885139"/>
                <a:gridCol w="1521561"/>
                <a:gridCol w="899770"/>
                <a:gridCol w="2209190"/>
              </a:tblGrid>
              <a:tr h="0">
                <a:tc>
                  <a:txBody>
                    <a:bodyPr/>
                    <a:lstStyle/>
                    <a:p>
                      <a:r>
                        <a:rPr lang="en-US" b="1" dirty="0" smtClean="0">
                          <a:latin typeface="Cambria Math" panose="02040503050406030204" pitchFamily="18" charset="0"/>
                          <a:ea typeface="Cambria Math" panose="02040503050406030204" pitchFamily="18" charset="0"/>
                        </a:rPr>
                        <a:t>Symbol </a:t>
                      </a:r>
                      <a:endParaRPr lang="en-US" b="1" dirty="0">
                        <a:latin typeface="Cambria Math" panose="02040503050406030204" pitchFamily="18" charset="0"/>
                        <a:ea typeface="Cambria Math" panose="02040503050406030204" pitchFamily="18" charset="0"/>
                      </a:endParaRPr>
                    </a:p>
                  </a:txBody>
                  <a:tcPr/>
                </a:tc>
                <a:tc>
                  <a:txBody>
                    <a:bodyPr/>
                    <a:lstStyle/>
                    <a:p>
                      <a:r>
                        <a:rPr lang="en-US" b="1" dirty="0" smtClean="0">
                          <a:latin typeface="Cambria Math" panose="02040503050406030204" pitchFamily="18" charset="0"/>
                          <a:ea typeface="Cambria Math" panose="02040503050406030204" pitchFamily="18" charset="0"/>
                        </a:rPr>
                        <a:t>Description</a:t>
                      </a:r>
                      <a:endParaRPr lang="en-US" b="1" dirty="0">
                        <a:latin typeface="Cambria Math" panose="02040503050406030204" pitchFamily="18" charset="0"/>
                        <a:ea typeface="Cambria Math" panose="020405030504060302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dirty="0" smtClean="0">
                          <a:latin typeface="Cambria Math" panose="02040503050406030204" pitchFamily="18" charset="0"/>
                          <a:ea typeface="Cambria Math" panose="02040503050406030204" pitchFamily="18" charset="0"/>
                        </a:rPr>
                        <a:t>Symbol </a:t>
                      </a:r>
                    </a:p>
                  </a:txBody>
                  <a:tcPr/>
                </a:tc>
                <a:tc>
                  <a:txBody>
                    <a:bodyPr/>
                    <a:lstStyle/>
                    <a:p>
                      <a:r>
                        <a:rPr lang="en-US" b="1" dirty="0" smtClean="0">
                          <a:latin typeface="Cambria Math" panose="02040503050406030204" pitchFamily="18" charset="0"/>
                          <a:ea typeface="Cambria Math" panose="02040503050406030204" pitchFamily="18" charset="0"/>
                        </a:rPr>
                        <a:t>Description</a:t>
                      </a:r>
                      <a:endParaRPr lang="en-US" b="1" dirty="0">
                        <a:latin typeface="Cambria Math" panose="02040503050406030204" pitchFamily="18" charset="0"/>
                        <a:ea typeface="Cambria Math" panose="02040503050406030204" pitchFamily="18" charset="0"/>
                      </a:endParaRPr>
                    </a:p>
                  </a:txBody>
                  <a:tcPr/>
                </a:tc>
                <a:tc>
                  <a:txBody>
                    <a:bodyPr/>
                    <a:lstStyle/>
                    <a:p>
                      <a:r>
                        <a:rPr lang="en-US" b="1" dirty="0" smtClean="0">
                          <a:latin typeface="Cambria Math" panose="02040503050406030204" pitchFamily="18" charset="0"/>
                          <a:ea typeface="Cambria Math" panose="02040503050406030204" pitchFamily="18" charset="0"/>
                        </a:rPr>
                        <a:t>Symbol</a:t>
                      </a:r>
                      <a:endParaRPr lang="en-US" b="1" dirty="0">
                        <a:latin typeface="Cambria Math" panose="02040503050406030204" pitchFamily="18" charset="0"/>
                        <a:ea typeface="Cambria Math" panose="02040503050406030204" pitchFamily="18" charset="0"/>
                      </a:endParaRPr>
                    </a:p>
                  </a:txBody>
                  <a:tcPr/>
                </a:tc>
                <a:tc>
                  <a:txBody>
                    <a:bodyPr/>
                    <a:lstStyle/>
                    <a:p>
                      <a:r>
                        <a:rPr lang="en-US" b="1" dirty="0" smtClean="0">
                          <a:latin typeface="Cambria Math" panose="02040503050406030204" pitchFamily="18" charset="0"/>
                          <a:ea typeface="Cambria Math" panose="02040503050406030204" pitchFamily="18" charset="0"/>
                        </a:rPr>
                        <a:t>Description</a:t>
                      </a:r>
                      <a:endParaRPr lang="en-US" b="1" dirty="0">
                        <a:latin typeface="Cambria Math" panose="02040503050406030204" pitchFamily="18" charset="0"/>
                        <a:ea typeface="Cambria Math" panose="02040503050406030204" pitchFamily="18" charset="0"/>
                      </a:endParaRPr>
                    </a:p>
                  </a:txBody>
                  <a:tcPr/>
                </a:tc>
              </a:tr>
              <a:tr h="370840">
                <a:tc>
                  <a:txBody>
                    <a:bodyPr/>
                    <a:lstStyle/>
                    <a:p>
                      <a:r>
                        <a:rPr lang="en-US" dirty="0" smtClean="0">
                          <a:latin typeface="Cambria Math" panose="02040503050406030204" pitchFamily="18" charset="0"/>
                          <a:ea typeface="Cambria Math" panose="02040503050406030204" pitchFamily="18" charset="0"/>
                        </a:rPr>
                        <a:t>&gt;</a:t>
                      </a:r>
                      <a:endParaRPr lang="en-US"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Greater Than</a:t>
                      </a:r>
                      <a:endParaRPr lang="en-US"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a:t>
                      </a:r>
                      <a:endParaRPr lang="en-US"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Equal to</a:t>
                      </a:r>
                      <a:endParaRPr lang="en-US" dirty="0">
                        <a:latin typeface="Cambria Math" panose="02040503050406030204" pitchFamily="18" charset="0"/>
                        <a:ea typeface="Cambria Math" panose="020405030504060302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Cambria Math" panose="02040503050406030204" pitchFamily="18" charset="0"/>
                          <a:ea typeface="Cambria Math" panose="02040503050406030204" pitchFamily="18" charset="0"/>
                        </a:rPr>
                        <a:t>&gt;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Cambria Math" panose="02040503050406030204" pitchFamily="18" charset="0"/>
                          <a:ea typeface="Cambria Math" panose="02040503050406030204" pitchFamily="18" charset="0"/>
                        </a:rPr>
                        <a:t>Greater than or equal</a:t>
                      </a:r>
                      <a:r>
                        <a:rPr lang="en-US" baseline="0" dirty="0" smtClean="0">
                          <a:latin typeface="Cambria Math" panose="02040503050406030204" pitchFamily="18" charset="0"/>
                          <a:ea typeface="Cambria Math" panose="02040503050406030204" pitchFamily="18" charset="0"/>
                        </a:rPr>
                        <a:t> to</a:t>
                      </a:r>
                      <a:endParaRPr lang="en-US" dirty="0" smtClean="0">
                        <a:latin typeface="Cambria Math" panose="02040503050406030204" pitchFamily="18" charset="0"/>
                        <a:ea typeface="Cambria Math" panose="02040503050406030204" pitchFamily="18" charset="0"/>
                      </a:endParaRPr>
                    </a:p>
                  </a:txBody>
                  <a:tcPr/>
                </a:tc>
              </a:tr>
              <a:tr h="370840">
                <a:tc>
                  <a:txBody>
                    <a:bodyPr/>
                    <a:lstStyle/>
                    <a:p>
                      <a:r>
                        <a:rPr lang="en-US" dirty="0" smtClean="0">
                          <a:latin typeface="Cambria Math" panose="02040503050406030204" pitchFamily="18" charset="0"/>
                          <a:ea typeface="Cambria Math" panose="02040503050406030204" pitchFamily="18" charset="0"/>
                        </a:rPr>
                        <a:t>&lt;</a:t>
                      </a:r>
                      <a:endParaRPr lang="en-US"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Less Than </a:t>
                      </a:r>
                      <a:endParaRPr lang="en-US" dirty="0">
                        <a:latin typeface="Cambria Math" panose="02040503050406030204" pitchFamily="18" charset="0"/>
                        <a:ea typeface="Cambria Math" panose="020405030504060302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Cambria Math" panose="02040503050406030204" pitchFamily="18" charset="0"/>
                          <a:ea typeface="Cambria Math" panose="02040503050406030204" pitchFamily="18" charset="0"/>
                        </a:rPr>
                        <a:t>&lt;</a:t>
                      </a:r>
                      <a:r>
                        <a:rPr lang="en-US" baseline="0" dirty="0" smtClean="0">
                          <a:latin typeface="Cambria Math" panose="02040503050406030204" pitchFamily="18" charset="0"/>
                          <a:ea typeface="Cambria Math" panose="02040503050406030204" pitchFamily="18" charset="0"/>
                        </a:rPr>
                        <a:t> &gt;</a:t>
                      </a:r>
                      <a:endParaRPr lang="en-US" dirty="0" smtClean="0">
                        <a:latin typeface="Cambria Math" panose="02040503050406030204" pitchFamily="18" charset="0"/>
                        <a:ea typeface="Cambria Math" panose="020405030504060302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Cambria Math" panose="02040503050406030204" pitchFamily="18" charset="0"/>
                          <a:ea typeface="Cambria Math" panose="02040503050406030204" pitchFamily="18" charset="0"/>
                        </a:rPr>
                        <a:t>Not equal to</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Cambria Math" panose="02040503050406030204" pitchFamily="18" charset="0"/>
                          <a:ea typeface="Cambria Math" panose="02040503050406030204" pitchFamily="18" charset="0"/>
                        </a:rPr>
                        <a:t>&lt; = </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Cambria Math" panose="02040503050406030204" pitchFamily="18" charset="0"/>
                          <a:ea typeface="Cambria Math" panose="02040503050406030204" pitchFamily="18" charset="0"/>
                        </a:rPr>
                        <a:t>Less than or equal to</a:t>
                      </a:r>
                    </a:p>
                  </a:txBody>
                  <a:tcPr/>
                </a:tc>
              </a:tr>
            </a:tbl>
          </a:graphicData>
        </a:graphic>
      </p:graphicFrame>
      <p:sp>
        <p:nvSpPr>
          <p:cNvPr id="5" name="Title 1"/>
          <p:cNvSpPr txBox="1">
            <a:spLocks/>
          </p:cNvSpPr>
          <p:nvPr/>
        </p:nvSpPr>
        <p:spPr>
          <a:xfrm>
            <a:off x="1381761" y="2946400"/>
            <a:ext cx="5229892" cy="560230"/>
          </a:xfrm>
          <a:prstGeom prst="rect">
            <a:avLst/>
          </a:prstGeom>
        </p:spPr>
        <p:txBody>
          <a:bodyPr vert="horz" lIns="91440" tIns="45720" rIns="91440" bIns="45720" rtlCol="0" anchor="ctr">
            <a:noAutofit/>
          </a:bodyPr>
          <a:lstStyle>
            <a:lvl1pPr algn="r" defTabSz="914400" rtl="0" eaLnBrk="1" latinLnBrk="0" hangingPunct="1">
              <a:spcBef>
                <a:spcPct val="0"/>
              </a:spcBef>
              <a:buNone/>
              <a:defRPr sz="3600" kern="1200" baseline="0">
                <a:solidFill>
                  <a:srgbClr val="DBF200"/>
                </a:solidFill>
                <a:effectLst>
                  <a:outerShdw blurRad="50800" dist="38100" dir="2700000" algn="tl" rotWithShape="0">
                    <a:prstClr val="black">
                      <a:alpha val="40000"/>
                    </a:prstClr>
                  </a:outerShdw>
                </a:effectLst>
                <a:latin typeface="+mj-lt"/>
                <a:ea typeface="+mj-ea"/>
                <a:cs typeface="+mj-cs"/>
              </a:defRPr>
            </a:lvl1pPr>
          </a:lstStyle>
          <a:p>
            <a:pPr algn="ctr"/>
            <a:r>
              <a:rPr lang="en-US" sz="1800" b="1" dirty="0" smtClean="0">
                <a:solidFill>
                  <a:schemeClr val="tx2">
                    <a:lumMod val="75000"/>
                  </a:schemeClr>
                </a:solidFill>
                <a:latin typeface="Cambria Math" panose="02040503050406030204" pitchFamily="18" charset="0"/>
                <a:ea typeface="Cambria Math" panose="02040503050406030204" pitchFamily="18" charset="0"/>
              </a:rPr>
              <a:t>Table showing the common relational operators</a:t>
            </a:r>
            <a:endParaRPr lang="en-US" sz="1800" b="1" dirty="0">
              <a:solidFill>
                <a:schemeClr val="tx2">
                  <a:lumMod val="75000"/>
                </a:schemeClr>
              </a:solidFill>
              <a:latin typeface="Cambria Math" panose="02040503050406030204" pitchFamily="18" charset="0"/>
              <a:ea typeface="Cambria Math" panose="02040503050406030204" pitchFamily="18" charset="0"/>
            </a:endParaRPr>
          </a:p>
        </p:txBody>
      </p:sp>
      <p:sp>
        <p:nvSpPr>
          <p:cNvPr id="6" name="Title 1"/>
          <p:cNvSpPr txBox="1">
            <a:spLocks/>
          </p:cNvSpPr>
          <p:nvPr/>
        </p:nvSpPr>
        <p:spPr>
          <a:xfrm>
            <a:off x="1320800" y="314155"/>
            <a:ext cx="7178998" cy="602827"/>
          </a:xfrm>
          <a:prstGeom prst="rect">
            <a:avLst/>
          </a:prstGeom>
          <a:solidFill>
            <a:schemeClr val="bg1"/>
          </a:solidFill>
        </p:spPr>
        <p:txBody>
          <a:bodyPr vert="horz" lIns="91440" tIns="45720" rIns="91440" bIns="45720" rtlCol="0" anchor="ctr">
            <a:normAutofit fontScale="92500"/>
          </a:bodyPr>
          <a:lstStyle>
            <a:lvl1pPr algn="r" defTabSz="914400" rtl="0" eaLnBrk="1" latinLnBrk="0" hangingPunct="1">
              <a:spcBef>
                <a:spcPct val="0"/>
              </a:spcBef>
              <a:buNone/>
              <a:defRPr sz="3600" kern="1200" baseline="0">
                <a:solidFill>
                  <a:schemeClr val="bg1"/>
                </a:solidFill>
                <a:effectLst>
                  <a:outerShdw blurRad="50800" dist="38100" dir="2700000" algn="tl" rotWithShape="0">
                    <a:prstClr val="black">
                      <a:alpha val="40000"/>
                    </a:prstClr>
                  </a:outerShdw>
                </a:effectLst>
                <a:latin typeface="+mj-lt"/>
                <a:ea typeface="+mj-ea"/>
                <a:cs typeface="+mj-cs"/>
              </a:defRPr>
            </a:lvl1pPr>
          </a:lstStyle>
          <a:p>
            <a:pPr algn="ctr"/>
            <a:r>
              <a:rPr lang="en-US" sz="3200" b="1" dirty="0" smtClean="0">
                <a:solidFill>
                  <a:schemeClr val="tx1">
                    <a:lumMod val="95000"/>
                    <a:lumOff val="5000"/>
                  </a:schemeClr>
                </a:solidFill>
                <a:latin typeface="Cambria Math" panose="02040503050406030204" pitchFamily="18" charset="0"/>
                <a:ea typeface="Cambria Math" panose="02040503050406030204" pitchFamily="18" charset="0"/>
              </a:rPr>
              <a:t>6.2 The Relational (Comparison) Operation</a:t>
            </a:r>
            <a:endParaRPr lang="en-US" sz="3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8198867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5519" y="248661"/>
            <a:ext cx="3401360" cy="408353"/>
          </a:xfrm>
        </p:spPr>
        <p:txBody>
          <a:bodyPr>
            <a:normAutofit fontScale="90000"/>
          </a:bodyPr>
          <a:lstStyle/>
          <a:p>
            <a:pPr algn="ctr"/>
            <a:r>
              <a:rPr lang="en-US" sz="2000" b="1" dirty="0" smtClean="0">
                <a:solidFill>
                  <a:srgbClr val="0000CC"/>
                </a:solidFill>
                <a:latin typeface="Cambria Math" panose="02040503050406030204" pitchFamily="18" charset="0"/>
                <a:ea typeface="Cambria Math" panose="02040503050406030204" pitchFamily="18" charset="0"/>
              </a:rPr>
              <a:t>Sample Example of Comparison</a:t>
            </a:r>
            <a:endParaRPr lang="en-US" sz="2000" b="1" dirty="0">
              <a:solidFill>
                <a:srgbClr val="0000CC"/>
              </a:solidFill>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2594187" y="906276"/>
            <a:ext cx="4727786" cy="522897"/>
          </a:xfrm>
          <a:noFill/>
        </p:spPr>
        <p:txBody>
          <a:bodyPr>
            <a:normAutofit fontScale="25000" lnSpcReduction="20000"/>
          </a:bodyPr>
          <a:lstStyle/>
          <a:p>
            <a:pPr marL="0" indent="0" algn="ctr">
              <a:buNone/>
            </a:pPr>
            <a:r>
              <a:rPr lang="en-US" sz="7200" dirty="0" smtClean="0">
                <a:solidFill>
                  <a:schemeClr val="tx1"/>
                </a:solidFill>
                <a:latin typeface="Cambria Math" panose="02040503050406030204" pitchFamily="18" charset="0"/>
                <a:ea typeface="Cambria Math" panose="02040503050406030204" pitchFamily="18" charset="0"/>
              </a:rPr>
              <a:t>Given these: </a:t>
            </a:r>
          </a:p>
          <a:p>
            <a:pPr marL="0" indent="0" algn="ctr">
              <a:buNone/>
            </a:pPr>
            <a:r>
              <a:rPr lang="en-US" sz="7200" dirty="0" err="1" smtClean="0">
                <a:solidFill>
                  <a:schemeClr val="tx1"/>
                </a:solidFill>
                <a:latin typeface="Cambria Math" panose="02040503050406030204" pitchFamily="18" charset="0"/>
                <a:ea typeface="Cambria Math" panose="02040503050406030204" pitchFamily="18" charset="0"/>
              </a:rPr>
              <a:t>intAlpha</a:t>
            </a:r>
            <a:r>
              <a:rPr lang="en-US" sz="7200" dirty="0" smtClean="0">
                <a:solidFill>
                  <a:schemeClr val="tx1"/>
                </a:solidFill>
                <a:latin typeface="Cambria Math" panose="02040503050406030204" pitchFamily="18" charset="0"/>
                <a:ea typeface="Cambria Math" panose="02040503050406030204" pitchFamily="18" charset="0"/>
              </a:rPr>
              <a:t> = 5, </a:t>
            </a:r>
            <a:r>
              <a:rPr lang="en-US" sz="7200" dirty="0" err="1" smtClean="0">
                <a:solidFill>
                  <a:schemeClr val="tx1"/>
                </a:solidFill>
                <a:latin typeface="Cambria Math" panose="02040503050406030204" pitchFamily="18" charset="0"/>
                <a:ea typeface="Cambria Math" panose="02040503050406030204" pitchFamily="18" charset="0"/>
              </a:rPr>
              <a:t>intBravo</a:t>
            </a:r>
            <a:r>
              <a:rPr lang="en-US" sz="7200" dirty="0" smtClean="0">
                <a:solidFill>
                  <a:schemeClr val="tx1"/>
                </a:solidFill>
                <a:latin typeface="Cambria Math" panose="02040503050406030204" pitchFamily="18" charset="0"/>
                <a:ea typeface="Cambria Math" panose="02040503050406030204" pitchFamily="18" charset="0"/>
              </a:rPr>
              <a:t> = 4, </a:t>
            </a:r>
            <a:r>
              <a:rPr lang="en-US" sz="7200" dirty="0" err="1" smtClean="0">
                <a:solidFill>
                  <a:schemeClr val="tx1"/>
                </a:solidFill>
                <a:latin typeface="Cambria Math" panose="02040503050406030204" pitchFamily="18" charset="0"/>
                <a:ea typeface="Cambria Math" panose="02040503050406030204" pitchFamily="18" charset="0"/>
              </a:rPr>
              <a:t>intCharlie</a:t>
            </a:r>
            <a:r>
              <a:rPr lang="en-US" sz="7200" dirty="0" smtClean="0">
                <a:solidFill>
                  <a:schemeClr val="tx1"/>
                </a:solidFill>
                <a:latin typeface="Cambria Math" panose="02040503050406030204" pitchFamily="18" charset="0"/>
                <a:ea typeface="Cambria Math" panose="02040503050406030204" pitchFamily="18" charset="0"/>
              </a:rPr>
              <a:t> = -5</a:t>
            </a:r>
          </a:p>
          <a:p>
            <a:endParaRPr lang="en-US" dirty="0">
              <a:latin typeface="Cambria Math" panose="02040503050406030204" pitchFamily="18" charset="0"/>
              <a:ea typeface="Cambria Math" panose="02040503050406030204" pitchFamily="18" charset="0"/>
            </a:endParaRPr>
          </a:p>
          <a:p>
            <a:pPr marL="0" indent="0">
              <a:buNone/>
            </a:pPr>
            <a:endParaRPr lang="en-US" dirty="0" smtClean="0">
              <a:latin typeface="Cambria Math" panose="02040503050406030204" pitchFamily="18" charset="0"/>
              <a:ea typeface="Cambria Math" panose="020405030504060302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1763645518"/>
              </p:ext>
            </p:extLst>
          </p:nvPr>
        </p:nvGraphicFramePr>
        <p:xfrm>
          <a:off x="2961573" y="1599238"/>
          <a:ext cx="4115920" cy="2918153"/>
        </p:xfrm>
        <a:graphic>
          <a:graphicData uri="http://schemas.openxmlformats.org/drawingml/2006/table">
            <a:tbl>
              <a:tblPr firstRow="1" bandRow="1">
                <a:tableStyleId>{5940675A-B579-460E-94D1-54222C63F5DA}</a:tableStyleId>
              </a:tblPr>
              <a:tblGrid>
                <a:gridCol w="2531832"/>
                <a:gridCol w="1584088"/>
              </a:tblGrid>
              <a:tr h="416879">
                <a:tc>
                  <a:txBody>
                    <a:bodyPr/>
                    <a:lstStyle/>
                    <a:p>
                      <a:r>
                        <a:rPr lang="en-US" b="1" dirty="0" smtClean="0">
                          <a:latin typeface="Cambria Math" panose="02040503050406030204" pitchFamily="18" charset="0"/>
                          <a:ea typeface="Cambria Math" panose="02040503050406030204" pitchFamily="18" charset="0"/>
                        </a:rPr>
                        <a:t>Condition </a:t>
                      </a:r>
                      <a:endParaRPr lang="en-US" b="1" dirty="0">
                        <a:latin typeface="Cambria Math" panose="02040503050406030204" pitchFamily="18" charset="0"/>
                        <a:ea typeface="Cambria Math" panose="02040503050406030204" pitchFamily="18" charset="0"/>
                      </a:endParaRPr>
                    </a:p>
                  </a:txBody>
                  <a:tcPr/>
                </a:tc>
                <a:tc>
                  <a:txBody>
                    <a:bodyPr/>
                    <a:lstStyle/>
                    <a:p>
                      <a:r>
                        <a:rPr lang="en-US" b="1" dirty="0" smtClean="0">
                          <a:latin typeface="Cambria Math" panose="02040503050406030204" pitchFamily="18" charset="0"/>
                          <a:ea typeface="Cambria Math" panose="02040503050406030204" pitchFamily="18" charset="0"/>
                        </a:rPr>
                        <a:t>Evaluates </a:t>
                      </a:r>
                      <a:endParaRPr lang="en-US" b="1" dirty="0">
                        <a:latin typeface="Cambria Math" panose="02040503050406030204" pitchFamily="18" charset="0"/>
                        <a:ea typeface="Cambria Math" panose="02040503050406030204" pitchFamily="18" charset="0"/>
                      </a:endParaRPr>
                    </a:p>
                  </a:txBody>
                  <a:tcPr/>
                </a:tc>
              </a:tr>
              <a:tr h="416879">
                <a:tc>
                  <a:txBody>
                    <a:bodyPr/>
                    <a:lstStyle/>
                    <a:p>
                      <a:r>
                        <a:rPr lang="en-US" dirty="0" err="1" smtClean="0">
                          <a:latin typeface="Cambria Math" panose="02040503050406030204" pitchFamily="18" charset="0"/>
                          <a:ea typeface="Cambria Math" panose="02040503050406030204" pitchFamily="18" charset="0"/>
                        </a:rPr>
                        <a:t>intAlpha</a:t>
                      </a:r>
                      <a:r>
                        <a:rPr lang="en-US" dirty="0" smtClean="0">
                          <a:latin typeface="Cambria Math" panose="02040503050406030204" pitchFamily="18" charset="0"/>
                          <a:ea typeface="Cambria Math" panose="02040503050406030204" pitchFamily="18" charset="0"/>
                        </a:rPr>
                        <a:t> = </a:t>
                      </a:r>
                      <a:r>
                        <a:rPr lang="en-US" dirty="0" err="1" smtClean="0">
                          <a:latin typeface="Cambria Math" panose="02040503050406030204" pitchFamily="18" charset="0"/>
                          <a:ea typeface="Cambria Math" panose="02040503050406030204" pitchFamily="18" charset="0"/>
                        </a:rPr>
                        <a:t>intBravo</a:t>
                      </a:r>
                      <a:endParaRPr lang="en-US"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False </a:t>
                      </a:r>
                      <a:endParaRPr lang="en-US" dirty="0">
                        <a:latin typeface="Cambria Math" panose="02040503050406030204" pitchFamily="18" charset="0"/>
                        <a:ea typeface="Cambria Math" panose="02040503050406030204" pitchFamily="18" charset="0"/>
                      </a:endParaRPr>
                    </a:p>
                  </a:txBody>
                  <a:tcPr/>
                </a:tc>
              </a:tr>
              <a:tr h="416879">
                <a:tc>
                  <a:txBody>
                    <a:bodyPr/>
                    <a:lstStyle/>
                    <a:p>
                      <a:r>
                        <a:rPr lang="en-US" dirty="0" err="1" smtClean="0">
                          <a:latin typeface="Cambria Math" panose="02040503050406030204" pitchFamily="18" charset="0"/>
                          <a:ea typeface="Cambria Math" panose="02040503050406030204" pitchFamily="18" charset="0"/>
                        </a:rPr>
                        <a:t>intCharlie</a:t>
                      </a:r>
                      <a:r>
                        <a:rPr lang="en-US" dirty="0" smtClean="0">
                          <a:latin typeface="Cambria Math" panose="02040503050406030204" pitchFamily="18" charset="0"/>
                          <a:ea typeface="Cambria Math" panose="02040503050406030204" pitchFamily="18" charset="0"/>
                        </a:rPr>
                        <a:t> &lt; 0</a:t>
                      </a:r>
                      <a:endParaRPr lang="en-US"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True </a:t>
                      </a:r>
                      <a:endParaRPr lang="en-US" dirty="0">
                        <a:latin typeface="Cambria Math" panose="02040503050406030204" pitchFamily="18" charset="0"/>
                        <a:ea typeface="Cambria Math" panose="02040503050406030204" pitchFamily="18" charset="0"/>
                      </a:endParaRPr>
                    </a:p>
                  </a:txBody>
                  <a:tcPr/>
                </a:tc>
              </a:tr>
              <a:tr h="416879">
                <a:tc>
                  <a:txBody>
                    <a:bodyPr/>
                    <a:lstStyle/>
                    <a:p>
                      <a:r>
                        <a:rPr lang="en-US" dirty="0" err="1" smtClean="0">
                          <a:latin typeface="Cambria Math" panose="02040503050406030204" pitchFamily="18" charset="0"/>
                          <a:ea typeface="Cambria Math" panose="02040503050406030204" pitchFamily="18" charset="0"/>
                        </a:rPr>
                        <a:t>intBravo</a:t>
                      </a:r>
                      <a:r>
                        <a:rPr lang="en-US" dirty="0" smtClean="0">
                          <a:latin typeface="Cambria Math" panose="02040503050406030204" pitchFamily="18" charset="0"/>
                          <a:ea typeface="Cambria Math" panose="02040503050406030204" pitchFamily="18" charset="0"/>
                        </a:rPr>
                        <a:t> &gt; </a:t>
                      </a:r>
                      <a:r>
                        <a:rPr lang="en-US" dirty="0" err="1" smtClean="0">
                          <a:latin typeface="Cambria Math" panose="02040503050406030204" pitchFamily="18" charset="0"/>
                          <a:ea typeface="Cambria Math" panose="02040503050406030204" pitchFamily="18" charset="0"/>
                        </a:rPr>
                        <a:t>intAlpha</a:t>
                      </a:r>
                      <a:endParaRPr lang="en-US"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False </a:t>
                      </a:r>
                      <a:endParaRPr lang="en-US" dirty="0">
                        <a:latin typeface="Cambria Math" panose="02040503050406030204" pitchFamily="18" charset="0"/>
                        <a:ea typeface="Cambria Math" panose="02040503050406030204" pitchFamily="18" charset="0"/>
                      </a:endParaRPr>
                    </a:p>
                  </a:txBody>
                  <a:tcPr/>
                </a:tc>
              </a:tr>
              <a:tr h="416879">
                <a:tc>
                  <a:txBody>
                    <a:bodyPr/>
                    <a:lstStyle/>
                    <a:p>
                      <a:r>
                        <a:rPr lang="en-US" dirty="0" err="1" smtClean="0">
                          <a:latin typeface="Cambria Math" panose="02040503050406030204" pitchFamily="18" charset="0"/>
                          <a:ea typeface="Cambria Math" panose="02040503050406030204" pitchFamily="18" charset="0"/>
                        </a:rPr>
                        <a:t>intCharlie</a:t>
                      </a:r>
                      <a:r>
                        <a:rPr lang="en-US" dirty="0" smtClean="0">
                          <a:latin typeface="Cambria Math" panose="02040503050406030204" pitchFamily="18" charset="0"/>
                          <a:ea typeface="Cambria Math" panose="02040503050406030204" pitchFamily="18" charset="0"/>
                        </a:rPr>
                        <a:t> &lt; = </a:t>
                      </a:r>
                      <a:r>
                        <a:rPr lang="en-US" dirty="0" err="1" smtClean="0">
                          <a:latin typeface="Cambria Math" panose="02040503050406030204" pitchFamily="18" charset="0"/>
                          <a:ea typeface="Cambria Math" panose="02040503050406030204" pitchFamily="18" charset="0"/>
                        </a:rPr>
                        <a:t>intBravo</a:t>
                      </a:r>
                      <a:endParaRPr lang="en-US"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True </a:t>
                      </a:r>
                      <a:endParaRPr lang="en-US" dirty="0">
                        <a:latin typeface="Cambria Math" panose="02040503050406030204" pitchFamily="18" charset="0"/>
                        <a:ea typeface="Cambria Math" panose="02040503050406030204" pitchFamily="18" charset="0"/>
                      </a:endParaRPr>
                    </a:p>
                  </a:txBody>
                  <a:tcPr/>
                </a:tc>
              </a:tr>
              <a:tr h="416879">
                <a:tc>
                  <a:txBody>
                    <a:bodyPr/>
                    <a:lstStyle/>
                    <a:p>
                      <a:r>
                        <a:rPr lang="en-US" dirty="0" err="1" smtClean="0">
                          <a:latin typeface="Cambria Math" panose="02040503050406030204" pitchFamily="18" charset="0"/>
                          <a:ea typeface="Cambria Math" panose="02040503050406030204" pitchFamily="18" charset="0"/>
                        </a:rPr>
                        <a:t>intAlpha</a:t>
                      </a:r>
                      <a:r>
                        <a:rPr lang="en-US" dirty="0" smtClean="0">
                          <a:latin typeface="Cambria Math" panose="02040503050406030204" pitchFamily="18" charset="0"/>
                          <a:ea typeface="Cambria Math" panose="02040503050406030204" pitchFamily="18" charset="0"/>
                        </a:rPr>
                        <a:t> &gt; = 5</a:t>
                      </a:r>
                      <a:endParaRPr lang="en-US"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True </a:t>
                      </a:r>
                      <a:endParaRPr lang="en-US" dirty="0">
                        <a:latin typeface="Cambria Math" panose="02040503050406030204" pitchFamily="18" charset="0"/>
                        <a:ea typeface="Cambria Math" panose="02040503050406030204" pitchFamily="18" charset="0"/>
                      </a:endParaRPr>
                    </a:p>
                  </a:txBody>
                  <a:tcPr/>
                </a:tc>
              </a:tr>
              <a:tr h="416879">
                <a:tc>
                  <a:txBody>
                    <a:bodyPr/>
                    <a:lstStyle/>
                    <a:p>
                      <a:r>
                        <a:rPr lang="en-US" dirty="0" err="1" smtClean="0">
                          <a:latin typeface="Cambria Math" panose="02040503050406030204" pitchFamily="18" charset="0"/>
                          <a:ea typeface="Cambria Math" panose="02040503050406030204" pitchFamily="18" charset="0"/>
                        </a:rPr>
                        <a:t>intAlpha</a:t>
                      </a:r>
                      <a:r>
                        <a:rPr lang="en-US" dirty="0" smtClean="0">
                          <a:latin typeface="Cambria Math" panose="02040503050406030204" pitchFamily="18" charset="0"/>
                          <a:ea typeface="Cambria Math" panose="02040503050406030204" pitchFamily="18" charset="0"/>
                        </a:rPr>
                        <a:t> &lt; &gt; </a:t>
                      </a:r>
                      <a:r>
                        <a:rPr lang="en-US" dirty="0" err="1" smtClean="0">
                          <a:latin typeface="Cambria Math" panose="02040503050406030204" pitchFamily="18" charset="0"/>
                          <a:ea typeface="Cambria Math" panose="02040503050406030204" pitchFamily="18" charset="0"/>
                        </a:rPr>
                        <a:t>intCharlie</a:t>
                      </a:r>
                      <a:endParaRPr lang="en-US"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True </a:t>
                      </a:r>
                      <a:endParaRPr lang="en-US" dirty="0">
                        <a:latin typeface="Cambria Math" panose="02040503050406030204" pitchFamily="18" charset="0"/>
                        <a:ea typeface="Cambria Math" panose="02040503050406030204" pitchFamily="18" charset="0"/>
                      </a:endParaRPr>
                    </a:p>
                  </a:txBody>
                  <a:tcPr/>
                </a:tc>
              </a:tr>
            </a:tbl>
          </a:graphicData>
        </a:graphic>
      </p:graphicFrame>
    </p:spTree>
    <p:extLst>
      <p:ext uri="{BB962C8B-B14F-4D97-AF65-F5344CB8AC3E}">
        <p14:creationId xmlns:p14="http://schemas.microsoft.com/office/powerpoint/2010/main" val="715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176106" y="128693"/>
            <a:ext cx="8764693" cy="4842934"/>
          </a:xfrm>
        </p:spPr>
        <p:txBody>
          <a:bodyPr>
            <a:normAutofit/>
          </a:bodyPr>
          <a:lstStyle/>
          <a:p>
            <a:r>
              <a:rPr lang="en-US" sz="1800" dirty="0" smtClean="0">
                <a:latin typeface="Cambria Math" panose="02040503050406030204" pitchFamily="18" charset="0"/>
                <a:ea typeface="Cambria Math" panose="02040503050406030204" pitchFamily="18" charset="0"/>
              </a:rPr>
              <a:t>The Relational Operators are also called Comparison Operators because they are used to compare values.</a:t>
            </a:r>
          </a:p>
          <a:p>
            <a:r>
              <a:rPr lang="en-US" sz="1800" dirty="0" smtClean="0">
                <a:latin typeface="Cambria Math" panose="02040503050406030204" pitchFamily="18" charset="0"/>
                <a:ea typeface="Cambria Math" panose="02040503050406030204" pitchFamily="18" charset="0"/>
              </a:rPr>
              <a:t>Relational Operators can </a:t>
            </a:r>
            <a:r>
              <a:rPr lang="en-US" sz="1800" dirty="0">
                <a:latin typeface="Cambria Math" panose="02040503050406030204" pitchFamily="18" charset="0"/>
                <a:ea typeface="Cambria Math" panose="02040503050406030204" pitchFamily="18" charset="0"/>
              </a:rPr>
              <a:t>b</a:t>
            </a:r>
            <a:r>
              <a:rPr lang="en-US" sz="1800" dirty="0" smtClean="0">
                <a:latin typeface="Cambria Math" panose="02040503050406030204" pitchFamily="18" charset="0"/>
                <a:ea typeface="Cambria Math" panose="02040503050406030204" pitchFamily="18" charset="0"/>
              </a:rPr>
              <a:t>e used to compare the following values: </a:t>
            </a:r>
          </a:p>
          <a:p>
            <a:pPr lvl="1">
              <a:buFont typeface="Symbol" panose="05050102010706020507" pitchFamily="18" charset="2"/>
              <a:buChar char=""/>
            </a:pPr>
            <a:r>
              <a:rPr lang="en-US" sz="1800" dirty="0" smtClean="0">
                <a:latin typeface="Cambria Math" panose="02040503050406030204" pitchFamily="18" charset="0"/>
                <a:ea typeface="Cambria Math" panose="02040503050406030204" pitchFamily="18" charset="0"/>
              </a:rPr>
              <a:t>Comparing variables and constants </a:t>
            </a:r>
          </a:p>
          <a:p>
            <a:pPr lvl="1">
              <a:buFont typeface="Symbol" panose="05050102010706020507" pitchFamily="18" charset="2"/>
              <a:buChar char=""/>
            </a:pPr>
            <a:r>
              <a:rPr lang="en-US" sz="1800" dirty="0" smtClean="0">
                <a:latin typeface="Cambria Math" panose="02040503050406030204" pitchFamily="18" charset="0"/>
                <a:ea typeface="Cambria Math" panose="02040503050406030204" pitchFamily="18" charset="0"/>
              </a:rPr>
              <a:t>Comparing strings </a:t>
            </a:r>
          </a:p>
          <a:p>
            <a:pPr lvl="1">
              <a:buFont typeface="Symbol" panose="05050102010706020507" pitchFamily="18" charset="2"/>
              <a:buChar char=""/>
            </a:pPr>
            <a:r>
              <a:rPr lang="en-US" sz="1800" dirty="0" smtClean="0">
                <a:latin typeface="Cambria Math" panose="02040503050406030204" pitchFamily="18" charset="0"/>
                <a:ea typeface="Cambria Math" panose="02040503050406030204" pitchFamily="18" charset="0"/>
              </a:rPr>
              <a:t>Testing for True or False </a:t>
            </a:r>
          </a:p>
          <a:p>
            <a:pPr lvl="1">
              <a:buFont typeface="Symbol" panose="05050102010706020507" pitchFamily="18" charset="2"/>
              <a:buChar char=""/>
            </a:pPr>
            <a:r>
              <a:rPr lang="en-US" sz="1800" dirty="0" smtClean="0">
                <a:latin typeface="Cambria Math" panose="02040503050406030204" pitchFamily="18" charset="0"/>
                <a:ea typeface="Cambria Math" panose="02040503050406030204" pitchFamily="18" charset="0"/>
              </a:rPr>
              <a:t>Comparing the Text Property of textboxes </a:t>
            </a:r>
          </a:p>
          <a:p>
            <a:pPr lvl="1">
              <a:buFont typeface="Symbol" panose="05050102010706020507" pitchFamily="18" charset="2"/>
              <a:buChar char=""/>
            </a:pPr>
            <a:r>
              <a:rPr lang="en-US" sz="1800" dirty="0" smtClean="0">
                <a:latin typeface="Cambria Math" panose="02040503050406030204" pitchFamily="18" charset="0"/>
                <a:ea typeface="Cambria Math" panose="02040503050406030204" pitchFamily="18" charset="0"/>
              </a:rPr>
              <a:t>Comparing uppercase and lowercase letters.</a:t>
            </a:r>
            <a:endParaRPr lang="en-US" sz="18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15438484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0267" y="1216742"/>
            <a:ext cx="8290560" cy="3561734"/>
          </a:xfrm>
        </p:spPr>
        <p:txBody>
          <a:bodyPr>
            <a:normAutofit lnSpcReduction="10000"/>
          </a:bodyPr>
          <a:lstStyle/>
          <a:p>
            <a:r>
              <a:rPr lang="en-US" sz="1800" dirty="0" smtClean="0">
                <a:latin typeface="Cambria Math" panose="02040503050406030204" pitchFamily="18" charset="0"/>
                <a:ea typeface="Cambria Math" panose="02040503050406030204" pitchFamily="18" charset="0"/>
              </a:rPr>
              <a:t>In programming, you can use compound condition to test more than one condition. </a:t>
            </a:r>
          </a:p>
          <a:p>
            <a:r>
              <a:rPr lang="en-US" sz="1800" b="1" dirty="0" smtClean="0">
                <a:latin typeface="Cambria Math" panose="02040503050406030204" pitchFamily="18" charset="0"/>
                <a:ea typeface="Cambria Math" panose="02040503050406030204" pitchFamily="18" charset="0"/>
              </a:rPr>
              <a:t>The </a:t>
            </a:r>
            <a:r>
              <a:rPr lang="en-US" sz="1800" b="1" dirty="0">
                <a:latin typeface="Cambria Math" panose="02040503050406030204" pitchFamily="18" charset="0"/>
                <a:ea typeface="Cambria Math" panose="02040503050406030204" pitchFamily="18" charset="0"/>
              </a:rPr>
              <a:t>term 'compound conditions' refers to any situation where the condition needs more than one answer to return true. </a:t>
            </a:r>
            <a:r>
              <a:rPr lang="en-US" sz="1800" dirty="0" smtClean="0">
                <a:latin typeface="Cambria Math" panose="02040503050406030204" pitchFamily="18" charset="0"/>
                <a:ea typeface="Cambria Math" panose="02040503050406030204" pitchFamily="18" charset="0"/>
              </a:rPr>
              <a:t>An example would be checkbox </a:t>
            </a:r>
            <a:r>
              <a:rPr lang="en-US" sz="1800" dirty="0">
                <a:latin typeface="Cambria Math" panose="02040503050406030204" pitchFamily="18" charset="0"/>
                <a:ea typeface="Cambria Math" panose="02040503050406030204" pitchFamily="18" charset="0"/>
              </a:rPr>
              <a:t>items checking two or more answers</a:t>
            </a:r>
            <a:r>
              <a:rPr lang="en-US" sz="1800" dirty="0" smtClean="0">
                <a:latin typeface="Cambria Math" panose="02040503050406030204" pitchFamily="18" charset="0"/>
                <a:ea typeface="Cambria Math" panose="02040503050406030204" pitchFamily="18" charset="0"/>
              </a:rPr>
              <a:t>.</a:t>
            </a:r>
          </a:p>
          <a:p>
            <a:r>
              <a:rPr lang="en-US" sz="1800" dirty="0" smtClean="0">
                <a:latin typeface="Cambria Math" panose="02040503050406030204" pitchFamily="18" charset="0"/>
                <a:ea typeface="Cambria Math" panose="02040503050406030204" pitchFamily="18" charset="0"/>
              </a:rPr>
              <a:t>We can create compound conditions (more than one condition) in programming by joining conditions with logical operators.</a:t>
            </a:r>
          </a:p>
          <a:p>
            <a:r>
              <a:rPr lang="en-US" sz="1800" dirty="0">
                <a:latin typeface="Cambria Math" panose="02040503050406030204" pitchFamily="18" charset="0"/>
                <a:ea typeface="Cambria Math" panose="02040503050406030204" pitchFamily="18" charset="0"/>
              </a:rPr>
              <a:t>Logical operators are generally used for combining two or more relational statements. They return Boolean </a:t>
            </a:r>
            <a:r>
              <a:rPr lang="en-US" sz="1800" dirty="0" smtClean="0">
                <a:latin typeface="Cambria Math" panose="02040503050406030204" pitchFamily="18" charset="0"/>
                <a:ea typeface="Cambria Math" panose="02040503050406030204" pitchFamily="18" charset="0"/>
              </a:rPr>
              <a:t>values (true or false).</a:t>
            </a:r>
          </a:p>
          <a:p>
            <a:r>
              <a:rPr lang="en-US" sz="1800" dirty="0" smtClean="0">
                <a:latin typeface="Cambria Math" panose="02040503050406030204" pitchFamily="18" charset="0"/>
                <a:ea typeface="Cambria Math" panose="02040503050406030204" pitchFamily="18" charset="0"/>
              </a:rPr>
              <a:t>There are </a:t>
            </a:r>
            <a:r>
              <a:rPr lang="en-US" sz="1800" b="1" dirty="0" smtClean="0">
                <a:latin typeface="Cambria Math" panose="02040503050406030204" pitchFamily="18" charset="0"/>
                <a:ea typeface="Cambria Math" panose="02040503050406030204" pitchFamily="18" charset="0"/>
              </a:rPr>
              <a:t>three</a:t>
            </a:r>
            <a:r>
              <a:rPr lang="en-US" sz="1800" dirty="0" smtClean="0">
                <a:latin typeface="Cambria Math" panose="02040503050406030204" pitchFamily="18" charset="0"/>
                <a:ea typeface="Cambria Math" panose="02040503050406030204" pitchFamily="18" charset="0"/>
              </a:rPr>
              <a:t> types of </a:t>
            </a:r>
            <a:r>
              <a:rPr lang="en-US" sz="1800" b="1" dirty="0" smtClean="0">
                <a:latin typeface="Cambria Math" panose="02040503050406030204" pitchFamily="18" charset="0"/>
                <a:ea typeface="Cambria Math" panose="02040503050406030204" pitchFamily="18" charset="0"/>
              </a:rPr>
              <a:t>Logical Operators </a:t>
            </a:r>
            <a:r>
              <a:rPr lang="en-US" sz="1800" dirty="0" smtClean="0">
                <a:latin typeface="Cambria Math" panose="02040503050406030204" pitchFamily="18" charset="0"/>
                <a:ea typeface="Cambria Math" panose="02040503050406030204" pitchFamily="18" charset="0"/>
              </a:rPr>
              <a:t>which are:</a:t>
            </a:r>
          </a:p>
          <a:p>
            <a:pPr marL="971550" lvl="1" indent="-571500">
              <a:buFont typeface="+mj-lt"/>
              <a:buAutoNum type="romanLcPeriod"/>
            </a:pPr>
            <a:r>
              <a:rPr lang="en-US" sz="1800" dirty="0" smtClean="0">
                <a:latin typeface="Cambria Math" panose="02040503050406030204" pitchFamily="18" charset="0"/>
                <a:ea typeface="Cambria Math" panose="02040503050406030204" pitchFamily="18" charset="0"/>
              </a:rPr>
              <a:t>Or ( || )</a:t>
            </a:r>
          </a:p>
          <a:p>
            <a:pPr marL="971550" lvl="1" indent="-571500">
              <a:buFont typeface="+mj-lt"/>
              <a:buAutoNum type="romanLcPeriod"/>
            </a:pPr>
            <a:r>
              <a:rPr lang="en-US" sz="1800" dirty="0" smtClean="0">
                <a:latin typeface="Cambria Math" panose="02040503050406030204" pitchFamily="18" charset="0"/>
                <a:ea typeface="Cambria Math" panose="02040503050406030204" pitchFamily="18" charset="0"/>
              </a:rPr>
              <a:t>And ( &amp;&amp; )</a:t>
            </a:r>
          </a:p>
          <a:p>
            <a:pPr marL="971550" lvl="1" indent="-571500">
              <a:buFont typeface="+mj-lt"/>
              <a:buAutoNum type="romanLcPeriod"/>
            </a:pPr>
            <a:r>
              <a:rPr lang="en-US" sz="1800" dirty="0" smtClean="0">
                <a:latin typeface="Cambria Math" panose="02040503050406030204" pitchFamily="18" charset="0"/>
                <a:ea typeface="Cambria Math" panose="02040503050406030204" pitchFamily="18" charset="0"/>
              </a:rPr>
              <a:t>Not ( ! )</a:t>
            </a:r>
            <a:endParaRPr lang="en-US" sz="1800" dirty="0">
              <a:latin typeface="Cambria Math" panose="02040503050406030204" pitchFamily="18" charset="0"/>
              <a:ea typeface="Cambria Math" panose="02040503050406030204" pitchFamily="18" charset="0"/>
            </a:endParaRPr>
          </a:p>
        </p:txBody>
      </p:sp>
      <p:sp>
        <p:nvSpPr>
          <p:cNvPr id="4" name="Title 1"/>
          <p:cNvSpPr txBox="1">
            <a:spLocks/>
          </p:cNvSpPr>
          <p:nvPr/>
        </p:nvSpPr>
        <p:spPr>
          <a:xfrm>
            <a:off x="440267" y="264728"/>
            <a:ext cx="8175413" cy="602827"/>
          </a:xfrm>
          <a:prstGeom prst="rect">
            <a:avLst/>
          </a:prstGeom>
          <a:solidFill>
            <a:schemeClr val="bg1"/>
          </a:solidFill>
        </p:spPr>
        <p:txBody>
          <a:bodyPr vert="horz" lIns="91440" tIns="45720" rIns="91440" bIns="45720" rtlCol="0" anchor="ctr">
            <a:normAutofit fontScale="85000" lnSpcReduction="10000"/>
          </a:bodyPr>
          <a:lstStyle>
            <a:lvl1pPr algn="r" defTabSz="914400" rtl="0" eaLnBrk="1" latinLnBrk="0" hangingPunct="1">
              <a:spcBef>
                <a:spcPct val="0"/>
              </a:spcBef>
              <a:buNone/>
              <a:defRPr sz="3600" kern="1200" baseline="0">
                <a:solidFill>
                  <a:schemeClr val="bg1"/>
                </a:solidFill>
                <a:effectLst>
                  <a:outerShdw blurRad="50800" dist="38100" dir="2700000" algn="tl" rotWithShape="0">
                    <a:prstClr val="black">
                      <a:alpha val="40000"/>
                    </a:prstClr>
                  </a:outerShdw>
                </a:effectLst>
                <a:latin typeface="+mj-lt"/>
                <a:ea typeface="+mj-ea"/>
                <a:cs typeface="+mj-cs"/>
              </a:defRPr>
            </a:lvl1pPr>
          </a:lstStyle>
          <a:p>
            <a:pPr algn="ctr"/>
            <a:r>
              <a:rPr lang="en-US" sz="3200" b="1" dirty="0" smtClean="0">
                <a:solidFill>
                  <a:schemeClr val="tx1">
                    <a:lumMod val="95000"/>
                    <a:lumOff val="5000"/>
                  </a:schemeClr>
                </a:solidFill>
                <a:latin typeface="Cambria Math" panose="02040503050406030204" pitchFamily="18" charset="0"/>
                <a:ea typeface="Cambria Math" panose="02040503050406030204" pitchFamily="18" charset="0"/>
              </a:rPr>
              <a:t>6.3 The Logical Operation (Compound Conditions)</a:t>
            </a:r>
            <a:endParaRPr lang="en-US" sz="32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289541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3053626" y="171776"/>
            <a:ext cx="3970320" cy="397186"/>
          </a:xfrm>
        </p:spPr>
        <p:txBody>
          <a:bodyPr>
            <a:normAutofit fontScale="90000"/>
          </a:bodyPr>
          <a:lstStyle/>
          <a:p>
            <a:pPr algn="ctr"/>
            <a:r>
              <a:rPr lang="en-US" sz="2000" b="1" dirty="0">
                <a:solidFill>
                  <a:srgbClr val="0000CC"/>
                </a:solidFill>
                <a:latin typeface="Cambria Math" panose="02040503050406030204" pitchFamily="18" charset="0"/>
                <a:ea typeface="Cambria Math" panose="02040503050406030204" pitchFamily="18" charset="0"/>
              </a:rPr>
              <a:t>Sample Example of </a:t>
            </a:r>
            <a:r>
              <a:rPr lang="en-US" sz="2000" b="1" dirty="0" smtClean="0">
                <a:solidFill>
                  <a:srgbClr val="0000CC"/>
                </a:solidFill>
                <a:latin typeface="Cambria Math" panose="02040503050406030204" pitchFamily="18" charset="0"/>
                <a:ea typeface="Cambria Math" panose="02040503050406030204" pitchFamily="18" charset="0"/>
              </a:rPr>
              <a:t>Logical Operators</a:t>
            </a:r>
            <a:endParaRPr lang="en-US" sz="2000" b="1" dirty="0">
              <a:latin typeface="Cambria Math" panose="02040503050406030204" pitchFamily="18" charset="0"/>
              <a:ea typeface="Cambria Math" panose="02040503050406030204" pitchFamily="18" charset="0"/>
            </a:endParaRPr>
          </a:p>
        </p:txBody>
      </p:sp>
      <p:sp>
        <p:nvSpPr>
          <p:cNvPr id="3" name="Content Placeholder 2"/>
          <p:cNvSpPr>
            <a:spLocks noGrp="1"/>
          </p:cNvSpPr>
          <p:nvPr>
            <p:ph idx="1"/>
          </p:nvPr>
        </p:nvSpPr>
        <p:spPr>
          <a:xfrm>
            <a:off x="2479039" y="683421"/>
            <a:ext cx="5864163" cy="718660"/>
          </a:xfrm>
        </p:spPr>
        <p:txBody>
          <a:bodyPr>
            <a:normAutofit fontScale="85000" lnSpcReduction="10000"/>
          </a:bodyPr>
          <a:lstStyle/>
          <a:p>
            <a:pPr marL="0" indent="0">
              <a:buNone/>
            </a:pPr>
            <a:r>
              <a:rPr lang="en-US" sz="1800" dirty="0">
                <a:solidFill>
                  <a:schemeClr val="tx1"/>
                </a:solidFill>
                <a:latin typeface="Cambria Math" panose="02040503050406030204" pitchFamily="18" charset="0"/>
                <a:ea typeface="Cambria Math" panose="02040503050406030204" pitchFamily="18" charset="0"/>
              </a:rPr>
              <a:t>Given these: </a:t>
            </a:r>
            <a:endParaRPr lang="en-US" sz="1800" dirty="0" smtClean="0">
              <a:solidFill>
                <a:schemeClr val="tx1"/>
              </a:solidFill>
              <a:latin typeface="Cambria Math" panose="02040503050406030204" pitchFamily="18" charset="0"/>
              <a:ea typeface="Cambria Math" panose="02040503050406030204" pitchFamily="18" charset="0"/>
            </a:endParaRPr>
          </a:p>
          <a:p>
            <a:pPr marL="0" indent="0">
              <a:buNone/>
            </a:pPr>
            <a:r>
              <a:rPr lang="en-US" sz="1800" dirty="0" err="1" smtClean="0">
                <a:solidFill>
                  <a:schemeClr val="tx1"/>
                </a:solidFill>
                <a:latin typeface="Cambria Math" panose="02040503050406030204" pitchFamily="18" charset="0"/>
                <a:ea typeface="Cambria Math" panose="02040503050406030204" pitchFamily="18" charset="0"/>
              </a:rPr>
              <a:t>lblNumber.Caption</a:t>
            </a:r>
            <a:r>
              <a:rPr lang="en-US" sz="1800" dirty="0" smtClean="0">
                <a:solidFill>
                  <a:schemeClr val="tx1"/>
                </a:solidFill>
                <a:latin typeface="Cambria Math" panose="02040503050406030204" pitchFamily="18" charset="0"/>
                <a:ea typeface="Cambria Math" panose="02040503050406030204" pitchFamily="18" charset="0"/>
              </a:rPr>
              <a:t> &gt; = 1, </a:t>
            </a:r>
            <a:r>
              <a:rPr lang="en-US" sz="1800" dirty="0" err="1">
                <a:solidFill>
                  <a:schemeClr val="tx1"/>
                </a:solidFill>
                <a:latin typeface="Cambria Math" panose="02040503050406030204" pitchFamily="18" charset="0"/>
                <a:ea typeface="Cambria Math" panose="02040503050406030204" pitchFamily="18" charset="0"/>
              </a:rPr>
              <a:t>txtNumber.Text</a:t>
            </a:r>
            <a:r>
              <a:rPr lang="en-US" sz="1800" dirty="0">
                <a:solidFill>
                  <a:schemeClr val="tx1"/>
                </a:solidFill>
                <a:latin typeface="Cambria Math" panose="02040503050406030204" pitchFamily="18" charset="0"/>
                <a:ea typeface="Cambria Math" panose="02040503050406030204" pitchFamily="18" charset="0"/>
              </a:rPr>
              <a:t> </a:t>
            </a:r>
            <a:r>
              <a:rPr lang="en-US" sz="1800" dirty="0" smtClean="0">
                <a:solidFill>
                  <a:schemeClr val="tx1"/>
                </a:solidFill>
                <a:latin typeface="Cambria Math" panose="02040503050406030204" pitchFamily="18" charset="0"/>
                <a:ea typeface="Cambria Math" panose="02040503050406030204" pitchFamily="18" charset="0"/>
              </a:rPr>
              <a:t>&lt; 11, </a:t>
            </a:r>
            <a:r>
              <a:rPr lang="en-US" sz="1800" dirty="0" err="1">
                <a:solidFill>
                  <a:schemeClr val="tx1"/>
                </a:solidFill>
                <a:latin typeface="Cambria Math" panose="02040503050406030204" pitchFamily="18" charset="0"/>
                <a:ea typeface="Cambria Math" panose="02040503050406030204" pitchFamily="18" charset="0"/>
              </a:rPr>
              <a:t>txtNumber.Text</a:t>
            </a:r>
            <a:r>
              <a:rPr lang="en-US" sz="1800" dirty="0">
                <a:solidFill>
                  <a:schemeClr val="tx1"/>
                </a:solidFill>
                <a:latin typeface="Cambria Math" panose="02040503050406030204" pitchFamily="18" charset="0"/>
                <a:ea typeface="Cambria Math" panose="02040503050406030204" pitchFamily="18" charset="0"/>
              </a:rPr>
              <a:t> &gt; 0 </a:t>
            </a:r>
          </a:p>
        </p:txBody>
      </p:sp>
      <p:graphicFrame>
        <p:nvGraphicFramePr>
          <p:cNvPr id="4" name="Content Placeholder 3"/>
          <p:cNvGraphicFramePr>
            <a:graphicFrameLocks/>
          </p:cNvGraphicFramePr>
          <p:nvPr>
            <p:extLst>
              <p:ext uri="{D42A27DB-BD31-4B8C-83A1-F6EECF244321}">
                <p14:modId xmlns:p14="http://schemas.microsoft.com/office/powerpoint/2010/main" val="533632332"/>
              </p:ext>
            </p:extLst>
          </p:nvPr>
        </p:nvGraphicFramePr>
        <p:xfrm>
          <a:off x="496875" y="1467722"/>
          <a:ext cx="8245476" cy="2217420"/>
        </p:xfrm>
        <a:graphic>
          <a:graphicData uri="http://schemas.openxmlformats.org/drawingml/2006/table">
            <a:tbl>
              <a:tblPr firstRow="1" bandRow="1">
                <a:tableStyleId>{5C22544A-7EE6-4342-B048-85BDC9FD1C3A}</a:tableStyleId>
              </a:tblPr>
              <a:tblGrid>
                <a:gridCol w="984859"/>
                <a:gridCol w="3137879"/>
                <a:gridCol w="2436304"/>
                <a:gridCol w="1686434"/>
              </a:tblGrid>
              <a:tr h="370840">
                <a:tc>
                  <a:txBody>
                    <a:bodyPr/>
                    <a:lstStyle/>
                    <a:p>
                      <a:pPr algn="l"/>
                      <a:r>
                        <a:rPr lang="en-US" dirty="0" smtClean="0">
                          <a:latin typeface="Cambria Math" panose="02040503050406030204" pitchFamily="18" charset="0"/>
                          <a:ea typeface="Cambria Math" panose="02040503050406030204" pitchFamily="18" charset="0"/>
                        </a:rPr>
                        <a:t>Logical Operator</a:t>
                      </a:r>
                      <a:endParaRPr lang="en-US" dirty="0">
                        <a:latin typeface="Cambria Math" panose="02040503050406030204" pitchFamily="18" charset="0"/>
                        <a:ea typeface="Cambria Math" panose="02040503050406030204" pitchFamily="18" charset="0"/>
                      </a:endParaRPr>
                    </a:p>
                  </a:txBody>
                  <a:tcPr/>
                </a:tc>
                <a:tc>
                  <a:txBody>
                    <a:bodyPr/>
                    <a:lstStyle/>
                    <a:p>
                      <a:pPr algn="l"/>
                      <a:r>
                        <a:rPr lang="en-US" dirty="0" smtClean="0">
                          <a:latin typeface="Cambria Math" panose="02040503050406030204" pitchFamily="18" charset="0"/>
                          <a:ea typeface="Cambria Math" panose="02040503050406030204" pitchFamily="18" charset="0"/>
                        </a:rPr>
                        <a:t>Meaning </a:t>
                      </a:r>
                      <a:endParaRPr lang="en-US" dirty="0">
                        <a:latin typeface="Cambria Math" panose="02040503050406030204" pitchFamily="18" charset="0"/>
                        <a:ea typeface="Cambria Math" panose="02040503050406030204" pitchFamily="18" charset="0"/>
                      </a:endParaRPr>
                    </a:p>
                  </a:txBody>
                  <a:tcPr/>
                </a:tc>
                <a:tc>
                  <a:txBody>
                    <a:bodyPr/>
                    <a:lstStyle/>
                    <a:p>
                      <a:pPr algn="l"/>
                      <a:r>
                        <a:rPr lang="en-US" dirty="0" smtClean="0">
                          <a:latin typeface="Cambria Math" panose="02040503050406030204" pitchFamily="18" charset="0"/>
                          <a:ea typeface="Cambria Math" panose="02040503050406030204" pitchFamily="18" charset="0"/>
                        </a:rPr>
                        <a:t>Example </a:t>
                      </a:r>
                      <a:endParaRPr lang="en-US" dirty="0">
                        <a:latin typeface="Cambria Math" panose="02040503050406030204" pitchFamily="18" charset="0"/>
                        <a:ea typeface="Cambria Math" panose="02040503050406030204" pitchFamily="18" charset="0"/>
                      </a:endParaRPr>
                    </a:p>
                  </a:txBody>
                  <a:tcPr/>
                </a:tc>
                <a:tc>
                  <a:txBody>
                    <a:bodyPr/>
                    <a:lstStyle/>
                    <a:p>
                      <a:pPr algn="l"/>
                      <a:r>
                        <a:rPr lang="en-US" dirty="0" smtClean="0">
                          <a:latin typeface="Cambria Math" panose="02040503050406030204" pitchFamily="18" charset="0"/>
                          <a:ea typeface="Cambria Math" panose="02040503050406030204" pitchFamily="18" charset="0"/>
                        </a:rPr>
                        <a:t>Result</a:t>
                      </a:r>
                      <a:endParaRPr lang="en-US" dirty="0">
                        <a:latin typeface="Cambria Math" panose="02040503050406030204" pitchFamily="18" charset="0"/>
                        <a:ea typeface="Cambria Math" panose="02040503050406030204" pitchFamily="18" charset="0"/>
                      </a:endParaRPr>
                    </a:p>
                  </a:txBody>
                  <a:tcPr/>
                </a:tc>
              </a:tr>
              <a:tr h="370840">
                <a:tc>
                  <a:txBody>
                    <a:bodyPr/>
                    <a:lstStyle/>
                    <a:p>
                      <a:r>
                        <a:rPr lang="en-US" b="1" dirty="0" smtClean="0">
                          <a:latin typeface="Cambria Math" panose="02040503050406030204" pitchFamily="18" charset="0"/>
                          <a:ea typeface="Cambria Math" panose="02040503050406030204" pitchFamily="18" charset="0"/>
                        </a:rPr>
                        <a:t>Or  (||)</a:t>
                      </a:r>
                      <a:endParaRPr lang="en-US" b="1"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If one condition or both</a:t>
                      </a:r>
                      <a:r>
                        <a:rPr lang="en-US" baseline="0" dirty="0" smtClean="0">
                          <a:latin typeface="Cambria Math" panose="02040503050406030204" pitchFamily="18" charset="0"/>
                          <a:ea typeface="Cambria Math" panose="02040503050406030204" pitchFamily="18" charset="0"/>
                        </a:rPr>
                        <a:t> conditions are true, the entire condition is true </a:t>
                      </a:r>
                      <a:endParaRPr lang="en-US" dirty="0">
                        <a:latin typeface="Cambria Math" panose="02040503050406030204" pitchFamily="18" charset="0"/>
                        <a:ea typeface="Cambria Math" panose="02040503050406030204" pitchFamily="18" charset="0"/>
                      </a:endParaRPr>
                    </a:p>
                  </a:txBody>
                  <a:tcPr/>
                </a:tc>
                <a:tc>
                  <a:txBody>
                    <a:bodyPr/>
                    <a:lstStyle/>
                    <a:p>
                      <a:r>
                        <a:rPr lang="en-US" dirty="0" err="1" smtClean="0">
                          <a:latin typeface="Cambria Math" panose="02040503050406030204" pitchFamily="18" charset="0"/>
                          <a:ea typeface="Cambria Math" panose="02040503050406030204" pitchFamily="18" charset="0"/>
                        </a:rPr>
                        <a:t>lblNumber.Caption</a:t>
                      </a:r>
                      <a:r>
                        <a:rPr lang="en-US" dirty="0" smtClean="0">
                          <a:latin typeface="Cambria Math" panose="02040503050406030204" pitchFamily="18" charset="0"/>
                          <a:ea typeface="Cambria Math" panose="02040503050406030204" pitchFamily="18" charset="0"/>
                        </a:rPr>
                        <a:t> = 1 Or </a:t>
                      </a:r>
                      <a:r>
                        <a:rPr lang="en-US" dirty="0" err="1" smtClean="0">
                          <a:latin typeface="Cambria Math" panose="02040503050406030204" pitchFamily="18" charset="0"/>
                          <a:ea typeface="Cambria Math" panose="02040503050406030204" pitchFamily="18" charset="0"/>
                        </a:rPr>
                        <a:t>lblNumber.Caption</a:t>
                      </a:r>
                      <a:r>
                        <a:rPr lang="en-US" dirty="0" smtClean="0">
                          <a:latin typeface="Cambria Math" panose="02040503050406030204" pitchFamily="18" charset="0"/>
                          <a:ea typeface="Cambria Math" panose="02040503050406030204" pitchFamily="18" charset="0"/>
                        </a:rPr>
                        <a:t> =</a:t>
                      </a:r>
                      <a:r>
                        <a:rPr lang="en-US" baseline="0" dirty="0" smtClean="0">
                          <a:latin typeface="Cambria Math" panose="02040503050406030204" pitchFamily="18" charset="0"/>
                          <a:ea typeface="Cambria Math" panose="02040503050406030204" pitchFamily="18" charset="0"/>
                        </a:rPr>
                        <a:t> 2</a:t>
                      </a:r>
                      <a:endParaRPr lang="en-US"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True </a:t>
                      </a:r>
                      <a:endParaRPr lang="en-US" dirty="0">
                        <a:latin typeface="Cambria Math" panose="02040503050406030204" pitchFamily="18" charset="0"/>
                        <a:ea typeface="Cambria Math" panose="02040503050406030204" pitchFamily="18" charset="0"/>
                      </a:endParaRPr>
                    </a:p>
                  </a:txBody>
                  <a:tcPr/>
                </a:tc>
              </a:tr>
              <a:tr h="370840">
                <a:tc>
                  <a:txBody>
                    <a:bodyPr/>
                    <a:lstStyle/>
                    <a:p>
                      <a:r>
                        <a:rPr lang="en-US" b="1" dirty="0" smtClean="0">
                          <a:latin typeface="Cambria Math" panose="02040503050406030204" pitchFamily="18" charset="0"/>
                          <a:ea typeface="Cambria Math" panose="02040503050406030204" pitchFamily="18" charset="0"/>
                        </a:rPr>
                        <a:t>And (&amp;&amp;)</a:t>
                      </a:r>
                      <a:endParaRPr lang="en-US" b="1"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Both condition must be true for the entire condition to be true</a:t>
                      </a:r>
                      <a:endParaRPr lang="en-US" dirty="0">
                        <a:latin typeface="Cambria Math" panose="02040503050406030204" pitchFamily="18" charset="0"/>
                        <a:ea typeface="Cambria Math" panose="02040503050406030204" pitchFamily="18" charset="0"/>
                      </a:endParaRPr>
                    </a:p>
                  </a:txBody>
                  <a:tcPr/>
                </a:tc>
                <a:tc>
                  <a:txBody>
                    <a:bodyPr/>
                    <a:lstStyle/>
                    <a:p>
                      <a:r>
                        <a:rPr lang="en-US" dirty="0" err="1" smtClean="0">
                          <a:latin typeface="Cambria Math" panose="02040503050406030204" pitchFamily="18" charset="0"/>
                          <a:ea typeface="Cambria Math" panose="02040503050406030204" pitchFamily="18" charset="0"/>
                        </a:rPr>
                        <a:t>txtNumber.Text</a:t>
                      </a:r>
                      <a:r>
                        <a:rPr lang="en-US" dirty="0" smtClean="0">
                          <a:latin typeface="Cambria Math" panose="02040503050406030204" pitchFamily="18" charset="0"/>
                          <a:ea typeface="Cambria Math" panose="02040503050406030204" pitchFamily="18" charset="0"/>
                        </a:rPr>
                        <a:t> &gt; 0 And </a:t>
                      </a:r>
                      <a:r>
                        <a:rPr lang="en-US" dirty="0" err="1" smtClean="0">
                          <a:latin typeface="Cambria Math" panose="02040503050406030204" pitchFamily="18" charset="0"/>
                          <a:ea typeface="Cambria Math" panose="02040503050406030204" pitchFamily="18" charset="0"/>
                        </a:rPr>
                        <a:t>txtNumber.Text</a:t>
                      </a:r>
                      <a:r>
                        <a:rPr lang="en-US" dirty="0" smtClean="0">
                          <a:latin typeface="Cambria Math" panose="02040503050406030204" pitchFamily="18" charset="0"/>
                          <a:ea typeface="Cambria Math" panose="02040503050406030204" pitchFamily="18" charset="0"/>
                        </a:rPr>
                        <a:t> &lt; 10</a:t>
                      </a:r>
                      <a:endParaRPr lang="en-US"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True </a:t>
                      </a:r>
                      <a:endParaRPr lang="en-US" dirty="0">
                        <a:latin typeface="Cambria Math" panose="02040503050406030204" pitchFamily="18" charset="0"/>
                        <a:ea typeface="Cambria Math" panose="02040503050406030204" pitchFamily="18" charset="0"/>
                      </a:endParaRPr>
                    </a:p>
                  </a:txBody>
                  <a:tcPr/>
                </a:tc>
              </a:tr>
              <a:tr h="370840">
                <a:tc>
                  <a:txBody>
                    <a:bodyPr/>
                    <a:lstStyle/>
                    <a:p>
                      <a:r>
                        <a:rPr lang="en-US" b="1" dirty="0" smtClean="0">
                          <a:latin typeface="Cambria Math" panose="02040503050406030204" pitchFamily="18" charset="0"/>
                          <a:ea typeface="Cambria Math" panose="02040503050406030204" pitchFamily="18" charset="0"/>
                        </a:rPr>
                        <a:t>Not (!)</a:t>
                      </a:r>
                      <a:endParaRPr lang="en-US" b="1"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Reverse the condition so that true</a:t>
                      </a:r>
                      <a:r>
                        <a:rPr lang="en-US" baseline="0" dirty="0" smtClean="0">
                          <a:latin typeface="Cambria Math" panose="02040503050406030204" pitchFamily="18" charset="0"/>
                          <a:ea typeface="Cambria Math" panose="02040503050406030204" pitchFamily="18" charset="0"/>
                        </a:rPr>
                        <a:t> condition will evaluate false and vise versa</a:t>
                      </a:r>
                      <a:endParaRPr lang="en-US"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Not </a:t>
                      </a:r>
                      <a:r>
                        <a:rPr lang="en-US" dirty="0" err="1" smtClean="0">
                          <a:latin typeface="Cambria Math" panose="02040503050406030204" pitchFamily="18" charset="0"/>
                          <a:ea typeface="Cambria Math" panose="02040503050406030204" pitchFamily="18" charset="0"/>
                        </a:rPr>
                        <a:t>lblNumber.Caption</a:t>
                      </a:r>
                      <a:r>
                        <a:rPr lang="en-US" baseline="0" dirty="0" smtClean="0">
                          <a:latin typeface="Cambria Math" panose="02040503050406030204" pitchFamily="18" charset="0"/>
                          <a:ea typeface="Cambria Math" panose="02040503050406030204" pitchFamily="18" charset="0"/>
                        </a:rPr>
                        <a:t> = 0</a:t>
                      </a:r>
                      <a:endParaRPr lang="en-US" dirty="0">
                        <a:latin typeface="Cambria Math" panose="02040503050406030204" pitchFamily="18" charset="0"/>
                        <a:ea typeface="Cambria Math" panose="02040503050406030204" pitchFamily="18" charset="0"/>
                      </a:endParaRPr>
                    </a:p>
                  </a:txBody>
                  <a:tcPr/>
                </a:tc>
                <a:tc>
                  <a:txBody>
                    <a:bodyPr/>
                    <a:lstStyle/>
                    <a:p>
                      <a:r>
                        <a:rPr lang="en-US" dirty="0" smtClean="0">
                          <a:latin typeface="Cambria Math" panose="02040503050406030204" pitchFamily="18" charset="0"/>
                          <a:ea typeface="Cambria Math" panose="02040503050406030204" pitchFamily="18" charset="0"/>
                        </a:rPr>
                        <a:t>True </a:t>
                      </a:r>
                      <a:endParaRPr lang="en-US" dirty="0">
                        <a:latin typeface="Cambria Math" panose="02040503050406030204" pitchFamily="18" charset="0"/>
                        <a:ea typeface="Cambria Math" panose="02040503050406030204" pitchFamily="18" charset="0"/>
                      </a:endParaRPr>
                    </a:p>
                  </a:txBody>
                  <a:tcPr/>
                </a:tc>
              </a:tr>
            </a:tbl>
          </a:graphicData>
        </a:graphic>
      </p:graphicFrame>
    </p:spTree>
    <p:extLst>
      <p:ext uri="{BB962C8B-B14F-4D97-AF65-F5344CB8AC3E}">
        <p14:creationId xmlns:p14="http://schemas.microsoft.com/office/powerpoint/2010/main" val="822261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223520" y="298027"/>
            <a:ext cx="8744373" cy="4572000"/>
          </a:xfrm>
        </p:spPr>
        <p:txBody>
          <a:bodyPr>
            <a:normAutofit/>
          </a:bodyPr>
          <a:lstStyle/>
          <a:p>
            <a:r>
              <a:rPr lang="en-US" sz="1800" dirty="0" smtClean="0">
                <a:latin typeface="Cambria Math" panose="02040503050406030204" pitchFamily="18" charset="0"/>
                <a:ea typeface="Cambria Math" panose="02040503050406030204" pitchFamily="18" charset="0"/>
              </a:rPr>
              <a:t>The Compound Conditions can also be referred to as Logical Operation because they are used to compare values of more than one condition, unlike Relational operators, as they deal with only one condition.</a:t>
            </a:r>
          </a:p>
          <a:p>
            <a:r>
              <a:rPr lang="en-US" sz="1800" dirty="0" smtClean="0">
                <a:latin typeface="Cambria Math" panose="02040503050406030204" pitchFamily="18" charset="0"/>
                <a:ea typeface="Cambria Math" panose="02040503050406030204" pitchFamily="18" charset="0"/>
              </a:rPr>
              <a:t>One can use the Logical Operators to: </a:t>
            </a:r>
          </a:p>
          <a:p>
            <a:pPr lvl="1">
              <a:buFont typeface="Symbol" panose="05050102010706020507" pitchFamily="18" charset="2"/>
              <a:buChar char=""/>
            </a:pPr>
            <a:r>
              <a:rPr lang="en-US" sz="1800" dirty="0" smtClean="0">
                <a:latin typeface="Cambria Math" panose="02040503050406030204" pitchFamily="18" charset="0"/>
                <a:ea typeface="Cambria Math" panose="02040503050406030204" pitchFamily="18" charset="0"/>
              </a:rPr>
              <a:t>Test the value of a Textbox</a:t>
            </a:r>
          </a:p>
          <a:p>
            <a:pPr lvl="1">
              <a:buFont typeface="Symbol" panose="05050102010706020507" pitchFamily="18" charset="2"/>
              <a:buChar char=""/>
            </a:pPr>
            <a:r>
              <a:rPr lang="en-US" sz="1800" dirty="0" smtClean="0">
                <a:latin typeface="Cambria Math" panose="02040503050406030204" pitchFamily="18" charset="0"/>
                <a:ea typeface="Cambria Math" panose="02040503050406030204" pitchFamily="18" charset="0"/>
              </a:rPr>
              <a:t>Test the value of an Option Button </a:t>
            </a:r>
          </a:p>
          <a:p>
            <a:pPr lvl="1">
              <a:buFont typeface="Symbol" panose="05050102010706020507" pitchFamily="18" charset="2"/>
              <a:buChar char=""/>
            </a:pPr>
            <a:r>
              <a:rPr lang="en-US" sz="1800" dirty="0" smtClean="0">
                <a:latin typeface="Cambria Math" panose="02040503050406030204" pitchFamily="18" charset="0"/>
                <a:ea typeface="Cambria Math" panose="02040503050406030204" pitchFamily="18" charset="0"/>
              </a:rPr>
              <a:t>Checking the value of an Option Button group</a:t>
            </a:r>
          </a:p>
          <a:p>
            <a:pPr lvl="1">
              <a:buFont typeface="Symbol" panose="05050102010706020507" pitchFamily="18" charset="2"/>
              <a:buChar char=""/>
            </a:pPr>
            <a:r>
              <a:rPr lang="en-US" sz="1800" dirty="0" smtClean="0">
                <a:latin typeface="Cambria Math" panose="02040503050406030204" pitchFamily="18" charset="0"/>
                <a:ea typeface="Cambria Math" panose="02040503050406030204" pitchFamily="18" charset="0"/>
              </a:rPr>
              <a:t>Checking the values of multiple Check Boxes </a:t>
            </a:r>
          </a:p>
          <a:p>
            <a:pPr lvl="1">
              <a:buFont typeface="Symbol" panose="05050102010706020507" pitchFamily="18" charset="2"/>
              <a:buChar char=""/>
            </a:pPr>
            <a:r>
              <a:rPr lang="en-US" sz="1800" dirty="0" smtClean="0">
                <a:latin typeface="Cambria Math" panose="02040503050406030204" pitchFamily="18" charset="0"/>
                <a:ea typeface="Cambria Math" panose="02040503050406030204" pitchFamily="18" charset="0"/>
              </a:rPr>
              <a:t>Selecting cases</a:t>
            </a:r>
            <a:endParaRPr lang="en-US" sz="18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7228381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4800" y="247153"/>
            <a:ext cx="1923897" cy="763526"/>
          </a:xfrm>
          <a:solidFill>
            <a:schemeClr val="bg1"/>
          </a:solidFill>
        </p:spPr>
        <p:txBody>
          <a:bodyPr/>
          <a:lstStyle/>
          <a:p>
            <a:r>
              <a:rPr lang="en-US" b="1" dirty="0" smtClean="0">
                <a:solidFill>
                  <a:schemeClr val="tx1"/>
                </a:solidFill>
                <a:latin typeface="Cambria Math" panose="02040503050406030204" pitchFamily="18" charset="0"/>
                <a:ea typeface="Cambria Math" panose="02040503050406030204" pitchFamily="18" charset="0"/>
              </a:rPr>
              <a:t>Summary</a:t>
            </a:r>
            <a:endParaRPr lang="en-US" b="1" dirty="0">
              <a:solidFill>
                <a:schemeClr val="tx1"/>
              </a:solidFill>
              <a:latin typeface="Cambria Math" panose="02040503050406030204" pitchFamily="18" charset="0"/>
              <a:ea typeface="Cambria Math" panose="02040503050406030204" pitchFamily="18" charset="0"/>
            </a:endParaRPr>
          </a:p>
        </p:txBody>
      </p:sp>
      <p:sp>
        <p:nvSpPr>
          <p:cNvPr id="6" name="Content Placeholder 5"/>
          <p:cNvSpPr>
            <a:spLocks noGrp="1"/>
          </p:cNvSpPr>
          <p:nvPr>
            <p:ph idx="1"/>
          </p:nvPr>
        </p:nvSpPr>
        <p:spPr>
          <a:xfrm>
            <a:off x="463714" y="1301547"/>
            <a:ext cx="8246070" cy="805860"/>
          </a:xfrm>
        </p:spPr>
        <p:txBody>
          <a:bodyPr>
            <a:normAutofit/>
          </a:bodyPr>
          <a:lstStyle/>
          <a:p>
            <a:r>
              <a:rPr lang="en-US" dirty="0">
                <a:solidFill>
                  <a:srgbClr val="002060"/>
                </a:solidFill>
                <a:latin typeface="Cambria Math" panose="02040503050406030204" pitchFamily="18" charset="0"/>
                <a:ea typeface="Cambria Math" panose="02040503050406030204" pitchFamily="18" charset="0"/>
              </a:rPr>
              <a:t>Read Chapter Summary Notes on Page </a:t>
            </a:r>
            <a:r>
              <a:rPr lang="en-US" dirty="0" smtClean="0">
                <a:solidFill>
                  <a:srgbClr val="002060"/>
                </a:solidFill>
                <a:latin typeface="Cambria Math" panose="02040503050406030204" pitchFamily="18" charset="0"/>
                <a:ea typeface="Cambria Math" panose="02040503050406030204" pitchFamily="18" charset="0"/>
              </a:rPr>
              <a:t>181 </a:t>
            </a:r>
            <a:r>
              <a:rPr lang="en-US" dirty="0">
                <a:solidFill>
                  <a:srgbClr val="002060"/>
                </a:solidFill>
                <a:latin typeface="Cambria Math" panose="02040503050406030204" pitchFamily="18" charset="0"/>
                <a:ea typeface="Cambria Math" panose="02040503050406030204" pitchFamily="18" charset="0"/>
              </a:rPr>
              <a:t>of Introduction to Programming Book </a:t>
            </a:r>
            <a:r>
              <a:rPr lang="en-US" dirty="0" smtClean="0">
                <a:solidFill>
                  <a:srgbClr val="002060"/>
                </a:solidFill>
                <a:latin typeface="Cambria Math" panose="02040503050406030204" pitchFamily="18" charset="0"/>
                <a:ea typeface="Cambria Math" panose="02040503050406030204" pitchFamily="18" charset="0"/>
              </a:rPr>
              <a:t>2.</a:t>
            </a:r>
            <a:endParaRPr lang="en-US" dirty="0">
              <a:solidFill>
                <a:srgbClr val="002060"/>
              </a:solidFill>
              <a:latin typeface="Cambria Math" panose="02040503050406030204" pitchFamily="18" charset="0"/>
              <a:ea typeface="Cambria Math" panose="02040503050406030204" pitchFamily="18" charset="0"/>
            </a:endParaRPr>
          </a:p>
          <a:p>
            <a:endParaRPr lang="en-US" dirty="0">
              <a:latin typeface="Cambria Math" panose="02040503050406030204" pitchFamily="18" charset="0"/>
              <a:ea typeface="Cambria Math" panose="02040503050406030204" pitchFamily="18" charset="0"/>
            </a:endParaRPr>
          </a:p>
        </p:txBody>
      </p:sp>
      <p:sp>
        <p:nvSpPr>
          <p:cNvPr id="4" name="Title 1"/>
          <p:cNvSpPr txBox="1">
            <a:spLocks/>
          </p:cNvSpPr>
          <p:nvPr/>
        </p:nvSpPr>
        <p:spPr>
          <a:xfrm>
            <a:off x="2477847" y="2208406"/>
            <a:ext cx="4217801" cy="763526"/>
          </a:xfrm>
          <a:prstGeom prst="rect">
            <a:avLst/>
          </a:prstGeom>
        </p:spPr>
        <p:txBody>
          <a:bodyPr vert="horz" lIns="68580" tIns="34290" rIns="68580" bIns="34290" rtlCol="0" anchor="ctr">
            <a:normAutofit/>
          </a:bodyPr>
          <a:lstStyle>
            <a:lvl1pPr algn="r" defTabSz="1219170" rtl="0" eaLnBrk="1" latinLnBrk="0" hangingPunct="1">
              <a:spcBef>
                <a:spcPct val="0"/>
              </a:spcBef>
              <a:buNone/>
              <a:defRPr sz="4800" kern="1200" baseline="0">
                <a:solidFill>
                  <a:schemeClr val="bg1"/>
                </a:solidFill>
                <a:effectLst>
                  <a:outerShdw blurRad="50800" dist="38100" dir="2700000" algn="tl" rotWithShape="0">
                    <a:prstClr val="black">
                      <a:alpha val="40000"/>
                    </a:prstClr>
                  </a:outerShdw>
                </a:effectLst>
                <a:latin typeface="+mj-lt"/>
                <a:ea typeface="+mj-ea"/>
                <a:cs typeface="+mj-cs"/>
              </a:defRPr>
            </a:lvl1pPr>
          </a:lstStyle>
          <a:p>
            <a:pPr algn="ctr"/>
            <a:r>
              <a:rPr lang="en-US" sz="3600" b="1" dirty="0">
                <a:solidFill>
                  <a:schemeClr val="tx1"/>
                </a:solidFill>
                <a:latin typeface="Cambria Math" panose="02040503050406030204" pitchFamily="18" charset="0"/>
                <a:ea typeface="Cambria Math" panose="02040503050406030204" pitchFamily="18" charset="0"/>
              </a:rPr>
              <a:t>Review Exercises</a:t>
            </a:r>
            <a:endParaRPr lang="en-US" sz="3600" dirty="0">
              <a:solidFill>
                <a:schemeClr val="tx1"/>
              </a:solidFill>
              <a:latin typeface="Cambria Math" panose="02040503050406030204" pitchFamily="18" charset="0"/>
              <a:ea typeface="Cambria Math" panose="02040503050406030204" pitchFamily="18" charset="0"/>
            </a:endParaRPr>
          </a:p>
        </p:txBody>
      </p:sp>
      <p:sp>
        <p:nvSpPr>
          <p:cNvPr id="5" name="Content Placeholder 5"/>
          <p:cNvSpPr txBox="1">
            <a:spLocks/>
          </p:cNvSpPr>
          <p:nvPr/>
        </p:nvSpPr>
        <p:spPr>
          <a:xfrm>
            <a:off x="463714" y="3072932"/>
            <a:ext cx="8246070" cy="1563363"/>
          </a:xfrm>
          <a:prstGeom prst="rect">
            <a:avLst/>
          </a:prstGeom>
        </p:spPr>
        <p:txBody>
          <a:bodyPr vert="horz" lIns="68580" tIns="34290" rIns="68580" bIns="34290" rtlCol="0">
            <a:normAutofit fontScale="92500" lnSpcReduction="20000"/>
          </a:bodyPr>
          <a:lstStyle>
            <a:lvl1pPr marL="457189" indent="-457189"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rgbClr val="0000CC"/>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rgbClr val="0000CC"/>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rgbClr val="0000CC"/>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a:lstStyle>
          <a:p>
            <a:r>
              <a:rPr lang="en-US" sz="2800" dirty="0">
                <a:solidFill>
                  <a:srgbClr val="002060"/>
                </a:solidFill>
                <a:latin typeface="Cambria Math" panose="02040503050406030204" pitchFamily="18" charset="0"/>
                <a:ea typeface="Cambria Math" panose="02040503050406030204" pitchFamily="18" charset="0"/>
              </a:rPr>
              <a:t>Complete all 9</a:t>
            </a:r>
            <a:r>
              <a:rPr lang="en-US" sz="2800" dirty="0" smtClean="0">
                <a:solidFill>
                  <a:srgbClr val="002060"/>
                </a:solidFill>
                <a:latin typeface="Cambria Math" panose="02040503050406030204" pitchFamily="18" charset="0"/>
                <a:ea typeface="Cambria Math" panose="02040503050406030204" pitchFamily="18" charset="0"/>
              </a:rPr>
              <a:t> </a:t>
            </a:r>
            <a:r>
              <a:rPr lang="en-US" sz="2800" dirty="0">
                <a:solidFill>
                  <a:srgbClr val="002060"/>
                </a:solidFill>
                <a:latin typeface="Cambria Math" panose="02040503050406030204" pitchFamily="18" charset="0"/>
                <a:ea typeface="Cambria Math" panose="02040503050406030204" pitchFamily="18" charset="0"/>
              </a:rPr>
              <a:t>review questions on Page </a:t>
            </a:r>
            <a:r>
              <a:rPr lang="en-US" sz="2800" dirty="0" smtClean="0">
                <a:solidFill>
                  <a:srgbClr val="002060"/>
                </a:solidFill>
                <a:latin typeface="Cambria Math" panose="02040503050406030204" pitchFamily="18" charset="0"/>
                <a:ea typeface="Cambria Math" panose="02040503050406030204" pitchFamily="18" charset="0"/>
              </a:rPr>
              <a:t>182 </a:t>
            </a:r>
            <a:r>
              <a:rPr lang="en-US" sz="2800" dirty="0">
                <a:solidFill>
                  <a:srgbClr val="002060"/>
                </a:solidFill>
                <a:latin typeface="Cambria Math" panose="02040503050406030204" pitchFamily="18" charset="0"/>
                <a:ea typeface="Cambria Math" panose="02040503050406030204" pitchFamily="18" charset="0"/>
              </a:rPr>
              <a:t>of Introduction to Programming Book </a:t>
            </a:r>
            <a:r>
              <a:rPr lang="en-US" sz="2800" dirty="0" smtClean="0">
                <a:solidFill>
                  <a:srgbClr val="002060"/>
                </a:solidFill>
                <a:latin typeface="Cambria Math" panose="02040503050406030204" pitchFamily="18" charset="0"/>
                <a:ea typeface="Cambria Math" panose="02040503050406030204" pitchFamily="18" charset="0"/>
              </a:rPr>
              <a:t>2.</a:t>
            </a:r>
            <a:endParaRPr lang="en-US" sz="2800" dirty="0">
              <a:solidFill>
                <a:srgbClr val="002060"/>
              </a:solidFill>
              <a:latin typeface="Cambria Math" panose="02040503050406030204" pitchFamily="18" charset="0"/>
              <a:ea typeface="Cambria Math" panose="02040503050406030204" pitchFamily="18" charset="0"/>
            </a:endParaRPr>
          </a:p>
          <a:p>
            <a:r>
              <a:rPr lang="en-US" sz="2800" dirty="0">
                <a:solidFill>
                  <a:srgbClr val="002060"/>
                </a:solidFill>
                <a:latin typeface="Cambria Math" panose="02040503050406030204" pitchFamily="18" charset="0"/>
                <a:ea typeface="Cambria Math" panose="02040503050406030204" pitchFamily="18" charset="0"/>
              </a:rPr>
              <a:t>Try to at least do </a:t>
            </a:r>
            <a:r>
              <a:rPr lang="en-US" sz="2800" b="1" dirty="0">
                <a:solidFill>
                  <a:srgbClr val="002060"/>
                </a:solidFill>
                <a:latin typeface="Cambria Math" panose="02040503050406030204" pitchFamily="18" charset="0"/>
                <a:ea typeface="Cambria Math" panose="02040503050406030204" pitchFamily="18" charset="0"/>
              </a:rPr>
              <a:t>Hands-On Programming Examples and Exercises </a:t>
            </a:r>
          </a:p>
          <a:p>
            <a:endParaRPr lang="en-US" sz="2800" dirty="0">
              <a:latin typeface="Cambria Math" panose="02040503050406030204" pitchFamily="18" charset="0"/>
              <a:ea typeface="Cambria Math" panose="02040503050406030204" pitchFamily="18" charset="0"/>
            </a:endParaRPr>
          </a:p>
        </p:txBody>
      </p:sp>
    </p:spTree>
    <p:extLst>
      <p:ext uri="{BB962C8B-B14F-4D97-AF65-F5344CB8AC3E}">
        <p14:creationId xmlns:p14="http://schemas.microsoft.com/office/powerpoint/2010/main" val="2903278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888</Words>
  <Application>Microsoft Office PowerPoint</Application>
  <PresentationFormat>On-screen Show (16:9)</PresentationFormat>
  <Paragraphs>128</Paragraphs>
  <Slides>13</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Arial</vt:lpstr>
      <vt:lpstr>Calibri</vt:lpstr>
      <vt:lpstr>Calibri Light</vt:lpstr>
      <vt:lpstr>Cambria Math</vt:lpstr>
      <vt:lpstr>Symbol</vt:lpstr>
      <vt:lpstr>Times New Roman</vt:lpstr>
      <vt:lpstr>Wingdings</vt:lpstr>
      <vt:lpstr>Office Theme</vt:lpstr>
      <vt:lpstr>Chapter Six : </vt:lpstr>
      <vt:lpstr>Learning Objectives</vt:lpstr>
      <vt:lpstr>6.1 Decision Making in Programming</vt:lpstr>
      <vt:lpstr>PowerPoint Presentation</vt:lpstr>
      <vt:lpstr>PowerPoint Presentation</vt:lpstr>
      <vt:lpstr>PowerPoint Presentation</vt:lpstr>
      <vt:lpstr>PowerPoint Presentation</vt:lpstr>
      <vt:lpstr>Sample Example of Comparison</vt:lpstr>
      <vt:lpstr>PowerPoint Presentation</vt:lpstr>
      <vt:lpstr>PowerPoint Presentation</vt:lpstr>
      <vt:lpstr>Sample Example of Logical Operators</vt:lpstr>
      <vt:lpstr>PowerPoint Presentation</vt:lpstr>
      <vt:lpstr>Summary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2017-08-01T15:40:51Z</dcterms:created>
  <dcterms:modified xsi:type="dcterms:W3CDTF">2026-02-03T22:46:23Z</dcterms:modified>
</cp:coreProperties>
</file>